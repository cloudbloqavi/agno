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302" r:id="rId3"/>
    <p:sldId id="310" r:id="rId4"/>
    <p:sldId id="290" r:id="rId5"/>
    <p:sldId id="297" r:id="rId6"/>
    <p:sldId id="300" r:id="rId7"/>
    <p:sldId id="314" r:id="rId8"/>
    <p:sldId id="323" r:id="rId9"/>
    <p:sldId id="277" r:id="rId10"/>
    <p:sldId id="266" r:id="rId11"/>
    <p:sldId id="271" r:id="rId12"/>
    <p:sldId id="283" r:id="rId13"/>
    <p:sldId id="275" r:id="rId14"/>
    <p:sldId id="27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30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  <a:latin typeface="Georgia"/>
              </a:defRPr>
            </a:pPr>
            <a:r>
              <a:rPr lang="en-US" sz="1600" b="1">
                <a:solidFill>
                  <a:srgbClr val="FFFFFF"/>
                </a:solidFill>
                <a:latin typeface="Georgia"/>
              </a:rPr>
              <a:t>Evian U.S. Estimated Retail 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Revenue ($M)</c:v>
          </c:tx>
          <c:spPr>
            <a:solidFill>
              <a:srgbClr val="8B0000"/>
            </a:solidFill>
            <a:ln w="0">
              <a:noFill/>
            </a:ln>
          </c:spPr>
          <c:invertIfNegative val="1"/>
          <c:dPt>
            <c:idx val="4"/>
            <c:invertIfNegative val="1"/>
            <c:bubble3D val="0"/>
            <c:spPr>
              <a:solidFill>
                <a:srgbClr val="C7303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817F-42E2-AD93-9C6EAE4989E0}"/>
              </c:ext>
            </c:extLst>
          </c:dPt>
          <c:dLbls>
            <c:numFmt formatCode="\$#,##0&quot;M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</c:strLit>
          </c:cat>
          <c:val>
            <c:numLit>
              <c:formatCode>#,##0</c:formatCode>
              <c:ptCount val="5"/>
              <c:pt idx="0">
                <c:v>420</c:v>
              </c:pt>
              <c:pt idx="1">
                <c:v>480</c:v>
              </c:pt>
              <c:pt idx="2">
                <c:v>560</c:v>
              </c:pt>
              <c:pt idx="3">
                <c:v>640</c:v>
              </c:pt>
              <c:pt idx="4">
                <c:v>735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17F-42E2-AD93-9C6EAE498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lineChart>
        <c:grouping val="standard"/>
        <c:varyColors val="0"/>
        <c:ser>
          <c:idx val="1"/>
          <c:order val="1"/>
          <c:tx>
            <c:v>CAGR ~11.8%</c:v>
          </c:tx>
          <c:spPr>
            <a:ln w="25400" cap="rnd">
              <a:solidFill>
                <a:srgbClr val="FFD700"/>
              </a:solidFill>
              <a:prstDash val="dash"/>
              <a:round/>
            </a:ln>
          </c:spPr>
          <c:marker>
            <c:symbol val="circle"/>
            <c:size val="8"/>
            <c:spPr>
              <a:solidFill>
                <a:srgbClr val="FFD700"/>
              </a:solidFill>
              <a:ln w="12700">
                <a:solidFill>
                  <a:srgbClr val="FFD700"/>
                </a:solidFill>
              </a:ln>
            </c:spPr>
          </c:marker>
          <c:dPt>
            <c:idx val="0"/>
            <c:marker>
              <c:symbol val="circle"/>
              <c:size val="10"/>
              <c:spPr>
                <a:solidFill>
                  <a:srgbClr val="FFD70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17F-42E2-AD93-9C6EAE4989E0}"/>
              </c:ext>
            </c:extLst>
          </c:dPt>
          <c:dPt>
            <c:idx val="4"/>
            <c:marker>
              <c:symbol val="circle"/>
              <c:size val="10"/>
              <c:spPr>
                <a:solidFill>
                  <a:srgbClr val="FFD70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17F-42E2-AD93-9C6EAE4989E0}"/>
              </c:ext>
            </c:extLst>
          </c:dPt>
          <c:dLbls>
            <c:dLbl>
              <c:idx val="4"/>
              <c:layout>
                <c:manualLayout>
                  <c:x val="0.02"/>
                  <c:y val="-0.05"/>
                </c:manualLayout>
              </c:layout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FFD700"/>
                        </a:solidFill>
                        <a:latin typeface="Calibri"/>
                      </a:rPr>
                      <a:t>CAGR ~11.8%</a:t>
                    </a:r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17F-42E2-AD93-9C6EAE4989E0}"/>
                </c:ext>
              </c:extLst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</c:strLit>
          </c:cat>
          <c:val>
            <c:numLit>
              <c:formatCode>#,##0</c:formatCode>
              <c:ptCount val="5"/>
              <c:pt idx="0">
                <c:v>420</c:v>
              </c:pt>
              <c:pt idx="1">
                <c:v>483</c:v>
              </c:pt>
              <c:pt idx="2">
                <c:v>556</c:v>
              </c:pt>
              <c:pt idx="3">
                <c:v>639</c:v>
              </c:pt>
              <c:pt idx="4">
                <c:v>735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817F-42E2-AD93-9C6EAE498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444466"/>
            </a:solidFill>
          </a:ln>
        </c:spPr>
        <c:txPr>
          <a:bodyPr/>
          <a:lstStyle/>
          <a:p>
            <a:pPr>
              <a:defRPr sz="1400" b="1">
                <a:solidFill>
                  <a:srgbClr val="CCCCDD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850"/>
          <c:min val="0"/>
        </c:scaling>
        <c:delete val="0"/>
        <c:axPos val="l"/>
        <c:majorGridlines>
          <c:spPr>
            <a:ln w="3175">
              <a:solidFill>
                <a:srgbClr val="2A2A45"/>
              </a:solidFill>
              <a:prstDash val="dash"/>
            </a:ln>
          </c:spPr>
        </c:majorGridlines>
        <c:numFmt formatCode="\$#,##0" sourceLinked="0"/>
        <c:majorTickMark val="out"/>
        <c:minorTickMark val="none"/>
        <c:tickLblPos val="nextTo"/>
        <c:spPr>
          <a:ln w="6350">
            <a:solidFill>
              <a:srgbClr val="444466"/>
            </a:solidFill>
          </a:ln>
        </c:spPr>
        <c:txPr>
          <a:bodyPr/>
          <a:lstStyle/>
          <a:p>
            <a:pPr>
              <a:defRPr sz="1400">
                <a:solidFill>
                  <a:srgbClr val="999AAA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0"/>
        <c:txPr>
          <a:bodyPr/>
          <a:lstStyle/>
          <a:p>
            <a:pPr>
              <a:defRPr sz="1400">
                <a:solidFill>
                  <a:srgbClr val="CCCCDD"/>
                </a:solidFill>
                <a:latin typeface="Calibri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400" b="1">
                <a:solidFill>
                  <a:srgbClr val="FFD700"/>
                </a:solidFill>
                <a:latin typeface="Calibri"/>
              </a:defRPr>
            </a:pPr>
            <a:endParaRPr lang="en-US"/>
          </a:p>
        </c:txPr>
      </c:legendEntry>
      <c:overlay val="0"/>
    </c:legend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DB9AE725-6B98-9036-0931-7DB437B7886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76E3A-BE3B-4AB2-A19B-01EADE211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DC627-9368-3C54-14F0-B9A443530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19067-CFFB-18ED-E9F4-F4709CE0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ADEC2-CC31-8F1C-6549-2F449782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9B3B7-1B46-54BB-6EE3-AF7E09D7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0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443DBDD7-2428-0A64-6489-7621A2FF0C0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4873B-18E3-B3F8-B3A9-B8E6AC1C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497A-B097-6326-AE3F-4182C3752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942D1-3BB9-AC05-D2F4-7EFBCF449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794BF-A62E-6857-1105-4F2BD64B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3D421-A6A9-0634-B79B-DB60219F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4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99995BDD-6340-FF4A-2A14-310D9A707FC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2B7A4-28CE-411C-8E78-4220BB7C0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A40BA-E311-9C72-9891-64EE69B4D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05A3C-A345-0370-2762-591364B0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FC5DE-E4F9-9E29-F914-C529C141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A9CDC-C281-069A-4314-EA740D19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533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3E64-5D2F-ABC0-4064-19A9F41BB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AC6F-BEB9-9019-C304-064F27885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7619E-0AC8-C65B-CC90-612797B66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CF4FD-51A3-776F-DAB6-5D8B9E49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E3A6A-7527-BF3A-FB99-1A67A8CF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3EFA7-D4B0-0A6A-1660-F4BC62D5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20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0027-3820-7EE7-B92D-C6900C74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B3356-793E-88DB-134A-F186FF05D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78E4A-3A62-E7CB-F8D3-F43E24695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73A84-759E-E516-A9E3-4AAB5BDE5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0F36F-6524-D4F1-9E3D-5BBB9464A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7882F-D30E-4494-9261-3953E281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6983B-9B41-BBD2-7662-6FE2DE565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6815C4-E82A-B05D-6399-81C08694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76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 not remove" hidden="1">
            <a:extLst>
              <a:ext uri="{FF2B5EF4-FFF2-40B4-BE49-F238E27FC236}">
                <a16:creationId xmlns:a16="http://schemas.microsoft.com/office/drawing/2014/main" id="{D798F7B0-A660-7A33-05F0-69274B9FE1F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5F217-2E2E-9778-1F99-CACF7ED2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EAF51-D1B8-C147-F332-C7FEC86B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997A3-6005-AD38-9867-6B82784E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D2487-0196-AEB9-5209-C9E80C64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52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o not remove" hidden="1">
            <a:extLst>
              <a:ext uri="{FF2B5EF4-FFF2-40B4-BE49-F238E27FC236}">
                <a16:creationId xmlns:a16="http://schemas.microsoft.com/office/drawing/2014/main" id="{91A490EC-8751-3369-9845-99FAAEC4C37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4B9D80-FDF4-E5CC-4362-C9D690F6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045E4-EB70-49F3-4698-B18654AE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C0663-1D46-1B18-97D3-461DE5B2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48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8877A-B2F8-9A14-70A9-FADD958A6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8733-2E08-E4E7-D3E4-1D6F9DEA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D344F-9AF2-1E8B-F05B-3A62F3190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35213-C47A-D9CD-639E-D35896DC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FB2D5-64C0-C4BF-0255-F0186812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E81A2-B10D-50AA-DFCB-633A933E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94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1E74-56CE-36C4-3F58-F3F38E320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DCDC96-A16F-9385-75C9-32E1EA400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2D2D5-8A8A-A5E2-CAC2-02681A4F0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358A2-1FC3-1F46-EA37-AB7BA3CE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7839D-31C1-5212-6BFA-A4E5E2E0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964A8-016B-E170-BD2B-E3469254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25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FDED-3566-DCA8-61D8-26A70CE7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DF7DD-48FB-1A65-38BA-C69641E71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92D85-529E-357C-5C80-5798616AB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3ACD7-91EB-072D-1C8C-3820A555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AD5E1-3DA6-FCC5-A2CE-FC5DC074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56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C9586-8ED6-72ED-AAF3-AEA5F1EE6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46388-6AE8-574D-676B-B23D73768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6BA6-0EFC-2412-1192-691CBDEB6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067A1-BBF0-A03B-88A4-BF60A2A7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E02FF-21B1-E7C2-58F2-5FE244A7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1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00F48-5E6E-4DB1-A424-5081BE4F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C9AA1-FBC2-5A8F-9925-CE1DEFE34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93C82-71D8-0F51-67A8-B35217607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3CA37-C7EF-42C5-87D4-BE356DF1F900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F5EE2-47EC-7997-4407-47BE4F9B4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E06E9-2F08-8E30-0B14-B2007F6B9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2E870-DC70-49DE-95E7-CA5672B544CF}" type="slidenum">
              <a:rPr lang="en-GB" smtClean="0"/>
              <a:t>‹#›</a:t>
            </a:fld>
            <a:endParaRPr lang="en-GB"/>
          </a:p>
        </p:txBody>
      </p:sp>
      <p:sp>
        <p:nvSpPr>
          <p:cNvPr id="1001" name="TopAccentLine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BottomAccentBar"/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3" name="SwooshAccent"/>
          <p:cNvSpPr/>
          <p:nvPr userDrawn="1"/>
        </p:nvSpPr>
        <p:spPr>
          <a:xfrm>
            <a:off x="9144000" y="914400"/>
            <a:ext cx="3048000" cy="5486400"/>
          </a:xfrm>
          <a:prstGeom prst="arc">
            <a:avLst>
              <a:gd name="adj1" fmla="val 16200000"/>
              <a:gd name="adj2" fmla="val 5400000"/>
            </a:avLst>
          </a:prstGeom>
          <a:noFill/>
          <a:ln w="19050">
            <a:solidFill>
              <a:srgbClr val="FFFFFF">
                <a:alpha val="15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8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BC74-90AA-3903-FCBA-0D69C7FA5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460500"/>
            <a:ext cx="10160000" cy="2286000"/>
          </a:xfrm>
        </p:spPr>
        <p:txBody>
          <a:bodyPr>
            <a:normAutofit/>
          </a:bodyPr>
          <a:lstStyle/>
          <a:p>
            <a:r>
              <a:rPr lang="en-GB" sz="3600" b="1">
                <a:latin typeface="Georgia"/>
              </a:rPr>
              <a:t>Beverage Industry
Opportunities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620BD-DC46-6C9E-9FD8-675E6F6D8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4064000"/>
            <a:ext cx="10160000" cy="1016000"/>
          </a:xfrm>
        </p:spPr>
        <p:txBody>
          <a:bodyPr>
            <a:normAutofit/>
          </a:bodyPr>
          <a:lstStyle/>
          <a:p>
            <a:r>
              <a:rPr lang="en-GB" sz="2000">
                <a:latin typeface="Calibri"/>
                <a:ea typeface="Calibri"/>
                <a:cs typeface="Calibri"/>
              </a:rPr>
              <a:t>Strategic Growth Drivers &amp; Emerging Trends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376DD-26A7-476A-8CF2-24E4E4646A67}"/>
              </a:ext>
            </a:extLst>
          </p:cNvPr>
          <p:cNvSpPr/>
          <p:nvPr/>
        </p:nvSpPr>
        <p:spPr>
          <a:xfrm>
            <a:off x="1524000" y="3873500"/>
            <a:ext cx="2540000" cy="38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AFCBB-83FC-4422-B5F3-BAF63956023E}"/>
              </a:ext>
            </a:extLst>
          </p:cNvPr>
          <p:cNvSpPr txBox="1"/>
          <p:nvPr/>
        </p:nvSpPr>
        <p:spPr>
          <a:xfrm>
            <a:off x="1524000" y="52070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Coca-Cola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D742C-DD2E-4B16-9C8B-4841E8E75CB8}"/>
              </a:ext>
            </a:extLst>
          </p:cNvPr>
          <p:cNvSpPr txBox="1"/>
          <p:nvPr/>
        </p:nvSpPr>
        <p:spPr>
          <a:xfrm>
            <a:off x="1524000" y="565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30521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601"/>
          <p:cNvSpPr/>
          <p:nvPr/>
        </p:nvSpPr>
        <p:spPr>
          <a:xfrm>
            <a:off x="457200" y="1270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</a:rPr>
              <a:t>Health &amp; Wellness Product Launch</a:t>
            </a:r>
          </a:p>
        </p:txBody>
      </p:sp>
      <p:sp>
        <p:nvSpPr>
          <p:cNvPr id="601" name="S602"/>
          <p:cNvSpPr/>
          <p:nvPr/>
        </p:nvSpPr>
        <p:spPr>
          <a:xfrm>
            <a:off x="457200" y="584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1100" i="1" dirty="0">
                <a:solidFill>
                  <a:srgbClr val="BBBBCC"/>
                </a:solidFill>
                <a:latin typeface="Calibri"/>
              </a:rPr>
              <a:t>Coca-Cola VitaBloom — Functional Sparkling Water with Adaptogens</a:t>
            </a:r>
          </a:p>
        </p:txBody>
      </p:sp>
      <p:sp>
        <p:nvSpPr>
          <p:cNvPr id="602" name="S603"/>
          <p:cNvSpPr/>
          <p:nvPr/>
        </p:nvSpPr>
        <p:spPr>
          <a:xfrm>
            <a:off x="9398000" y="177800"/>
            <a:ext cx="2413000" cy="3556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NEW PRODUCT 2026</a:t>
            </a:r>
          </a:p>
        </p:txBody>
      </p:sp>
      <p:sp>
        <p:nvSpPr>
          <p:cNvPr id="603" name="S604"/>
          <p:cNvSpPr/>
          <p:nvPr/>
        </p:nvSpPr>
        <p:spPr>
          <a:xfrm>
            <a:off x="2476500" y="990600"/>
            <a:ext cx="9398000" cy="20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04" name="S605"/>
          <p:cNvSpPr/>
          <p:nvPr/>
        </p:nvSpPr>
        <p:spPr>
          <a:xfrm>
            <a:off x="2476500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Jan</a:t>
            </a:r>
          </a:p>
        </p:txBody>
      </p:sp>
      <p:sp>
        <p:nvSpPr>
          <p:cNvPr id="605" name="S606"/>
          <p:cNvSpPr/>
          <p:nvPr/>
        </p:nvSpPr>
        <p:spPr>
          <a:xfrm>
            <a:off x="3259667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Feb</a:t>
            </a:r>
          </a:p>
        </p:txBody>
      </p:sp>
      <p:sp>
        <p:nvSpPr>
          <p:cNvPr id="606" name="S607"/>
          <p:cNvSpPr/>
          <p:nvPr/>
        </p:nvSpPr>
        <p:spPr>
          <a:xfrm>
            <a:off x="3259667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07" name="S608"/>
          <p:cNvSpPr/>
          <p:nvPr/>
        </p:nvSpPr>
        <p:spPr>
          <a:xfrm>
            <a:off x="4042833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Mar</a:t>
            </a:r>
          </a:p>
        </p:txBody>
      </p:sp>
      <p:sp>
        <p:nvSpPr>
          <p:cNvPr id="608" name="S609"/>
          <p:cNvSpPr/>
          <p:nvPr/>
        </p:nvSpPr>
        <p:spPr>
          <a:xfrm>
            <a:off x="4042833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09" name="S610"/>
          <p:cNvSpPr/>
          <p:nvPr/>
        </p:nvSpPr>
        <p:spPr>
          <a:xfrm>
            <a:off x="4826000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Apr</a:t>
            </a:r>
          </a:p>
        </p:txBody>
      </p:sp>
      <p:sp>
        <p:nvSpPr>
          <p:cNvPr id="610" name="S611"/>
          <p:cNvSpPr/>
          <p:nvPr/>
        </p:nvSpPr>
        <p:spPr>
          <a:xfrm>
            <a:off x="4826000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11" name="S612"/>
          <p:cNvSpPr/>
          <p:nvPr/>
        </p:nvSpPr>
        <p:spPr>
          <a:xfrm>
            <a:off x="5609167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May</a:t>
            </a:r>
          </a:p>
        </p:txBody>
      </p:sp>
      <p:sp>
        <p:nvSpPr>
          <p:cNvPr id="612" name="S613"/>
          <p:cNvSpPr/>
          <p:nvPr/>
        </p:nvSpPr>
        <p:spPr>
          <a:xfrm>
            <a:off x="5609167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13" name="S614"/>
          <p:cNvSpPr/>
          <p:nvPr/>
        </p:nvSpPr>
        <p:spPr>
          <a:xfrm>
            <a:off x="6392333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Jun</a:t>
            </a:r>
          </a:p>
        </p:txBody>
      </p:sp>
      <p:sp>
        <p:nvSpPr>
          <p:cNvPr id="614" name="S615"/>
          <p:cNvSpPr/>
          <p:nvPr/>
        </p:nvSpPr>
        <p:spPr>
          <a:xfrm>
            <a:off x="6392333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15" name="S616"/>
          <p:cNvSpPr/>
          <p:nvPr/>
        </p:nvSpPr>
        <p:spPr>
          <a:xfrm>
            <a:off x="7175500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Jul</a:t>
            </a:r>
          </a:p>
        </p:txBody>
      </p:sp>
      <p:sp>
        <p:nvSpPr>
          <p:cNvPr id="616" name="S617"/>
          <p:cNvSpPr/>
          <p:nvPr/>
        </p:nvSpPr>
        <p:spPr>
          <a:xfrm>
            <a:off x="7175500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17" name="S618"/>
          <p:cNvSpPr/>
          <p:nvPr/>
        </p:nvSpPr>
        <p:spPr>
          <a:xfrm>
            <a:off x="7958667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Aug</a:t>
            </a:r>
          </a:p>
        </p:txBody>
      </p:sp>
      <p:sp>
        <p:nvSpPr>
          <p:cNvPr id="618" name="S619"/>
          <p:cNvSpPr/>
          <p:nvPr/>
        </p:nvSpPr>
        <p:spPr>
          <a:xfrm>
            <a:off x="7958667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19" name="S620"/>
          <p:cNvSpPr/>
          <p:nvPr/>
        </p:nvSpPr>
        <p:spPr>
          <a:xfrm>
            <a:off x="8741833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Sep</a:t>
            </a:r>
          </a:p>
        </p:txBody>
      </p:sp>
      <p:sp>
        <p:nvSpPr>
          <p:cNvPr id="620" name="S621"/>
          <p:cNvSpPr/>
          <p:nvPr/>
        </p:nvSpPr>
        <p:spPr>
          <a:xfrm>
            <a:off x="8741833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21" name="S622"/>
          <p:cNvSpPr/>
          <p:nvPr/>
        </p:nvSpPr>
        <p:spPr>
          <a:xfrm>
            <a:off x="9525000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Oct</a:t>
            </a:r>
          </a:p>
        </p:txBody>
      </p:sp>
      <p:sp>
        <p:nvSpPr>
          <p:cNvPr id="622" name="S623"/>
          <p:cNvSpPr/>
          <p:nvPr/>
        </p:nvSpPr>
        <p:spPr>
          <a:xfrm>
            <a:off x="9525000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23" name="S624"/>
          <p:cNvSpPr/>
          <p:nvPr/>
        </p:nvSpPr>
        <p:spPr>
          <a:xfrm>
            <a:off x="10308167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Nov</a:t>
            </a:r>
          </a:p>
        </p:txBody>
      </p:sp>
      <p:sp>
        <p:nvSpPr>
          <p:cNvPr id="624" name="S625"/>
          <p:cNvSpPr/>
          <p:nvPr/>
        </p:nvSpPr>
        <p:spPr>
          <a:xfrm>
            <a:off x="10308167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25" name="S626"/>
          <p:cNvSpPr/>
          <p:nvPr/>
        </p:nvSpPr>
        <p:spPr>
          <a:xfrm>
            <a:off x="11091333" y="990600"/>
            <a:ext cx="783167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AAAACC"/>
                </a:solidFill>
                <a:latin typeface="Calibri"/>
              </a:rPr>
              <a:t>Dec</a:t>
            </a:r>
          </a:p>
        </p:txBody>
      </p:sp>
      <p:sp>
        <p:nvSpPr>
          <p:cNvPr id="626" name="S627"/>
          <p:cNvSpPr/>
          <p:nvPr/>
        </p:nvSpPr>
        <p:spPr>
          <a:xfrm>
            <a:off x="11091333" y="1193800"/>
            <a:ext cx="3810" cy="4978400"/>
          </a:xfrm>
          <a:prstGeom prst="rect">
            <a:avLst/>
          </a:prstGeom>
          <a:solidFill>
            <a:srgbClr val="3A3A55">
              <a:alpha val="4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27" name="S628"/>
          <p:cNvSpPr/>
          <p:nvPr/>
        </p:nvSpPr>
        <p:spPr>
          <a:xfrm>
            <a:off x="2476500" y="812800"/>
            <a:ext cx="2349500" cy="177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dirty="0">
                <a:solidFill>
                  <a:srgbClr val="777799"/>
                </a:solidFill>
                <a:latin typeface="Calibri"/>
              </a:rPr>
              <a:t>Q1 2026</a:t>
            </a:r>
          </a:p>
        </p:txBody>
      </p:sp>
      <p:sp>
        <p:nvSpPr>
          <p:cNvPr id="628" name="S629"/>
          <p:cNvSpPr/>
          <p:nvPr/>
        </p:nvSpPr>
        <p:spPr>
          <a:xfrm>
            <a:off x="4826000" y="812800"/>
            <a:ext cx="2349500" cy="177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dirty="0">
                <a:solidFill>
                  <a:srgbClr val="777799"/>
                </a:solidFill>
                <a:latin typeface="Calibri"/>
              </a:rPr>
              <a:t>Q2 2026</a:t>
            </a:r>
          </a:p>
        </p:txBody>
      </p:sp>
      <p:sp>
        <p:nvSpPr>
          <p:cNvPr id="629" name="S630"/>
          <p:cNvSpPr/>
          <p:nvPr/>
        </p:nvSpPr>
        <p:spPr>
          <a:xfrm>
            <a:off x="7175500" y="812800"/>
            <a:ext cx="2349500" cy="177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dirty="0">
                <a:solidFill>
                  <a:srgbClr val="777799"/>
                </a:solidFill>
                <a:latin typeface="Calibri"/>
              </a:rPr>
              <a:t>Q3 2026</a:t>
            </a:r>
          </a:p>
        </p:txBody>
      </p:sp>
      <p:sp>
        <p:nvSpPr>
          <p:cNvPr id="630" name="S631"/>
          <p:cNvSpPr/>
          <p:nvPr/>
        </p:nvSpPr>
        <p:spPr>
          <a:xfrm>
            <a:off x="9525000" y="812800"/>
            <a:ext cx="2349500" cy="177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50" dirty="0">
                <a:solidFill>
                  <a:srgbClr val="777799"/>
                </a:solidFill>
                <a:latin typeface="Calibri"/>
              </a:rPr>
              <a:t>Q4 2026</a:t>
            </a:r>
          </a:p>
        </p:txBody>
      </p:sp>
      <p:sp>
        <p:nvSpPr>
          <p:cNvPr id="631" name="S632"/>
          <p:cNvSpPr/>
          <p:nvPr/>
        </p:nvSpPr>
        <p:spPr>
          <a:xfrm>
            <a:off x="76200" y="1219200"/>
            <a:ext cx="11811000" cy="203200"/>
          </a:xfrm>
          <a:prstGeom prst="rect">
            <a:avLst/>
          </a:prstGeom>
          <a:solidFill>
            <a:srgbClr val="4A6FA5">
              <a:alpha val="2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32" name="S633"/>
          <p:cNvSpPr/>
          <p:nvPr/>
        </p:nvSpPr>
        <p:spPr>
          <a:xfrm>
            <a:off x="127000" y="1219200"/>
            <a:ext cx="2311400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50" b="1" dirty="0">
                <a:solidFill>
                  <a:srgbClr val="4A6FA5"/>
                </a:solidFill>
                <a:latin typeface="Calibri"/>
              </a:rPr>
              <a:t>PHASE 1: RESEARCH &amp; FORMULATION</a:t>
            </a:r>
          </a:p>
        </p:txBody>
      </p:sp>
      <p:sp>
        <p:nvSpPr>
          <p:cNvPr id="633" name="S634"/>
          <p:cNvSpPr/>
          <p:nvPr/>
        </p:nvSpPr>
        <p:spPr>
          <a:xfrm>
            <a:off x="177800" y="14478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Market Research &amp; Consumer Insights</a:t>
            </a:r>
          </a:p>
        </p:txBody>
      </p:sp>
      <p:sp>
        <p:nvSpPr>
          <p:cNvPr id="634" name="S635"/>
          <p:cNvSpPr/>
          <p:nvPr/>
        </p:nvSpPr>
        <p:spPr>
          <a:xfrm>
            <a:off x="2476500" y="1492250"/>
            <a:ext cx="1566333" cy="165100"/>
          </a:xfrm>
          <a:prstGeom prst="roundRect">
            <a:avLst>
              <a:gd name="adj" fmla="val 8000"/>
            </a:avLst>
          </a:prstGeom>
          <a:solidFill>
            <a:srgbClr val="4A6FA5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35" name="S636"/>
          <p:cNvSpPr/>
          <p:nvPr/>
        </p:nvSpPr>
        <p:spPr>
          <a:xfrm>
            <a:off x="2476500" y="14922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36" name="S637"/>
          <p:cNvSpPr/>
          <p:nvPr/>
        </p:nvSpPr>
        <p:spPr>
          <a:xfrm>
            <a:off x="177800" y="17145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Ingredient Sourcing &amp; R&amp;D</a:t>
            </a:r>
          </a:p>
        </p:txBody>
      </p:sp>
      <p:sp>
        <p:nvSpPr>
          <p:cNvPr id="637" name="S638"/>
          <p:cNvSpPr/>
          <p:nvPr/>
        </p:nvSpPr>
        <p:spPr>
          <a:xfrm>
            <a:off x="2868083" y="1758950"/>
            <a:ext cx="1957917" cy="165100"/>
          </a:xfrm>
          <a:prstGeom prst="roundRect">
            <a:avLst>
              <a:gd name="adj" fmla="val 8000"/>
            </a:avLst>
          </a:prstGeom>
          <a:solidFill>
            <a:srgbClr val="4A6FA5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38" name="S639"/>
          <p:cNvSpPr/>
          <p:nvPr/>
        </p:nvSpPr>
        <p:spPr>
          <a:xfrm>
            <a:off x="2868083" y="17589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39" name="S640"/>
          <p:cNvSpPr/>
          <p:nvPr/>
        </p:nvSpPr>
        <p:spPr>
          <a:xfrm>
            <a:off x="177800" y="19812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Formulation &amp; Taste Testing</a:t>
            </a:r>
          </a:p>
        </p:txBody>
      </p:sp>
      <p:sp>
        <p:nvSpPr>
          <p:cNvPr id="640" name="S641"/>
          <p:cNvSpPr/>
          <p:nvPr/>
        </p:nvSpPr>
        <p:spPr>
          <a:xfrm>
            <a:off x="4042833" y="2025650"/>
            <a:ext cx="1566333" cy="165100"/>
          </a:xfrm>
          <a:prstGeom prst="roundRect">
            <a:avLst>
              <a:gd name="adj" fmla="val 8000"/>
            </a:avLst>
          </a:prstGeom>
          <a:solidFill>
            <a:srgbClr val="4A6FA5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41" name="S642"/>
          <p:cNvSpPr/>
          <p:nvPr/>
        </p:nvSpPr>
        <p:spPr>
          <a:xfrm>
            <a:off x="4042833" y="20256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42" name="S643"/>
          <p:cNvSpPr/>
          <p:nvPr/>
        </p:nvSpPr>
        <p:spPr>
          <a:xfrm>
            <a:off x="177800" y="22479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Regulatory &amp; Compliance Review</a:t>
            </a:r>
          </a:p>
        </p:txBody>
      </p:sp>
      <p:sp>
        <p:nvSpPr>
          <p:cNvPr id="643" name="S644"/>
          <p:cNvSpPr/>
          <p:nvPr/>
        </p:nvSpPr>
        <p:spPr>
          <a:xfrm>
            <a:off x="4434417" y="2292350"/>
            <a:ext cx="1566333" cy="165100"/>
          </a:xfrm>
          <a:prstGeom prst="roundRect">
            <a:avLst>
              <a:gd name="adj" fmla="val 8000"/>
            </a:avLst>
          </a:prstGeom>
          <a:solidFill>
            <a:srgbClr val="4A6FA5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44" name="S645"/>
          <p:cNvSpPr/>
          <p:nvPr/>
        </p:nvSpPr>
        <p:spPr>
          <a:xfrm>
            <a:off x="4434417" y="22923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45" name="S646"/>
          <p:cNvSpPr/>
          <p:nvPr/>
        </p:nvSpPr>
        <p:spPr>
          <a:xfrm>
            <a:off x="76200" y="2565400"/>
            <a:ext cx="11811000" cy="203200"/>
          </a:xfrm>
          <a:prstGeom prst="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46" name="S647"/>
          <p:cNvSpPr/>
          <p:nvPr/>
        </p:nvSpPr>
        <p:spPr>
          <a:xfrm>
            <a:off x="127000" y="2565400"/>
            <a:ext cx="2311400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50" b="1" dirty="0">
                <a:solidFill>
                  <a:srgbClr val="D4A843"/>
                </a:solidFill>
                <a:latin typeface="Calibri"/>
              </a:rPr>
              <a:t>PHASE 2: BRANDING &amp; PACKAGING</a:t>
            </a:r>
          </a:p>
        </p:txBody>
      </p:sp>
      <p:sp>
        <p:nvSpPr>
          <p:cNvPr id="647" name="S648"/>
          <p:cNvSpPr/>
          <p:nvPr/>
        </p:nvSpPr>
        <p:spPr>
          <a:xfrm>
            <a:off x="177800" y="27940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Brand Identity &amp; Visual Design</a:t>
            </a:r>
          </a:p>
        </p:txBody>
      </p:sp>
      <p:sp>
        <p:nvSpPr>
          <p:cNvPr id="648" name="S649"/>
          <p:cNvSpPr/>
          <p:nvPr/>
        </p:nvSpPr>
        <p:spPr>
          <a:xfrm>
            <a:off x="5217583" y="2838450"/>
            <a:ext cx="1566333" cy="165100"/>
          </a:xfrm>
          <a:prstGeom prst="roundRect">
            <a:avLst>
              <a:gd name="adj" fmla="val 8000"/>
            </a:avLst>
          </a:prstGeom>
          <a:solidFill>
            <a:srgbClr val="D4A843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49" name="S650"/>
          <p:cNvSpPr/>
          <p:nvPr/>
        </p:nvSpPr>
        <p:spPr>
          <a:xfrm>
            <a:off x="5217583" y="28384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50" name="S651"/>
          <p:cNvSpPr/>
          <p:nvPr/>
        </p:nvSpPr>
        <p:spPr>
          <a:xfrm>
            <a:off x="177800" y="30607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Packaging Design &amp; Prototyping</a:t>
            </a:r>
          </a:p>
        </p:txBody>
      </p:sp>
      <p:sp>
        <p:nvSpPr>
          <p:cNvPr id="651" name="S652"/>
          <p:cNvSpPr/>
          <p:nvPr/>
        </p:nvSpPr>
        <p:spPr>
          <a:xfrm>
            <a:off x="6000750" y="3105150"/>
            <a:ext cx="1566333" cy="165100"/>
          </a:xfrm>
          <a:prstGeom prst="roundRect">
            <a:avLst>
              <a:gd name="adj" fmla="val 8000"/>
            </a:avLst>
          </a:prstGeom>
          <a:solidFill>
            <a:srgbClr val="D4A843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52" name="S653"/>
          <p:cNvSpPr/>
          <p:nvPr/>
        </p:nvSpPr>
        <p:spPr>
          <a:xfrm>
            <a:off x="6000750" y="31051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53" name="S654"/>
          <p:cNvSpPr/>
          <p:nvPr/>
        </p:nvSpPr>
        <p:spPr>
          <a:xfrm>
            <a:off x="177800" y="33274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Sustainability Compliance</a:t>
            </a:r>
          </a:p>
        </p:txBody>
      </p:sp>
      <p:sp>
        <p:nvSpPr>
          <p:cNvPr id="654" name="S655"/>
          <p:cNvSpPr/>
          <p:nvPr/>
        </p:nvSpPr>
        <p:spPr>
          <a:xfrm>
            <a:off x="6392333" y="3371850"/>
            <a:ext cx="1174750" cy="165100"/>
          </a:xfrm>
          <a:prstGeom prst="roundRect">
            <a:avLst>
              <a:gd name="adj" fmla="val 8000"/>
            </a:avLst>
          </a:prstGeom>
          <a:solidFill>
            <a:srgbClr val="D4A843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55" name="S656"/>
          <p:cNvSpPr/>
          <p:nvPr/>
        </p:nvSpPr>
        <p:spPr>
          <a:xfrm>
            <a:off x="6392333" y="33718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56" name="S657"/>
          <p:cNvSpPr/>
          <p:nvPr/>
        </p:nvSpPr>
        <p:spPr>
          <a:xfrm>
            <a:off x="76200" y="3644900"/>
            <a:ext cx="11811000" cy="203200"/>
          </a:xfrm>
          <a:prstGeom prst="rect">
            <a:avLst/>
          </a:prstGeom>
          <a:solidFill>
            <a:srgbClr val="6AAF6A">
              <a:alpha val="2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57" name="S658"/>
          <p:cNvSpPr/>
          <p:nvPr/>
        </p:nvSpPr>
        <p:spPr>
          <a:xfrm>
            <a:off x="127000" y="3644900"/>
            <a:ext cx="2311400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50" b="1" dirty="0">
                <a:solidFill>
                  <a:srgbClr val="6AAF6A"/>
                </a:solidFill>
                <a:latin typeface="Calibri"/>
              </a:rPr>
              <a:t>PHASE 3: PRODUCTION &amp; SUPPLY CHAIN</a:t>
            </a:r>
          </a:p>
        </p:txBody>
      </p:sp>
      <p:sp>
        <p:nvSpPr>
          <p:cNvPr id="658" name="S659"/>
          <p:cNvSpPr/>
          <p:nvPr/>
        </p:nvSpPr>
        <p:spPr>
          <a:xfrm>
            <a:off x="177800" y="38735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Manufacturing Line Setup</a:t>
            </a:r>
          </a:p>
        </p:txBody>
      </p:sp>
      <p:sp>
        <p:nvSpPr>
          <p:cNvPr id="659" name="S660"/>
          <p:cNvSpPr/>
          <p:nvPr/>
        </p:nvSpPr>
        <p:spPr>
          <a:xfrm>
            <a:off x="6783917" y="3917950"/>
            <a:ext cx="1566333" cy="165100"/>
          </a:xfrm>
          <a:prstGeom prst="roundRect">
            <a:avLst>
              <a:gd name="adj" fmla="val 8000"/>
            </a:avLst>
          </a:prstGeom>
          <a:solidFill>
            <a:srgbClr val="6AAF6A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60" name="S661"/>
          <p:cNvSpPr/>
          <p:nvPr/>
        </p:nvSpPr>
        <p:spPr>
          <a:xfrm>
            <a:off x="6783917" y="39179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61" name="S662"/>
          <p:cNvSpPr/>
          <p:nvPr/>
        </p:nvSpPr>
        <p:spPr>
          <a:xfrm>
            <a:off x="177800" y="41402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Pilot Production Run</a:t>
            </a:r>
          </a:p>
        </p:txBody>
      </p:sp>
      <p:sp>
        <p:nvSpPr>
          <p:cNvPr id="662" name="S663"/>
          <p:cNvSpPr/>
          <p:nvPr/>
        </p:nvSpPr>
        <p:spPr>
          <a:xfrm>
            <a:off x="7958667" y="4184650"/>
            <a:ext cx="783167" cy="165100"/>
          </a:xfrm>
          <a:prstGeom prst="roundRect">
            <a:avLst>
              <a:gd name="adj" fmla="val 8000"/>
            </a:avLst>
          </a:prstGeom>
          <a:solidFill>
            <a:srgbClr val="6AAF6A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63" name="S664"/>
          <p:cNvSpPr/>
          <p:nvPr/>
        </p:nvSpPr>
        <p:spPr>
          <a:xfrm>
            <a:off x="7958667" y="41846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64" name="S665"/>
          <p:cNvSpPr/>
          <p:nvPr/>
        </p:nvSpPr>
        <p:spPr>
          <a:xfrm>
            <a:off x="177800" y="44069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Supply Chain &amp; Distribution Setup</a:t>
            </a:r>
          </a:p>
        </p:txBody>
      </p:sp>
      <p:sp>
        <p:nvSpPr>
          <p:cNvPr id="665" name="S666"/>
          <p:cNvSpPr/>
          <p:nvPr/>
        </p:nvSpPr>
        <p:spPr>
          <a:xfrm>
            <a:off x="7567083" y="4451350"/>
            <a:ext cx="1566333" cy="165100"/>
          </a:xfrm>
          <a:prstGeom prst="roundRect">
            <a:avLst>
              <a:gd name="adj" fmla="val 8000"/>
            </a:avLst>
          </a:prstGeom>
          <a:solidFill>
            <a:srgbClr val="6AAF6A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66" name="S667"/>
          <p:cNvSpPr/>
          <p:nvPr/>
        </p:nvSpPr>
        <p:spPr>
          <a:xfrm>
            <a:off x="7567083" y="44513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67" name="S668"/>
          <p:cNvSpPr/>
          <p:nvPr/>
        </p:nvSpPr>
        <p:spPr>
          <a:xfrm>
            <a:off x="76200" y="4724400"/>
            <a:ext cx="11811000" cy="203200"/>
          </a:xfrm>
          <a:prstGeom prst="rect">
            <a:avLst/>
          </a:prstGeom>
          <a:solidFill>
            <a:srgbClr val="C75050">
              <a:alpha val="2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68" name="S669"/>
          <p:cNvSpPr/>
          <p:nvPr/>
        </p:nvSpPr>
        <p:spPr>
          <a:xfrm>
            <a:off x="127000" y="4724400"/>
            <a:ext cx="2311400" cy="2032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50" b="1" dirty="0">
                <a:solidFill>
                  <a:srgbClr val="C75050"/>
                </a:solidFill>
                <a:latin typeface="Calibri"/>
              </a:rPr>
              <a:t>PHASE 4: MARKETING &amp; LAUNCH</a:t>
            </a:r>
          </a:p>
        </p:txBody>
      </p:sp>
      <p:sp>
        <p:nvSpPr>
          <p:cNvPr id="669" name="S670"/>
          <p:cNvSpPr/>
          <p:nvPr/>
        </p:nvSpPr>
        <p:spPr>
          <a:xfrm>
            <a:off x="177800" y="49530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Digital &amp; Social Campaign</a:t>
            </a:r>
          </a:p>
        </p:txBody>
      </p:sp>
      <p:sp>
        <p:nvSpPr>
          <p:cNvPr id="670" name="S671"/>
          <p:cNvSpPr/>
          <p:nvPr/>
        </p:nvSpPr>
        <p:spPr>
          <a:xfrm>
            <a:off x="7958667" y="4997450"/>
            <a:ext cx="2741083" cy="165100"/>
          </a:xfrm>
          <a:prstGeom prst="roundRect">
            <a:avLst>
              <a:gd name="adj" fmla="val 8000"/>
            </a:avLst>
          </a:prstGeom>
          <a:solidFill>
            <a:srgbClr val="C75050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71" name="S672"/>
          <p:cNvSpPr/>
          <p:nvPr/>
        </p:nvSpPr>
        <p:spPr>
          <a:xfrm>
            <a:off x="7958667" y="49974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72" name="S673"/>
          <p:cNvSpPr/>
          <p:nvPr/>
        </p:nvSpPr>
        <p:spPr>
          <a:xfrm>
            <a:off x="177800" y="52197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Influencer &amp; Wellness Partnerships</a:t>
            </a:r>
          </a:p>
        </p:txBody>
      </p:sp>
      <p:sp>
        <p:nvSpPr>
          <p:cNvPr id="673" name="S674"/>
          <p:cNvSpPr/>
          <p:nvPr/>
        </p:nvSpPr>
        <p:spPr>
          <a:xfrm>
            <a:off x="8350250" y="5264150"/>
            <a:ext cx="1957917" cy="165100"/>
          </a:xfrm>
          <a:prstGeom prst="roundRect">
            <a:avLst>
              <a:gd name="adj" fmla="val 8000"/>
            </a:avLst>
          </a:prstGeom>
          <a:solidFill>
            <a:srgbClr val="C75050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74" name="S675"/>
          <p:cNvSpPr/>
          <p:nvPr/>
        </p:nvSpPr>
        <p:spPr>
          <a:xfrm>
            <a:off x="8350250" y="52641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75" name="S676"/>
          <p:cNvSpPr/>
          <p:nvPr/>
        </p:nvSpPr>
        <p:spPr>
          <a:xfrm>
            <a:off x="177800" y="54864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Retail &amp; E-Commerce Rollout</a:t>
            </a:r>
          </a:p>
        </p:txBody>
      </p:sp>
      <p:sp>
        <p:nvSpPr>
          <p:cNvPr id="676" name="S677"/>
          <p:cNvSpPr/>
          <p:nvPr/>
        </p:nvSpPr>
        <p:spPr>
          <a:xfrm>
            <a:off x="9133417" y="5530850"/>
            <a:ext cx="1174750" cy="165100"/>
          </a:xfrm>
          <a:prstGeom prst="roundRect">
            <a:avLst>
              <a:gd name="adj" fmla="val 8000"/>
            </a:avLst>
          </a:prstGeom>
          <a:solidFill>
            <a:srgbClr val="C75050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77" name="S678"/>
          <p:cNvSpPr/>
          <p:nvPr/>
        </p:nvSpPr>
        <p:spPr>
          <a:xfrm>
            <a:off x="9133417" y="55308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78" name="S679"/>
          <p:cNvSpPr/>
          <p:nvPr/>
        </p:nvSpPr>
        <p:spPr>
          <a:xfrm>
            <a:off x="177800" y="57531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National Launch Event</a:t>
            </a:r>
          </a:p>
        </p:txBody>
      </p:sp>
      <p:sp>
        <p:nvSpPr>
          <p:cNvPr id="679" name="S680"/>
          <p:cNvSpPr/>
          <p:nvPr/>
        </p:nvSpPr>
        <p:spPr>
          <a:xfrm>
            <a:off x="10308167" y="5797550"/>
            <a:ext cx="391583" cy="165100"/>
          </a:xfrm>
          <a:prstGeom prst="roundRect">
            <a:avLst>
              <a:gd name="adj" fmla="val 8000"/>
            </a:avLst>
          </a:prstGeom>
          <a:solidFill>
            <a:srgbClr val="C75050">
              <a:alpha val="90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80" name="S681"/>
          <p:cNvSpPr/>
          <p:nvPr/>
        </p:nvSpPr>
        <p:spPr>
          <a:xfrm>
            <a:off x="177800" y="60198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800" dirty="0">
                <a:solidFill>
                  <a:srgbClr val="CCCCDD"/>
                </a:solidFill>
                <a:latin typeface="Calibri"/>
              </a:rPr>
              <a:t>Post-Launch Performance Review</a:t>
            </a:r>
          </a:p>
        </p:txBody>
      </p:sp>
      <p:sp>
        <p:nvSpPr>
          <p:cNvPr id="681" name="S682"/>
          <p:cNvSpPr/>
          <p:nvPr/>
        </p:nvSpPr>
        <p:spPr>
          <a:xfrm>
            <a:off x="10699750" y="6064250"/>
            <a:ext cx="1174750" cy="165100"/>
          </a:xfrm>
          <a:prstGeom prst="roundRect">
            <a:avLst>
              <a:gd name="adj" fmla="val 8000"/>
            </a:avLst>
          </a:prstGeom>
          <a:solidFill>
            <a:srgbClr val="C75050">
              <a:alpha val="7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82" name="S683"/>
          <p:cNvSpPr/>
          <p:nvPr/>
        </p:nvSpPr>
        <p:spPr>
          <a:xfrm>
            <a:off x="10699750" y="6064250"/>
            <a:ext cx="234950" cy="1651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83" name="S684"/>
          <p:cNvSpPr/>
          <p:nvPr/>
        </p:nvSpPr>
        <p:spPr>
          <a:xfrm>
            <a:off x="10440458" y="5816600"/>
            <a:ext cx="127000" cy="127000"/>
          </a:xfrm>
          <a:prstGeom prst="diamond">
            <a:avLst/>
          </a:prstGeom>
          <a:solidFill>
            <a:srgbClr val="C75050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84" name="S685"/>
          <p:cNvSpPr/>
          <p:nvPr/>
        </p:nvSpPr>
        <p:spPr>
          <a:xfrm>
            <a:off x="76200" y="6413500"/>
            <a:ext cx="11811000" cy="2794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85" name="S686"/>
          <p:cNvSpPr/>
          <p:nvPr/>
        </p:nvSpPr>
        <p:spPr>
          <a:xfrm>
            <a:off x="152400" y="6413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50" b="1" dirty="0">
                <a:solidFill>
                  <a:srgbClr val="888899"/>
                </a:solidFill>
                <a:latin typeface="Calibri"/>
              </a:rPr>
              <a:t>KEY DATES</a:t>
            </a:r>
          </a:p>
        </p:txBody>
      </p:sp>
      <p:sp>
        <p:nvSpPr>
          <p:cNvPr id="686" name="S687"/>
          <p:cNvSpPr/>
          <p:nvPr/>
        </p:nvSpPr>
        <p:spPr>
          <a:xfrm>
            <a:off x="5937250" y="6438900"/>
            <a:ext cx="127000" cy="127000"/>
          </a:xfrm>
          <a:prstGeom prst="diamond">
            <a:avLst/>
          </a:prstGeom>
          <a:solidFill>
            <a:srgbClr val="4A6FA5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87" name="S688"/>
          <p:cNvSpPr/>
          <p:nvPr/>
        </p:nvSpPr>
        <p:spPr>
          <a:xfrm>
            <a:off x="5619750" y="6553200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4A6FA5"/>
                </a:solidFill>
                <a:latin typeface="Calibri"/>
              </a:rPr>
              <a:t>R&amp;D Complete</a:t>
            </a:r>
          </a:p>
        </p:txBody>
      </p:sp>
      <p:sp>
        <p:nvSpPr>
          <p:cNvPr id="688" name="S689"/>
          <p:cNvSpPr/>
          <p:nvPr/>
        </p:nvSpPr>
        <p:spPr>
          <a:xfrm>
            <a:off x="7503583" y="6438900"/>
            <a:ext cx="127000" cy="127000"/>
          </a:xfrm>
          <a:prstGeom prst="diamond">
            <a:avLst/>
          </a:prstGeom>
          <a:solidFill>
            <a:srgbClr val="D4A843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89" name="S690"/>
          <p:cNvSpPr/>
          <p:nvPr/>
        </p:nvSpPr>
        <p:spPr>
          <a:xfrm>
            <a:off x="7186083" y="6553200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D4A843"/>
                </a:solidFill>
                <a:latin typeface="Calibri"/>
              </a:rPr>
              <a:t>Design Lock</a:t>
            </a:r>
          </a:p>
        </p:txBody>
      </p:sp>
      <p:sp>
        <p:nvSpPr>
          <p:cNvPr id="690" name="S691"/>
          <p:cNvSpPr/>
          <p:nvPr/>
        </p:nvSpPr>
        <p:spPr>
          <a:xfrm>
            <a:off x="8678333" y="6438900"/>
            <a:ext cx="127000" cy="127000"/>
          </a:xfrm>
          <a:prstGeom prst="diamond">
            <a:avLst/>
          </a:prstGeom>
          <a:solidFill>
            <a:srgbClr val="6AAF6A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91" name="S692"/>
          <p:cNvSpPr/>
          <p:nvPr/>
        </p:nvSpPr>
        <p:spPr>
          <a:xfrm>
            <a:off x="8360833" y="6553200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6AAF6A"/>
                </a:solidFill>
                <a:latin typeface="Calibri"/>
              </a:rPr>
              <a:t>Pilot Done</a:t>
            </a:r>
          </a:p>
        </p:txBody>
      </p:sp>
      <p:sp>
        <p:nvSpPr>
          <p:cNvPr id="692" name="S693"/>
          <p:cNvSpPr/>
          <p:nvPr/>
        </p:nvSpPr>
        <p:spPr>
          <a:xfrm>
            <a:off x="10244667" y="6438900"/>
            <a:ext cx="127000" cy="127000"/>
          </a:xfrm>
          <a:prstGeom prst="diamond">
            <a:avLst/>
          </a:prstGeom>
          <a:solidFill>
            <a:srgbClr val="C75050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93" name="S694"/>
          <p:cNvSpPr/>
          <p:nvPr/>
        </p:nvSpPr>
        <p:spPr>
          <a:xfrm>
            <a:off x="9927167" y="6553200"/>
            <a:ext cx="762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C75050"/>
                </a:solidFill>
                <a:latin typeface="Calibri"/>
              </a:rPr>
              <a:t>Launch</a:t>
            </a:r>
          </a:p>
        </p:txBody>
      </p:sp>
      <p:sp>
        <p:nvSpPr>
          <p:cNvPr id="694" name="S695"/>
          <p:cNvSpPr/>
          <p:nvPr/>
        </p:nvSpPr>
        <p:spPr>
          <a:xfrm>
            <a:off x="2476500" y="6705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95" name="S696"/>
          <p:cNvSpPr/>
          <p:nvPr/>
        </p:nvSpPr>
        <p:spPr>
          <a:xfrm>
            <a:off x="2603500" y="66929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00" dirty="0">
                <a:solidFill>
                  <a:srgbClr val="999AAA"/>
                </a:solidFill>
                <a:latin typeface="Calibri"/>
              </a:rPr>
              <a:t>Research &amp; Formulation</a:t>
            </a:r>
          </a:p>
        </p:txBody>
      </p:sp>
      <p:sp>
        <p:nvSpPr>
          <p:cNvPr id="696" name="S697"/>
          <p:cNvSpPr/>
          <p:nvPr/>
        </p:nvSpPr>
        <p:spPr>
          <a:xfrm>
            <a:off x="4254500" y="6705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97" name="S698"/>
          <p:cNvSpPr/>
          <p:nvPr/>
        </p:nvSpPr>
        <p:spPr>
          <a:xfrm>
            <a:off x="4381500" y="66929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00" dirty="0">
                <a:solidFill>
                  <a:srgbClr val="999AAA"/>
                </a:solidFill>
                <a:latin typeface="Calibri"/>
              </a:rPr>
              <a:t>Branding &amp; Packaging</a:t>
            </a:r>
          </a:p>
        </p:txBody>
      </p:sp>
      <p:sp>
        <p:nvSpPr>
          <p:cNvPr id="698" name="S699"/>
          <p:cNvSpPr/>
          <p:nvPr/>
        </p:nvSpPr>
        <p:spPr>
          <a:xfrm>
            <a:off x="6032500" y="6705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6AAF6A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699" name="S700"/>
          <p:cNvSpPr/>
          <p:nvPr/>
        </p:nvSpPr>
        <p:spPr>
          <a:xfrm>
            <a:off x="6159500" y="66929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00" dirty="0">
                <a:solidFill>
                  <a:srgbClr val="999AAA"/>
                </a:solidFill>
                <a:latin typeface="Calibri"/>
              </a:rPr>
              <a:t>Production &amp; Supply Chain</a:t>
            </a:r>
          </a:p>
        </p:txBody>
      </p:sp>
      <p:sp>
        <p:nvSpPr>
          <p:cNvPr id="700" name="S701"/>
          <p:cNvSpPr/>
          <p:nvPr/>
        </p:nvSpPr>
        <p:spPr>
          <a:xfrm>
            <a:off x="7810500" y="6705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C75050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701" name="S702"/>
          <p:cNvSpPr/>
          <p:nvPr/>
        </p:nvSpPr>
        <p:spPr>
          <a:xfrm>
            <a:off x="7937500" y="66929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r>
              <a:rPr lang="en-US" sz="700" dirty="0">
                <a:solidFill>
                  <a:srgbClr val="999AAA"/>
                </a:solidFill>
                <a:latin typeface="Calibri"/>
              </a:rPr>
              <a:t>Marketing &amp; Launch</a:t>
            </a:r>
          </a:p>
        </p:txBody>
      </p:sp>
      <p:sp>
        <p:nvSpPr>
          <p:cNvPr id="702" name="S703"/>
          <p:cNvSpPr/>
          <p:nvPr/>
        </p:nvSpPr>
        <p:spPr>
          <a:xfrm>
            <a:off x="4244941" y="1193800"/>
            <a:ext cx="10160" cy="497840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l">
              <a:buNone/>
            </a:pPr>
            <a:endParaRPr/>
          </a:p>
        </p:txBody>
      </p:sp>
      <p:sp>
        <p:nvSpPr>
          <p:cNvPr id="703" name="S704"/>
          <p:cNvSpPr/>
          <p:nvPr/>
        </p:nvSpPr>
        <p:spPr>
          <a:xfrm>
            <a:off x="4054441" y="1155700"/>
            <a:ext cx="381000" cy="127000"/>
          </a:xfrm>
          <a:prstGeom prst="roundRect">
            <a:avLst>
              <a:gd name="adj" fmla="val 16000"/>
            </a:avLst>
          </a:prstGeom>
          <a:solidFill>
            <a:srgbClr val="FF6666"/>
          </a:solidFill>
          <a:ln>
            <a:noFill/>
          </a:ln>
        </p:spPr>
        <p:txBody>
          <a:bodyPr wrap="square" lIns="38100" tIns="0" rIns="38100" bIns="0" anchor="ctr"/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96769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901"/>
          <p:cNvSpPr/>
          <p:nvPr/>
        </p:nvSpPr>
        <p:spPr>
          <a:xfrm>
            <a:off x="457200" y="1270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</a:rPr>
              <a:t>Stakeholder Alignment &amp; Management</a:t>
            </a:r>
          </a:p>
        </p:txBody>
      </p:sp>
      <p:sp>
        <p:nvSpPr>
          <p:cNvPr id="901" name="S902"/>
          <p:cNvSpPr/>
          <p:nvPr/>
        </p:nvSpPr>
        <p:spPr>
          <a:xfrm>
            <a:off x="457200" y="558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1050" i="1" dirty="0">
                <a:solidFill>
                  <a:srgbClr val="AABBCC"/>
                </a:solidFill>
                <a:latin typeface="Calibri"/>
              </a:rPr>
              <a:t>New product development &amp; launch — Key stakeholder engagement strategy</a:t>
            </a:r>
          </a:p>
        </p:txBody>
      </p:sp>
      <p:sp>
        <p:nvSpPr>
          <p:cNvPr id="902" name="S903"/>
          <p:cNvSpPr/>
          <p:nvPr/>
        </p:nvSpPr>
        <p:spPr>
          <a:xfrm>
            <a:off x="457200" y="838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800" b="1" dirty="0">
                <a:solidFill>
                  <a:srgbClr val="888899"/>
                </a:solidFill>
                <a:latin typeface="Calibri"/>
              </a:rPr>
              <a:t>POWER / INTEREST MATRIX</a:t>
            </a:r>
          </a:p>
        </p:txBody>
      </p:sp>
      <p:sp>
        <p:nvSpPr>
          <p:cNvPr id="903" name="S904"/>
          <p:cNvSpPr/>
          <p:nvPr/>
        </p:nvSpPr>
        <p:spPr>
          <a:xfrm>
            <a:off x="6096000" y="838200"/>
            <a:ext cx="59182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800" b="1" dirty="0">
                <a:solidFill>
                  <a:srgbClr val="888899"/>
                </a:solidFill>
                <a:latin typeface="Calibri"/>
              </a:rPr>
              <a:t>ENGAGEMENT STRATEGY</a:t>
            </a:r>
          </a:p>
        </p:txBody>
      </p:sp>
      <p:sp>
        <p:nvSpPr>
          <p:cNvPr id="904" name="S905"/>
          <p:cNvSpPr/>
          <p:nvPr/>
        </p:nvSpPr>
        <p:spPr>
          <a:xfrm>
            <a:off x="177800" y="1574800"/>
            <a:ext cx="254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b="1" dirty="0">
                <a:solidFill>
                  <a:srgbClr val="666688"/>
                </a:solidFill>
                <a:latin typeface="Calibri"/>
              </a:rPr>
              <a:t>P O W E R</a:t>
            </a:r>
          </a:p>
        </p:txBody>
      </p:sp>
      <p:sp>
        <p:nvSpPr>
          <p:cNvPr id="905" name="S906"/>
          <p:cNvSpPr/>
          <p:nvPr/>
        </p:nvSpPr>
        <p:spPr>
          <a:xfrm>
            <a:off x="1219200" y="46736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b="1" dirty="0">
                <a:solidFill>
                  <a:srgbClr val="666688"/>
                </a:solidFill>
                <a:latin typeface="Calibri"/>
              </a:rPr>
              <a:t>I N T E R E S T</a:t>
            </a:r>
          </a:p>
        </p:txBody>
      </p:sp>
      <p:sp>
        <p:nvSpPr>
          <p:cNvPr id="906" name="S907"/>
          <p:cNvSpPr/>
          <p:nvPr/>
        </p:nvSpPr>
        <p:spPr>
          <a:xfrm>
            <a:off x="381000" y="1041400"/>
            <a:ext cx="10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dirty="0">
                <a:solidFill>
                  <a:srgbClr val="666688"/>
                </a:solidFill>
                <a:latin typeface="Calibri"/>
              </a:rPr>
              <a:t>▲</a:t>
            </a:r>
          </a:p>
        </p:txBody>
      </p:sp>
      <p:sp>
        <p:nvSpPr>
          <p:cNvPr id="907" name="S908"/>
          <p:cNvSpPr/>
          <p:nvPr/>
        </p:nvSpPr>
        <p:spPr>
          <a:xfrm>
            <a:off x="5816600" y="45466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dirty="0">
                <a:solidFill>
                  <a:srgbClr val="666688"/>
                </a:solidFill>
                <a:latin typeface="Calibri"/>
              </a:rPr>
              <a:t>▶</a:t>
            </a:r>
          </a:p>
        </p:txBody>
      </p:sp>
      <p:sp>
        <p:nvSpPr>
          <p:cNvPr id="908" name="S909"/>
          <p:cNvSpPr/>
          <p:nvPr/>
        </p:nvSpPr>
        <p:spPr>
          <a:xfrm>
            <a:off x="457200" y="4673600"/>
            <a:ext cx="2667000" cy="127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50" dirty="0">
                <a:solidFill>
                  <a:srgbClr val="555577"/>
                </a:solidFill>
                <a:latin typeface="Calibri"/>
              </a:rPr>
              <a:t>Low</a:t>
            </a:r>
          </a:p>
        </p:txBody>
      </p:sp>
      <p:sp>
        <p:nvSpPr>
          <p:cNvPr id="909" name="S910"/>
          <p:cNvSpPr/>
          <p:nvPr/>
        </p:nvSpPr>
        <p:spPr>
          <a:xfrm>
            <a:off x="3124200" y="4673600"/>
            <a:ext cx="2667000" cy="127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50" dirty="0">
                <a:solidFill>
                  <a:srgbClr val="555577"/>
                </a:solidFill>
                <a:latin typeface="Calibri"/>
              </a:rPr>
              <a:t>High</a:t>
            </a:r>
          </a:p>
        </p:txBody>
      </p:sp>
      <p:sp>
        <p:nvSpPr>
          <p:cNvPr id="910" name="S911"/>
          <p:cNvSpPr/>
          <p:nvPr/>
        </p:nvSpPr>
        <p:spPr>
          <a:xfrm>
            <a:off x="177800" y="1066800"/>
            <a:ext cx="254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50" dirty="0">
                <a:solidFill>
                  <a:srgbClr val="555577"/>
                </a:solidFill>
                <a:latin typeface="Calibri"/>
              </a:rPr>
              <a:t>High</a:t>
            </a:r>
          </a:p>
        </p:txBody>
      </p:sp>
      <p:sp>
        <p:nvSpPr>
          <p:cNvPr id="911" name="S912"/>
          <p:cNvSpPr/>
          <p:nvPr/>
        </p:nvSpPr>
        <p:spPr>
          <a:xfrm>
            <a:off x="177800" y="2844800"/>
            <a:ext cx="254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50" dirty="0">
                <a:solidFill>
                  <a:srgbClr val="555577"/>
                </a:solidFill>
                <a:latin typeface="Calibri"/>
              </a:rPr>
              <a:t>Low</a:t>
            </a:r>
          </a:p>
        </p:txBody>
      </p:sp>
      <p:sp>
        <p:nvSpPr>
          <p:cNvPr id="912" name="S913"/>
          <p:cNvSpPr/>
          <p:nvPr/>
        </p:nvSpPr>
        <p:spPr>
          <a:xfrm>
            <a:off x="457200" y="1066800"/>
            <a:ext cx="2667000" cy="1778000"/>
          </a:xfrm>
          <a:prstGeom prst="roundRect">
            <a:avLst>
              <a:gd name="adj" fmla="val 5000"/>
            </a:avLst>
          </a:prstGeom>
          <a:solidFill>
            <a:srgbClr val="2A2A45"/>
          </a:solidFill>
          <a:ln w="3175">
            <a:solidFill>
              <a:srgbClr val="3A3A58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913" name="S914"/>
          <p:cNvSpPr/>
          <p:nvPr/>
        </p:nvSpPr>
        <p:spPr>
          <a:xfrm>
            <a:off x="584200" y="11430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D4A843"/>
                </a:solidFill>
                <a:latin typeface="Calibri"/>
              </a:rPr>
              <a:t>KEEP SATISFIED</a:t>
            </a:r>
          </a:p>
        </p:txBody>
      </p:sp>
      <p:sp>
        <p:nvSpPr>
          <p:cNvPr id="914" name="S915"/>
          <p:cNvSpPr/>
          <p:nvPr/>
        </p:nvSpPr>
        <p:spPr>
          <a:xfrm>
            <a:off x="3124200" y="1066800"/>
            <a:ext cx="2667000" cy="1778000"/>
          </a:xfrm>
          <a:prstGeom prst="roundRect">
            <a:avLst>
              <a:gd name="adj" fmla="val 5000"/>
            </a:avLst>
          </a:prstGeom>
          <a:solidFill>
            <a:srgbClr val="3A1525"/>
          </a:solidFill>
          <a:ln w="6350">
            <a:solidFill>
              <a:srgbClr val="8B0000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915" name="S916"/>
          <p:cNvSpPr/>
          <p:nvPr/>
        </p:nvSpPr>
        <p:spPr>
          <a:xfrm>
            <a:off x="3251200" y="11430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9999"/>
                </a:solidFill>
                <a:latin typeface="Calibri"/>
              </a:rPr>
              <a:t>MANAGE CLOSELY</a:t>
            </a:r>
          </a:p>
        </p:txBody>
      </p:sp>
      <p:sp>
        <p:nvSpPr>
          <p:cNvPr id="916" name="S917"/>
          <p:cNvSpPr/>
          <p:nvPr/>
        </p:nvSpPr>
        <p:spPr>
          <a:xfrm>
            <a:off x="457200" y="2844800"/>
            <a:ext cx="2667000" cy="177800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 w="3175">
            <a:solidFill>
              <a:srgbClr val="3A3A58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917" name="S918"/>
          <p:cNvSpPr/>
          <p:nvPr/>
        </p:nvSpPr>
        <p:spPr>
          <a:xfrm>
            <a:off x="584200" y="29210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6A8A6A"/>
                </a:solidFill>
                <a:latin typeface="Calibri"/>
              </a:rPr>
              <a:t>MONITOR</a:t>
            </a:r>
          </a:p>
        </p:txBody>
      </p:sp>
      <p:sp>
        <p:nvSpPr>
          <p:cNvPr id="918" name="S919"/>
          <p:cNvSpPr/>
          <p:nvPr/>
        </p:nvSpPr>
        <p:spPr>
          <a:xfrm>
            <a:off x="3124200" y="2844800"/>
            <a:ext cx="2667000" cy="177800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3175">
            <a:solidFill>
              <a:srgbClr val="3A3A58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919" name="S920"/>
          <p:cNvSpPr/>
          <p:nvPr/>
        </p:nvSpPr>
        <p:spPr>
          <a:xfrm>
            <a:off x="3251200" y="29210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6A9FD8"/>
                </a:solidFill>
                <a:latin typeface="Calibri"/>
              </a:rPr>
              <a:t>KEEP INFORMED</a:t>
            </a:r>
          </a:p>
        </p:txBody>
      </p:sp>
      <p:sp>
        <p:nvSpPr>
          <p:cNvPr id="920" name="S921"/>
          <p:cNvSpPr/>
          <p:nvPr/>
        </p:nvSpPr>
        <p:spPr>
          <a:xfrm>
            <a:off x="3327400" y="1397000"/>
            <a:ext cx="279400" cy="279400"/>
          </a:xfrm>
          <a:prstGeom prst="ellipse">
            <a:avLst/>
          </a:prstGeom>
          <a:solidFill>
            <a:srgbClr val="C7505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21" name="S922"/>
          <p:cNvSpPr/>
          <p:nvPr/>
        </p:nvSpPr>
        <p:spPr>
          <a:xfrm>
            <a:off x="3632200" y="1435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CEO/Board</a:t>
            </a:r>
          </a:p>
        </p:txBody>
      </p:sp>
      <p:sp>
        <p:nvSpPr>
          <p:cNvPr id="922" name="S923"/>
          <p:cNvSpPr/>
          <p:nvPr/>
        </p:nvSpPr>
        <p:spPr>
          <a:xfrm>
            <a:off x="4521200" y="1397000"/>
            <a:ext cx="279400" cy="279400"/>
          </a:xfrm>
          <a:prstGeom prst="ellipse">
            <a:avLst/>
          </a:prstGeom>
          <a:solidFill>
            <a:srgbClr val="C7505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23" name="S924"/>
          <p:cNvSpPr/>
          <p:nvPr/>
        </p:nvSpPr>
        <p:spPr>
          <a:xfrm>
            <a:off x="4826000" y="1435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CMO</a:t>
            </a:r>
          </a:p>
        </p:txBody>
      </p:sp>
      <p:sp>
        <p:nvSpPr>
          <p:cNvPr id="924" name="S925"/>
          <p:cNvSpPr/>
          <p:nvPr/>
        </p:nvSpPr>
        <p:spPr>
          <a:xfrm>
            <a:off x="3327400" y="1828800"/>
            <a:ext cx="279400" cy="279400"/>
          </a:xfrm>
          <a:prstGeom prst="ellipse">
            <a:avLst/>
          </a:prstGeom>
          <a:solidFill>
            <a:srgbClr val="C7505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25" name="S926"/>
          <p:cNvSpPr/>
          <p:nvPr/>
        </p:nvSpPr>
        <p:spPr>
          <a:xfrm>
            <a:off x="3632200" y="18669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R&amp;D VP</a:t>
            </a:r>
          </a:p>
        </p:txBody>
      </p:sp>
      <p:sp>
        <p:nvSpPr>
          <p:cNvPr id="926" name="S927"/>
          <p:cNvSpPr/>
          <p:nvPr/>
        </p:nvSpPr>
        <p:spPr>
          <a:xfrm>
            <a:off x="4521200" y="1828800"/>
            <a:ext cx="279400" cy="279400"/>
          </a:xfrm>
          <a:prstGeom prst="ellipse">
            <a:avLst/>
          </a:prstGeom>
          <a:solidFill>
            <a:srgbClr val="C7505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27" name="S928"/>
          <p:cNvSpPr/>
          <p:nvPr/>
        </p:nvSpPr>
        <p:spPr>
          <a:xfrm>
            <a:off x="4826000" y="18669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CFO</a:t>
            </a:r>
          </a:p>
        </p:txBody>
      </p:sp>
      <p:sp>
        <p:nvSpPr>
          <p:cNvPr id="928" name="S929"/>
          <p:cNvSpPr/>
          <p:nvPr/>
        </p:nvSpPr>
        <p:spPr>
          <a:xfrm>
            <a:off x="3886200" y="2260600"/>
            <a:ext cx="279400" cy="279400"/>
          </a:xfrm>
          <a:prstGeom prst="ellipse">
            <a:avLst/>
          </a:prstGeom>
          <a:solidFill>
            <a:srgbClr val="C7505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929" name="S930"/>
          <p:cNvSpPr/>
          <p:nvPr/>
        </p:nvSpPr>
        <p:spPr>
          <a:xfrm>
            <a:off x="4191000" y="22987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Supply VP</a:t>
            </a:r>
          </a:p>
        </p:txBody>
      </p:sp>
      <p:sp>
        <p:nvSpPr>
          <p:cNvPr id="930" name="S931"/>
          <p:cNvSpPr/>
          <p:nvPr/>
        </p:nvSpPr>
        <p:spPr>
          <a:xfrm>
            <a:off x="660400" y="1447800"/>
            <a:ext cx="279400" cy="2794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31" name="S932"/>
          <p:cNvSpPr/>
          <p:nvPr/>
        </p:nvSpPr>
        <p:spPr>
          <a:xfrm>
            <a:off x="965200" y="14859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Regulators</a:t>
            </a:r>
          </a:p>
        </p:txBody>
      </p:sp>
      <p:sp>
        <p:nvSpPr>
          <p:cNvPr id="932" name="S933"/>
          <p:cNvSpPr/>
          <p:nvPr/>
        </p:nvSpPr>
        <p:spPr>
          <a:xfrm>
            <a:off x="660400" y="1905000"/>
            <a:ext cx="279400" cy="2794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933" name="S934"/>
          <p:cNvSpPr/>
          <p:nvPr/>
        </p:nvSpPr>
        <p:spPr>
          <a:xfrm>
            <a:off x="965200" y="1943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Bottlers</a:t>
            </a:r>
          </a:p>
        </p:txBody>
      </p:sp>
      <p:sp>
        <p:nvSpPr>
          <p:cNvPr id="934" name="S935"/>
          <p:cNvSpPr/>
          <p:nvPr/>
        </p:nvSpPr>
        <p:spPr>
          <a:xfrm>
            <a:off x="1854200" y="1676400"/>
            <a:ext cx="279400" cy="2794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935" name="S936"/>
          <p:cNvSpPr/>
          <p:nvPr/>
        </p:nvSpPr>
        <p:spPr>
          <a:xfrm>
            <a:off x="2159000" y="17145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Legal</a:t>
            </a:r>
          </a:p>
        </p:txBody>
      </p:sp>
      <p:sp>
        <p:nvSpPr>
          <p:cNvPr id="936" name="S937"/>
          <p:cNvSpPr/>
          <p:nvPr/>
        </p:nvSpPr>
        <p:spPr>
          <a:xfrm>
            <a:off x="3327400" y="3175000"/>
            <a:ext cx="279400" cy="27940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937" name="S938"/>
          <p:cNvSpPr/>
          <p:nvPr/>
        </p:nvSpPr>
        <p:spPr>
          <a:xfrm>
            <a:off x="3632200" y="3213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Sales</a:t>
            </a:r>
          </a:p>
        </p:txBody>
      </p:sp>
      <p:sp>
        <p:nvSpPr>
          <p:cNvPr id="938" name="S939"/>
          <p:cNvSpPr/>
          <p:nvPr/>
        </p:nvSpPr>
        <p:spPr>
          <a:xfrm>
            <a:off x="4521200" y="3175000"/>
            <a:ext cx="279400" cy="27940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39" name="S940"/>
          <p:cNvSpPr/>
          <p:nvPr/>
        </p:nvSpPr>
        <p:spPr>
          <a:xfrm>
            <a:off x="4826000" y="3213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Retailers</a:t>
            </a:r>
          </a:p>
        </p:txBody>
      </p:sp>
      <p:sp>
        <p:nvSpPr>
          <p:cNvPr id="940" name="S941"/>
          <p:cNvSpPr/>
          <p:nvPr/>
        </p:nvSpPr>
        <p:spPr>
          <a:xfrm>
            <a:off x="3327400" y="3683000"/>
            <a:ext cx="279400" cy="27940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41" name="S942"/>
          <p:cNvSpPr/>
          <p:nvPr/>
        </p:nvSpPr>
        <p:spPr>
          <a:xfrm>
            <a:off x="3632200" y="3721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Consumers</a:t>
            </a:r>
          </a:p>
        </p:txBody>
      </p:sp>
      <p:sp>
        <p:nvSpPr>
          <p:cNvPr id="942" name="S943"/>
          <p:cNvSpPr/>
          <p:nvPr/>
        </p:nvSpPr>
        <p:spPr>
          <a:xfrm>
            <a:off x="4521200" y="3683000"/>
            <a:ext cx="279400" cy="27940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43" name="S944"/>
          <p:cNvSpPr/>
          <p:nvPr/>
        </p:nvSpPr>
        <p:spPr>
          <a:xfrm>
            <a:off x="4826000" y="3721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Influencers</a:t>
            </a:r>
          </a:p>
        </p:txBody>
      </p:sp>
      <p:sp>
        <p:nvSpPr>
          <p:cNvPr id="944" name="S945"/>
          <p:cNvSpPr/>
          <p:nvPr/>
        </p:nvSpPr>
        <p:spPr>
          <a:xfrm>
            <a:off x="660400" y="3225800"/>
            <a:ext cx="279400" cy="279400"/>
          </a:xfrm>
          <a:prstGeom prst="ellipse">
            <a:avLst/>
          </a:prstGeom>
          <a:solidFill>
            <a:srgbClr val="5A8A5A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945" name="S946"/>
          <p:cNvSpPr/>
          <p:nvPr/>
        </p:nvSpPr>
        <p:spPr>
          <a:xfrm>
            <a:off x="965200" y="32639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Media</a:t>
            </a:r>
          </a:p>
        </p:txBody>
      </p:sp>
      <p:sp>
        <p:nvSpPr>
          <p:cNvPr id="946" name="S947"/>
          <p:cNvSpPr/>
          <p:nvPr/>
        </p:nvSpPr>
        <p:spPr>
          <a:xfrm>
            <a:off x="1854200" y="3225800"/>
            <a:ext cx="279400" cy="279400"/>
          </a:xfrm>
          <a:prstGeom prst="ellipse">
            <a:avLst/>
          </a:prstGeom>
          <a:solidFill>
            <a:srgbClr val="5A8A5A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47" name="S948"/>
          <p:cNvSpPr/>
          <p:nvPr/>
        </p:nvSpPr>
        <p:spPr>
          <a:xfrm>
            <a:off x="2159000" y="32639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Competitors</a:t>
            </a:r>
          </a:p>
        </p:txBody>
      </p:sp>
      <p:sp>
        <p:nvSpPr>
          <p:cNvPr id="948" name="S949"/>
          <p:cNvSpPr/>
          <p:nvPr/>
        </p:nvSpPr>
        <p:spPr>
          <a:xfrm>
            <a:off x="1219200" y="3683000"/>
            <a:ext cx="279400" cy="279400"/>
          </a:xfrm>
          <a:prstGeom prst="ellipse">
            <a:avLst/>
          </a:prstGeom>
          <a:solidFill>
            <a:srgbClr val="5A8A5A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949" name="S950"/>
          <p:cNvSpPr/>
          <p:nvPr/>
        </p:nvSpPr>
        <p:spPr>
          <a:xfrm>
            <a:off x="1524000" y="37211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dirty="0">
                <a:solidFill>
                  <a:srgbClr val="CCCCDD"/>
                </a:solidFill>
                <a:latin typeface="Calibri"/>
              </a:rPr>
              <a:t>NGOs</a:t>
            </a:r>
          </a:p>
        </p:txBody>
      </p:sp>
      <p:sp>
        <p:nvSpPr>
          <p:cNvPr id="950" name="S951"/>
          <p:cNvSpPr/>
          <p:nvPr/>
        </p:nvSpPr>
        <p:spPr>
          <a:xfrm>
            <a:off x="6096000" y="1066800"/>
            <a:ext cx="2921000" cy="1778000"/>
          </a:xfrm>
          <a:prstGeom prst="roundRect">
            <a:avLst>
              <a:gd name="adj" fmla="val 6000"/>
            </a:avLst>
          </a:prstGeom>
          <a:solidFill>
            <a:srgbClr val="2E2040"/>
          </a:solidFill>
          <a:ln w="9525">
            <a:solidFill>
              <a:srgbClr val="8B0000"/>
            </a:solidFill>
          </a:ln>
        </p:spPr>
        <p:txBody>
          <a:bodyPr wrap="square" lIns="63500" tIns="38100" rIns="63500" bIns="38100" anchor="t"/>
          <a:lstStyle/>
          <a:p>
            <a:pPr algn="l">
              <a:buNone/>
            </a:pPr>
            <a:r>
              <a:rPr lang="en-US" sz="1050" b="1" dirty="0">
                <a:solidFill>
                  <a:srgbClr val="FF9999"/>
                </a:solidFill>
                <a:latin typeface="Calibri"/>
              </a:rPr>
              <a:t>Manage Closely</a:t>
            </a:r>
          </a:p>
          <a:p>
            <a:pPr algn="l">
              <a:buNone/>
            </a:pPr>
            <a:r>
              <a:rPr lang="en-US" sz="750" dirty="0">
                <a:solidFill>
                  <a:srgbClr val="CCCCDD"/>
                </a:solidFill>
                <a:latin typeface="Calibri"/>
              </a:rPr>
              <a:t>CEO/Board  •  CMO  •  R&amp;D VP  •  CFO  •  Supply Chain VP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Weekly steering committee reviews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Direct budget &amp; go/no-go authority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Monthly P&amp;L and milestone reports</a:t>
            </a:r>
          </a:p>
        </p:txBody>
      </p:sp>
      <p:sp>
        <p:nvSpPr>
          <p:cNvPr id="951" name="S952"/>
          <p:cNvSpPr/>
          <p:nvPr/>
        </p:nvSpPr>
        <p:spPr>
          <a:xfrm>
            <a:off x="9093200" y="1066800"/>
            <a:ext cx="2921000" cy="1778000"/>
          </a:xfrm>
          <a:prstGeom prst="roundRect">
            <a:avLst>
              <a:gd name="adj" fmla="val 6000"/>
            </a:avLst>
          </a:prstGeom>
          <a:solidFill>
            <a:srgbClr val="2E2E40"/>
          </a:solidFill>
          <a:ln w="6350">
            <a:solidFill>
              <a:srgbClr val="D4A843"/>
            </a:solidFill>
          </a:ln>
        </p:spPr>
        <p:txBody>
          <a:bodyPr wrap="square" lIns="63500" tIns="38100" rIns="63500" bIns="38100" anchor="t"/>
          <a:lstStyle/>
          <a:p>
            <a:pPr algn="l">
              <a:buNone/>
            </a:pPr>
            <a:r>
              <a:rPr lang="en-US" sz="1050" b="1" dirty="0">
                <a:solidFill>
                  <a:srgbClr val="D4A843"/>
                </a:solidFill>
                <a:latin typeface="Calibri"/>
              </a:rPr>
              <a:t>Keep Satisfied</a:t>
            </a:r>
          </a:p>
          <a:p>
            <a:pPr algn="l">
              <a:buNone/>
            </a:pPr>
            <a:r>
              <a:rPr lang="en-US" sz="750" dirty="0">
                <a:solidFill>
                  <a:srgbClr val="CCCCDD"/>
                </a:solidFill>
                <a:latin typeface="Calibri"/>
              </a:rPr>
              <a:t>Regulatory Bodies  •  Bottling Partners  •  Legal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Quarterly compliance briefings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Early ingredient &amp; label approval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Production capacity alignment</a:t>
            </a:r>
          </a:p>
        </p:txBody>
      </p:sp>
      <p:sp>
        <p:nvSpPr>
          <p:cNvPr id="952" name="S953"/>
          <p:cNvSpPr/>
          <p:nvPr/>
        </p:nvSpPr>
        <p:spPr>
          <a:xfrm>
            <a:off x="6096000" y="2921000"/>
            <a:ext cx="2921000" cy="17780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6350">
            <a:solidFill>
              <a:srgbClr val="4A6FA5"/>
            </a:solidFill>
          </a:ln>
        </p:spPr>
        <p:txBody>
          <a:bodyPr wrap="square" lIns="63500" tIns="38100" rIns="63500" bIns="38100" anchor="t"/>
          <a:lstStyle/>
          <a:p>
            <a:pPr algn="l">
              <a:buNone/>
            </a:pPr>
            <a:r>
              <a:rPr lang="en-US" sz="1050" b="1" dirty="0">
                <a:solidFill>
                  <a:srgbClr val="6A9FD8"/>
                </a:solidFill>
                <a:latin typeface="Calibri"/>
              </a:rPr>
              <a:t>Keep Informed</a:t>
            </a:r>
          </a:p>
          <a:p>
            <a:pPr algn="l">
              <a:buNone/>
            </a:pPr>
            <a:r>
              <a:rPr lang="en-US" sz="750" dirty="0">
                <a:solidFill>
                  <a:srgbClr val="CCCCDD"/>
                </a:solidFill>
                <a:latin typeface="Calibri"/>
              </a:rPr>
              <a:t>Sales Teams  •  Retailers  •  Consumers  •  Influencers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Monthly launch readiness newsletters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Pre-launch sampling &amp; focus groups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Social media teaser campaigns</a:t>
            </a:r>
          </a:p>
        </p:txBody>
      </p:sp>
      <p:sp>
        <p:nvSpPr>
          <p:cNvPr id="953" name="S954"/>
          <p:cNvSpPr/>
          <p:nvPr/>
        </p:nvSpPr>
        <p:spPr>
          <a:xfrm>
            <a:off x="9093200" y="2921000"/>
            <a:ext cx="2921000" cy="1778000"/>
          </a:xfrm>
          <a:prstGeom prst="roundRect">
            <a:avLst>
              <a:gd name="adj" fmla="val 6000"/>
            </a:avLst>
          </a:prstGeom>
          <a:solidFill>
            <a:srgbClr val="222238"/>
          </a:solidFill>
          <a:ln w="6350">
            <a:solidFill>
              <a:srgbClr val="5A8A5A"/>
            </a:solidFill>
          </a:ln>
        </p:spPr>
        <p:txBody>
          <a:bodyPr wrap="square" lIns="63500" tIns="38100" rIns="63500" bIns="38100" anchor="t"/>
          <a:lstStyle/>
          <a:p>
            <a:pPr algn="l">
              <a:buNone/>
            </a:pPr>
            <a:r>
              <a:rPr lang="en-US" sz="1050" b="1" dirty="0">
                <a:solidFill>
                  <a:srgbClr val="6A8A6A"/>
                </a:solidFill>
                <a:latin typeface="Calibri"/>
              </a:rPr>
              <a:t>Monitor</a:t>
            </a:r>
          </a:p>
          <a:p>
            <a:pPr algn="l">
              <a:buNone/>
            </a:pPr>
            <a:r>
              <a:rPr lang="en-US" sz="750" dirty="0">
                <a:solidFill>
                  <a:srgbClr val="CCCCDD"/>
                </a:solidFill>
                <a:latin typeface="Calibri"/>
              </a:rPr>
              <a:t>Media  •  Competitors  •  NGOs / Advocacy Groups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Media sentiment tracking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Competitive response monitoring</a:t>
            </a:r>
          </a:p>
          <a:p>
            <a:pPr algn="l">
              <a:buNone/>
            </a:pPr>
            <a:r>
              <a:rPr lang="en-US" sz="800" dirty="0">
                <a:solidFill>
                  <a:srgbClr val="90EE90"/>
                </a:solidFill>
                <a:latin typeface="Calibri"/>
              </a:rPr>
              <a:t>✓ ESG &amp; sustainability watch</a:t>
            </a:r>
          </a:p>
        </p:txBody>
      </p:sp>
      <p:sp>
        <p:nvSpPr>
          <p:cNvPr id="954" name="S955"/>
          <p:cNvSpPr/>
          <p:nvPr/>
        </p:nvSpPr>
        <p:spPr>
          <a:xfrm>
            <a:off x="457200" y="4876800"/>
            <a:ext cx="11557000" cy="2794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955" name="S956"/>
          <p:cNvSpPr/>
          <p:nvPr/>
        </p:nvSpPr>
        <p:spPr>
          <a:xfrm>
            <a:off x="533400" y="48895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800" b="1" dirty="0">
                <a:solidFill>
                  <a:srgbClr val="888899"/>
                </a:solidFill>
                <a:latin typeface="Calibri"/>
              </a:rPr>
              <a:t>KEY PRINCIPLES</a:t>
            </a:r>
          </a:p>
        </p:txBody>
      </p:sp>
      <p:sp>
        <p:nvSpPr>
          <p:cNvPr id="956" name="S957"/>
          <p:cNvSpPr/>
          <p:nvPr/>
        </p:nvSpPr>
        <p:spPr>
          <a:xfrm>
            <a:off x="2108200" y="48895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550" dirty="0">
                <a:solidFill>
                  <a:srgbClr val="FF9999"/>
                </a:solidFill>
                <a:latin typeface="Calibri"/>
              </a:rPr>
              <a:t>●</a:t>
            </a:r>
          </a:p>
        </p:txBody>
      </p:sp>
      <p:sp>
        <p:nvSpPr>
          <p:cNvPr id="957" name="S958"/>
          <p:cNvSpPr/>
          <p:nvPr/>
        </p:nvSpPr>
        <p:spPr>
          <a:xfrm>
            <a:off x="2235200" y="48895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800" dirty="0">
                <a:solidFill>
                  <a:srgbClr val="BBBBCC"/>
                </a:solidFill>
                <a:latin typeface="Calibri"/>
              </a:rPr>
              <a:t>Transparency-first communication</a:t>
            </a:r>
          </a:p>
        </p:txBody>
      </p:sp>
      <p:sp>
        <p:nvSpPr>
          <p:cNvPr id="958" name="S959"/>
          <p:cNvSpPr/>
          <p:nvPr/>
        </p:nvSpPr>
        <p:spPr>
          <a:xfrm>
            <a:off x="4457700" y="48895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550" dirty="0">
                <a:solidFill>
                  <a:srgbClr val="D4A843"/>
                </a:solidFill>
                <a:latin typeface="Calibri"/>
              </a:rPr>
              <a:t>●</a:t>
            </a:r>
          </a:p>
        </p:txBody>
      </p:sp>
      <p:sp>
        <p:nvSpPr>
          <p:cNvPr id="959" name="S960"/>
          <p:cNvSpPr/>
          <p:nvPr/>
        </p:nvSpPr>
        <p:spPr>
          <a:xfrm>
            <a:off x="4584700" y="48895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800" dirty="0">
                <a:solidFill>
                  <a:srgbClr val="BBBBCC"/>
                </a:solidFill>
                <a:latin typeface="Calibri"/>
              </a:rPr>
              <a:t>Role-based access to launch data</a:t>
            </a:r>
          </a:p>
        </p:txBody>
      </p:sp>
      <p:sp>
        <p:nvSpPr>
          <p:cNvPr id="960" name="S961"/>
          <p:cNvSpPr/>
          <p:nvPr/>
        </p:nvSpPr>
        <p:spPr>
          <a:xfrm>
            <a:off x="6807200" y="48895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550" dirty="0">
                <a:solidFill>
                  <a:srgbClr val="6A9FD8"/>
                </a:solidFill>
                <a:latin typeface="Calibri"/>
              </a:rPr>
              <a:t>●</a:t>
            </a:r>
          </a:p>
        </p:txBody>
      </p:sp>
      <p:sp>
        <p:nvSpPr>
          <p:cNvPr id="961" name="S962"/>
          <p:cNvSpPr/>
          <p:nvPr/>
        </p:nvSpPr>
        <p:spPr>
          <a:xfrm>
            <a:off x="6934200" y="48895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800" dirty="0">
                <a:solidFill>
                  <a:srgbClr val="BBBBCC"/>
                </a:solidFill>
                <a:latin typeface="Calibri"/>
              </a:rPr>
              <a:t>Escalation paths for critical risks</a:t>
            </a:r>
          </a:p>
        </p:txBody>
      </p:sp>
      <p:sp>
        <p:nvSpPr>
          <p:cNvPr id="962" name="S963"/>
          <p:cNvSpPr/>
          <p:nvPr/>
        </p:nvSpPr>
        <p:spPr>
          <a:xfrm>
            <a:off x="9156700" y="4889500"/>
            <a:ext cx="10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550" dirty="0">
                <a:solidFill>
                  <a:srgbClr val="6A8A6A"/>
                </a:solidFill>
                <a:latin typeface="Calibri"/>
              </a:rPr>
              <a:t>●</a:t>
            </a:r>
          </a:p>
        </p:txBody>
      </p:sp>
      <p:sp>
        <p:nvSpPr>
          <p:cNvPr id="963" name="S964"/>
          <p:cNvSpPr/>
          <p:nvPr/>
        </p:nvSpPr>
        <p:spPr>
          <a:xfrm>
            <a:off x="9283700" y="48895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800" dirty="0">
                <a:solidFill>
                  <a:srgbClr val="BBBBCC"/>
                </a:solidFill>
                <a:latin typeface="Calibri"/>
              </a:rPr>
              <a:t>Feedback loops at every gate</a:t>
            </a:r>
          </a:p>
        </p:txBody>
      </p:sp>
      <p:sp>
        <p:nvSpPr>
          <p:cNvPr id="964" name="S965"/>
          <p:cNvSpPr/>
          <p:nvPr/>
        </p:nvSpPr>
        <p:spPr>
          <a:xfrm>
            <a:off x="457200" y="5283200"/>
            <a:ext cx="11557000" cy="355600"/>
          </a:xfrm>
          <a:prstGeom prst="roundRect">
            <a:avLst>
              <a:gd name="adj" fmla="val 6000"/>
            </a:avLst>
          </a:prstGeom>
          <a:solidFill>
            <a:srgbClr val="1E1E32"/>
          </a:solidFill>
          <a:ln w="3175">
            <a:solidFill>
              <a:srgbClr val="2A2A45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965" name="S966"/>
          <p:cNvSpPr/>
          <p:nvPr/>
        </p:nvSpPr>
        <p:spPr>
          <a:xfrm>
            <a:off x="558800" y="5308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900" b="1" dirty="0">
                <a:solidFill>
                  <a:srgbClr val="888899"/>
                </a:solidFill>
                <a:latin typeface="Calibri"/>
              </a:rPr>
              <a:t>RACI</a:t>
            </a:r>
          </a:p>
        </p:txBody>
      </p:sp>
      <p:sp>
        <p:nvSpPr>
          <p:cNvPr id="966" name="S967"/>
          <p:cNvSpPr/>
          <p:nvPr/>
        </p:nvSpPr>
        <p:spPr>
          <a:xfrm>
            <a:off x="1346200" y="534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7505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67" name="S968"/>
          <p:cNvSpPr/>
          <p:nvPr/>
        </p:nvSpPr>
        <p:spPr>
          <a:xfrm>
            <a:off x="1651000" y="5308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b"/>
          <a:lstStyle/>
          <a:p>
            <a:pPr algn="l">
              <a:buNone/>
            </a:pPr>
            <a:r>
              <a:rPr lang="en-US" sz="850" b="1" dirty="0">
                <a:solidFill>
                  <a:srgbClr val="C75050"/>
                </a:solidFill>
                <a:latin typeface="Calibri"/>
              </a:rPr>
              <a:t>Responsible</a:t>
            </a:r>
          </a:p>
        </p:txBody>
      </p:sp>
      <p:sp>
        <p:nvSpPr>
          <p:cNvPr id="968" name="S969"/>
          <p:cNvSpPr/>
          <p:nvPr/>
        </p:nvSpPr>
        <p:spPr>
          <a:xfrm>
            <a:off x="1651000" y="54610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t"/>
          <a:lstStyle/>
          <a:p>
            <a:pPr algn="l">
              <a:buNone/>
            </a:pPr>
            <a:r>
              <a:rPr lang="en-US" sz="750" dirty="0">
                <a:solidFill>
                  <a:srgbClr val="999AAA"/>
                </a:solidFill>
                <a:latin typeface="Calibri"/>
              </a:rPr>
              <a:t>R&amp;D, Marketing</a:t>
            </a:r>
          </a:p>
        </p:txBody>
      </p:sp>
      <p:sp>
        <p:nvSpPr>
          <p:cNvPr id="969" name="S970"/>
          <p:cNvSpPr/>
          <p:nvPr/>
        </p:nvSpPr>
        <p:spPr>
          <a:xfrm>
            <a:off x="3822700" y="534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9999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70" name="S971"/>
          <p:cNvSpPr/>
          <p:nvPr/>
        </p:nvSpPr>
        <p:spPr>
          <a:xfrm>
            <a:off x="4127500" y="5308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b"/>
          <a:lstStyle/>
          <a:p>
            <a:pPr algn="l">
              <a:buNone/>
            </a:pPr>
            <a:r>
              <a:rPr lang="en-US" sz="850" b="1" dirty="0">
                <a:solidFill>
                  <a:srgbClr val="FF9999"/>
                </a:solidFill>
                <a:latin typeface="Calibri"/>
              </a:rPr>
              <a:t>Accountable</a:t>
            </a:r>
          </a:p>
        </p:txBody>
      </p:sp>
      <p:sp>
        <p:nvSpPr>
          <p:cNvPr id="971" name="S972"/>
          <p:cNvSpPr/>
          <p:nvPr/>
        </p:nvSpPr>
        <p:spPr>
          <a:xfrm>
            <a:off x="4127500" y="54610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t"/>
          <a:lstStyle/>
          <a:p>
            <a:pPr algn="l">
              <a:buNone/>
            </a:pPr>
            <a:r>
              <a:rPr lang="en-US" sz="750" dirty="0">
                <a:solidFill>
                  <a:srgbClr val="999AAA"/>
                </a:solidFill>
                <a:latin typeface="Calibri"/>
              </a:rPr>
              <a:t>CEO / CMO</a:t>
            </a:r>
          </a:p>
        </p:txBody>
      </p:sp>
      <p:sp>
        <p:nvSpPr>
          <p:cNvPr id="972" name="S973"/>
          <p:cNvSpPr/>
          <p:nvPr/>
        </p:nvSpPr>
        <p:spPr>
          <a:xfrm>
            <a:off x="6299200" y="534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73" name="S974"/>
          <p:cNvSpPr/>
          <p:nvPr/>
        </p:nvSpPr>
        <p:spPr>
          <a:xfrm>
            <a:off x="6604000" y="5308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b"/>
          <a:lstStyle/>
          <a:p>
            <a:pPr algn="l">
              <a:buNone/>
            </a:pPr>
            <a:r>
              <a:rPr lang="en-US" sz="850" b="1" dirty="0">
                <a:solidFill>
                  <a:srgbClr val="D4A843"/>
                </a:solidFill>
                <a:latin typeface="Calibri"/>
              </a:rPr>
              <a:t>Consulted</a:t>
            </a:r>
          </a:p>
        </p:txBody>
      </p:sp>
      <p:sp>
        <p:nvSpPr>
          <p:cNvPr id="974" name="S975"/>
          <p:cNvSpPr/>
          <p:nvPr/>
        </p:nvSpPr>
        <p:spPr>
          <a:xfrm>
            <a:off x="6604000" y="54610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t"/>
          <a:lstStyle/>
          <a:p>
            <a:pPr algn="l">
              <a:buNone/>
            </a:pPr>
            <a:r>
              <a:rPr lang="en-US" sz="750" dirty="0">
                <a:solidFill>
                  <a:srgbClr val="999AAA"/>
                </a:solidFill>
                <a:latin typeface="Calibri"/>
              </a:rPr>
              <a:t>Legal, Bottlers, Sales</a:t>
            </a:r>
          </a:p>
        </p:txBody>
      </p:sp>
      <p:sp>
        <p:nvSpPr>
          <p:cNvPr id="975" name="S976"/>
          <p:cNvSpPr/>
          <p:nvPr/>
        </p:nvSpPr>
        <p:spPr>
          <a:xfrm>
            <a:off x="8775700" y="534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6A9FD8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76" name="S977"/>
          <p:cNvSpPr/>
          <p:nvPr/>
        </p:nvSpPr>
        <p:spPr>
          <a:xfrm>
            <a:off x="9080500" y="5308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b"/>
          <a:lstStyle/>
          <a:p>
            <a:pPr algn="l">
              <a:buNone/>
            </a:pPr>
            <a:r>
              <a:rPr lang="en-US" sz="850" b="1" dirty="0">
                <a:solidFill>
                  <a:srgbClr val="6A9FD8"/>
                </a:solidFill>
                <a:latin typeface="Calibri"/>
              </a:rPr>
              <a:t>Informed</a:t>
            </a:r>
          </a:p>
        </p:txBody>
      </p:sp>
      <p:sp>
        <p:nvSpPr>
          <p:cNvPr id="977" name="S978"/>
          <p:cNvSpPr/>
          <p:nvPr/>
        </p:nvSpPr>
        <p:spPr>
          <a:xfrm>
            <a:off x="9080500" y="5461000"/>
            <a:ext cx="177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t"/>
          <a:lstStyle/>
          <a:p>
            <a:pPr algn="l">
              <a:buNone/>
            </a:pPr>
            <a:r>
              <a:rPr lang="en-US" sz="750" dirty="0">
                <a:solidFill>
                  <a:srgbClr val="999AAA"/>
                </a:solidFill>
                <a:latin typeface="Calibri"/>
              </a:rPr>
              <a:t>Retailers, Media, NGOs</a:t>
            </a:r>
          </a:p>
        </p:txBody>
      </p:sp>
      <p:pic>
        <p:nvPicPr>
          <p:cNvPr id="978" name="Graphic 978" descr="Manage Closely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1092200"/>
            <a:ext cx="254000" cy="254000"/>
          </a:xfrm>
          <a:prstGeom prst="rect">
            <a:avLst/>
          </a:prstGeom>
        </p:spPr>
      </p:pic>
      <p:pic>
        <p:nvPicPr>
          <p:cNvPr id="979" name="Graphic 979" descr="Keep Informed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0" y="2946400"/>
            <a:ext cx="254000" cy="254000"/>
          </a:xfrm>
          <a:prstGeom prst="rect">
            <a:avLst/>
          </a:prstGeom>
        </p:spPr>
      </p:pic>
      <p:pic>
        <p:nvPicPr>
          <p:cNvPr id="980" name="Graphic 980" descr="Monitor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60200" y="29464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26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Competitive Landscape</a:t>
            </a:r>
          </a:p>
        </p:txBody>
      </p:sp>
      <p:sp>
        <p:nvSpPr>
          <p:cNvPr id="201" name="Subtitle"/>
          <p:cNvSpPr/>
          <p:nvPr/>
        </p:nvSpPr>
        <p:spPr>
          <a:xfrm>
            <a:off x="635000" y="88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CCCCCC"/>
                </a:solidFill>
                <a:latin typeface="Calibri"/>
              </a:rPr>
              <a:t>Key players challenging Coca-Cola across beverage categories</a:t>
            </a:r>
          </a:p>
        </p:txBody>
      </p:sp>
      <p:sp>
        <p:nvSpPr>
          <p:cNvPr id="210" name="Card210"/>
          <p:cNvSpPr/>
          <p:nvPr/>
        </p:nvSpPr>
        <p:spPr>
          <a:xfrm>
            <a:off x="3048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11" name="Logo210"/>
          <p:cNvSpPr/>
          <p:nvPr/>
        </p:nvSpPr>
        <p:spPr>
          <a:xfrm>
            <a:off x="10541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212" name="Name210"/>
          <p:cNvSpPr/>
          <p:nvPr/>
        </p:nvSpPr>
        <p:spPr>
          <a:xfrm>
            <a:off x="4064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PepsiCo</a:t>
            </a:r>
          </a:p>
        </p:txBody>
      </p:sp>
      <p:sp>
        <p:nvSpPr>
          <p:cNvPr id="213" name="Focus210"/>
          <p:cNvSpPr/>
          <p:nvPr/>
        </p:nvSpPr>
        <p:spPr>
          <a:xfrm>
            <a:off x="4064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Carbonated Drinks, Snacks</a:t>
            </a:r>
          </a:p>
        </p:txBody>
      </p:sp>
      <p:sp>
        <p:nvSpPr>
          <p:cNvPr id="214" name="Line210"/>
          <p:cNvSpPr/>
          <p:nvPr/>
        </p:nvSpPr>
        <p:spPr>
          <a:xfrm>
            <a:off x="5588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Desc210"/>
          <p:cNvSpPr/>
          <p:nvPr/>
        </p:nvSpPr>
        <p:spPr>
          <a:xfrm>
            <a:off x="4318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Coca-Cola's fiercest rival with $91.5B revenue and brands like Pepsi, Mountain Dew, Gatorade</a:t>
            </a:r>
          </a:p>
        </p:txBody>
      </p:sp>
      <p:sp>
        <p:nvSpPr>
          <p:cNvPr id="220" name="Card220"/>
          <p:cNvSpPr/>
          <p:nvPr/>
        </p:nvSpPr>
        <p:spPr>
          <a:xfrm>
            <a:off x="25654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21" name="Logo220"/>
          <p:cNvSpPr/>
          <p:nvPr/>
        </p:nvSpPr>
        <p:spPr>
          <a:xfrm>
            <a:off x="33147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N</a:t>
            </a:r>
          </a:p>
        </p:txBody>
      </p:sp>
      <p:sp>
        <p:nvSpPr>
          <p:cNvPr id="222" name="Name220"/>
          <p:cNvSpPr/>
          <p:nvPr/>
        </p:nvSpPr>
        <p:spPr>
          <a:xfrm>
            <a:off x="26670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Nestlé</a:t>
            </a:r>
          </a:p>
        </p:txBody>
      </p:sp>
      <p:sp>
        <p:nvSpPr>
          <p:cNvPr id="223" name="Focus220"/>
          <p:cNvSpPr/>
          <p:nvPr/>
        </p:nvSpPr>
        <p:spPr>
          <a:xfrm>
            <a:off x="26670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Water, Health Beverages</a:t>
            </a:r>
          </a:p>
        </p:txBody>
      </p:sp>
      <p:sp>
        <p:nvSpPr>
          <p:cNvPr id="224" name="Line220"/>
          <p:cNvSpPr/>
          <p:nvPr/>
        </p:nvSpPr>
        <p:spPr>
          <a:xfrm>
            <a:off x="28194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5" name="Desc220"/>
          <p:cNvSpPr/>
          <p:nvPr/>
        </p:nvSpPr>
        <p:spPr>
          <a:xfrm>
            <a:off x="26924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Global food giant with strong bottled water and functional drink portfolio</a:t>
            </a:r>
          </a:p>
        </p:txBody>
      </p:sp>
      <p:sp>
        <p:nvSpPr>
          <p:cNvPr id="230" name="Card230"/>
          <p:cNvSpPr/>
          <p:nvPr/>
        </p:nvSpPr>
        <p:spPr>
          <a:xfrm>
            <a:off x="48260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31" name="Logo230"/>
          <p:cNvSpPr/>
          <p:nvPr/>
        </p:nvSpPr>
        <p:spPr>
          <a:xfrm>
            <a:off x="55753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K</a:t>
            </a:r>
          </a:p>
        </p:txBody>
      </p:sp>
      <p:sp>
        <p:nvSpPr>
          <p:cNvPr id="232" name="Name230"/>
          <p:cNvSpPr/>
          <p:nvPr/>
        </p:nvSpPr>
        <p:spPr>
          <a:xfrm>
            <a:off x="49276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Keurig Dr Pepper</a:t>
            </a:r>
          </a:p>
        </p:txBody>
      </p:sp>
      <p:sp>
        <p:nvSpPr>
          <p:cNvPr id="233" name="Focus230"/>
          <p:cNvSpPr/>
          <p:nvPr/>
        </p:nvSpPr>
        <p:spPr>
          <a:xfrm>
            <a:off x="49276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Flavored Sodas, Coffee</a:t>
            </a:r>
          </a:p>
        </p:txBody>
      </p:sp>
      <p:sp>
        <p:nvSpPr>
          <p:cNvPr id="234" name="Line230"/>
          <p:cNvSpPr/>
          <p:nvPr/>
        </p:nvSpPr>
        <p:spPr>
          <a:xfrm>
            <a:off x="50800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5" name="Desc230"/>
          <p:cNvSpPr/>
          <p:nvPr/>
        </p:nvSpPr>
        <p:spPr>
          <a:xfrm>
            <a:off x="49530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$14.6B revenue with Dr Pepper, Snapple, and Keurig coffee systems</a:t>
            </a:r>
          </a:p>
        </p:txBody>
      </p:sp>
      <p:sp>
        <p:nvSpPr>
          <p:cNvPr id="240" name="Card240"/>
          <p:cNvSpPr/>
          <p:nvPr/>
        </p:nvSpPr>
        <p:spPr>
          <a:xfrm>
            <a:off x="70866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41" name="Logo240"/>
          <p:cNvSpPr/>
          <p:nvPr/>
        </p:nvSpPr>
        <p:spPr>
          <a:xfrm>
            <a:off x="78359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242" name="Name240"/>
          <p:cNvSpPr/>
          <p:nvPr/>
        </p:nvSpPr>
        <p:spPr>
          <a:xfrm>
            <a:off x="71882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Red Bull</a:t>
            </a:r>
          </a:p>
        </p:txBody>
      </p:sp>
      <p:sp>
        <p:nvSpPr>
          <p:cNvPr id="243" name="Focus240"/>
          <p:cNvSpPr/>
          <p:nvPr/>
        </p:nvSpPr>
        <p:spPr>
          <a:xfrm>
            <a:off x="71882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Energy Drinks</a:t>
            </a:r>
          </a:p>
        </p:txBody>
      </p:sp>
      <p:sp>
        <p:nvSpPr>
          <p:cNvPr id="244" name="Line240"/>
          <p:cNvSpPr/>
          <p:nvPr/>
        </p:nvSpPr>
        <p:spPr>
          <a:xfrm>
            <a:off x="73406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5" name="Desc240"/>
          <p:cNvSpPr/>
          <p:nvPr/>
        </p:nvSpPr>
        <p:spPr>
          <a:xfrm>
            <a:off x="72136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Dominates the global energy drink market with iconic branding and extreme sports sponsorships</a:t>
            </a:r>
          </a:p>
        </p:txBody>
      </p:sp>
      <p:sp>
        <p:nvSpPr>
          <p:cNvPr id="250" name="Card250"/>
          <p:cNvSpPr/>
          <p:nvPr/>
        </p:nvSpPr>
        <p:spPr>
          <a:xfrm>
            <a:off x="93472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51" name="Logo250"/>
          <p:cNvSpPr/>
          <p:nvPr/>
        </p:nvSpPr>
        <p:spPr>
          <a:xfrm>
            <a:off x="100965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M</a:t>
            </a:r>
          </a:p>
        </p:txBody>
      </p:sp>
      <p:sp>
        <p:nvSpPr>
          <p:cNvPr id="252" name="Name250"/>
          <p:cNvSpPr/>
          <p:nvPr/>
        </p:nvSpPr>
        <p:spPr>
          <a:xfrm>
            <a:off x="94488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Monster Beverage</a:t>
            </a:r>
          </a:p>
        </p:txBody>
      </p:sp>
      <p:sp>
        <p:nvSpPr>
          <p:cNvPr id="253" name="Focus250"/>
          <p:cNvSpPr/>
          <p:nvPr/>
        </p:nvSpPr>
        <p:spPr>
          <a:xfrm>
            <a:off x="94488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Energy Drinks</a:t>
            </a:r>
          </a:p>
        </p:txBody>
      </p:sp>
      <p:sp>
        <p:nvSpPr>
          <p:cNvPr id="254" name="Line250"/>
          <p:cNvSpPr/>
          <p:nvPr/>
        </p:nvSpPr>
        <p:spPr>
          <a:xfrm>
            <a:off x="96012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5" name="Desc250"/>
          <p:cNvSpPr/>
          <p:nvPr/>
        </p:nvSpPr>
        <p:spPr>
          <a:xfrm>
            <a:off x="94742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Leading energy drink brand targeting sports and gaming communities worldwide</a:t>
            </a:r>
          </a:p>
        </p:txBody>
      </p:sp>
      <p:sp>
        <p:nvSpPr>
          <p:cNvPr id="299" name="PageNum"/>
          <p:cNvSpPr/>
          <p:nvPr/>
        </p:nvSpPr>
        <p:spPr>
          <a:xfrm>
            <a:off x="4826000" y="5486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888899"/>
                </a:solidFill>
                <a:latin typeface="Calibri"/>
              </a:rPr>
              <a:t>1 / 2</a:t>
            </a:r>
          </a:p>
        </p:txBody>
      </p:sp>
      <p:pic>
        <p:nvPicPr>
          <p:cNvPr id="300" name="Graphic 300" descr="PepsiCo logo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1727200"/>
            <a:ext cx="406400" cy="406400"/>
          </a:xfrm>
          <a:prstGeom prst="rect">
            <a:avLst/>
          </a:prstGeom>
        </p:spPr>
      </p:pic>
      <p:pic>
        <p:nvPicPr>
          <p:cNvPr id="301" name="Graphic 301" descr="Nestlé logo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4700" y="1727200"/>
            <a:ext cx="406400" cy="406400"/>
          </a:xfrm>
          <a:prstGeom prst="rect">
            <a:avLst/>
          </a:prstGeom>
        </p:spPr>
      </p:pic>
      <p:pic>
        <p:nvPicPr>
          <p:cNvPr id="302" name="Graphic 302" descr="Keurig Dr Pepper logo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5300" y="1727200"/>
            <a:ext cx="406400" cy="406400"/>
          </a:xfrm>
          <a:prstGeom prst="rect">
            <a:avLst/>
          </a:prstGeom>
        </p:spPr>
      </p:pic>
      <p:pic>
        <p:nvPicPr>
          <p:cNvPr id="303" name="Graphic 303" descr="Red Bull logo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5900" y="1727200"/>
            <a:ext cx="406400" cy="406400"/>
          </a:xfrm>
          <a:prstGeom prst="rect">
            <a:avLst/>
          </a:prstGeom>
        </p:spPr>
      </p:pic>
      <p:pic>
        <p:nvPicPr>
          <p:cNvPr id="304" name="Graphic 304" descr="Monster Beverage logo ic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96500" y="1727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1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2"/>
          <p:cNvSpPr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Competitive Landscape</a:t>
            </a:r>
          </a:p>
        </p:txBody>
      </p:sp>
      <p:sp>
        <p:nvSpPr>
          <p:cNvPr id="301" name="Subtitle2"/>
          <p:cNvSpPr/>
          <p:nvPr/>
        </p:nvSpPr>
        <p:spPr>
          <a:xfrm>
            <a:off x="635000" y="88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CCCCCC"/>
                </a:solidFill>
                <a:latin typeface="Calibri"/>
              </a:rPr>
              <a:t>Emerging challengers and diversified global beverage competitors</a:t>
            </a:r>
          </a:p>
        </p:txBody>
      </p:sp>
      <p:sp>
        <p:nvSpPr>
          <p:cNvPr id="310" name="Card310"/>
          <p:cNvSpPr/>
          <p:nvPr/>
        </p:nvSpPr>
        <p:spPr>
          <a:xfrm>
            <a:off x="3048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11" name="Logo310"/>
          <p:cNvSpPr/>
          <p:nvPr/>
        </p:nvSpPr>
        <p:spPr>
          <a:xfrm>
            <a:off x="10541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312" name="Name310"/>
          <p:cNvSpPr/>
          <p:nvPr/>
        </p:nvSpPr>
        <p:spPr>
          <a:xfrm>
            <a:off x="4064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Danone</a:t>
            </a:r>
          </a:p>
        </p:txBody>
      </p:sp>
      <p:sp>
        <p:nvSpPr>
          <p:cNvPr id="313" name="Focus310"/>
          <p:cNvSpPr/>
          <p:nvPr/>
        </p:nvSpPr>
        <p:spPr>
          <a:xfrm>
            <a:off x="4064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Dairy, Water, Nutrition</a:t>
            </a:r>
          </a:p>
        </p:txBody>
      </p:sp>
      <p:sp>
        <p:nvSpPr>
          <p:cNvPr id="314" name="Line310"/>
          <p:cNvSpPr/>
          <p:nvPr/>
        </p:nvSpPr>
        <p:spPr>
          <a:xfrm>
            <a:off x="5588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Desc310"/>
          <p:cNvSpPr/>
          <p:nvPr/>
        </p:nvSpPr>
        <p:spPr>
          <a:xfrm>
            <a:off x="4318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Growing health-based drink portfolio with strong presence in Europe and Latin America</a:t>
            </a:r>
          </a:p>
        </p:txBody>
      </p:sp>
      <p:sp>
        <p:nvSpPr>
          <p:cNvPr id="320" name="Card320"/>
          <p:cNvSpPr/>
          <p:nvPr/>
        </p:nvSpPr>
        <p:spPr>
          <a:xfrm>
            <a:off x="25654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21" name="Logo320"/>
          <p:cNvSpPr/>
          <p:nvPr/>
        </p:nvSpPr>
        <p:spPr>
          <a:xfrm>
            <a:off x="33147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N</a:t>
            </a:r>
          </a:p>
        </p:txBody>
      </p:sp>
      <p:sp>
        <p:nvSpPr>
          <p:cNvPr id="322" name="Name320"/>
          <p:cNvSpPr/>
          <p:nvPr/>
        </p:nvSpPr>
        <p:spPr>
          <a:xfrm>
            <a:off x="26670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Nongfu Spring</a:t>
            </a:r>
          </a:p>
        </p:txBody>
      </p:sp>
      <p:sp>
        <p:nvSpPr>
          <p:cNvPr id="323" name="Focus320"/>
          <p:cNvSpPr/>
          <p:nvPr/>
        </p:nvSpPr>
        <p:spPr>
          <a:xfrm>
            <a:off x="26670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Bottled Water, Tea</a:t>
            </a:r>
          </a:p>
        </p:txBody>
      </p:sp>
      <p:sp>
        <p:nvSpPr>
          <p:cNvPr id="324" name="Line320"/>
          <p:cNvSpPr/>
          <p:nvPr/>
        </p:nvSpPr>
        <p:spPr>
          <a:xfrm>
            <a:off x="28194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5" name="Desc320"/>
          <p:cNvSpPr/>
          <p:nvPr/>
        </p:nvSpPr>
        <p:spPr>
          <a:xfrm>
            <a:off x="26924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China’s leading bottled water brand focused on natural and healthy beverage products</a:t>
            </a:r>
          </a:p>
        </p:txBody>
      </p:sp>
      <p:sp>
        <p:nvSpPr>
          <p:cNvPr id="330" name="Card330"/>
          <p:cNvSpPr/>
          <p:nvPr/>
        </p:nvSpPr>
        <p:spPr>
          <a:xfrm>
            <a:off x="48260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31" name="Logo330"/>
          <p:cNvSpPr/>
          <p:nvPr/>
        </p:nvSpPr>
        <p:spPr>
          <a:xfrm>
            <a:off x="55753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U</a:t>
            </a:r>
          </a:p>
        </p:txBody>
      </p:sp>
      <p:sp>
        <p:nvSpPr>
          <p:cNvPr id="332" name="Name330"/>
          <p:cNvSpPr/>
          <p:nvPr/>
        </p:nvSpPr>
        <p:spPr>
          <a:xfrm>
            <a:off x="49276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Unilever</a:t>
            </a:r>
          </a:p>
        </p:txBody>
      </p:sp>
      <p:sp>
        <p:nvSpPr>
          <p:cNvPr id="333" name="Focus330"/>
          <p:cNvSpPr/>
          <p:nvPr/>
        </p:nvSpPr>
        <p:spPr>
          <a:xfrm>
            <a:off x="49276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Tea, Juices, Wellness</a:t>
            </a:r>
          </a:p>
        </p:txBody>
      </p:sp>
      <p:sp>
        <p:nvSpPr>
          <p:cNvPr id="334" name="Line330"/>
          <p:cNvSpPr/>
          <p:nvPr/>
        </p:nvSpPr>
        <p:spPr>
          <a:xfrm>
            <a:off x="50800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5" name="Desc330"/>
          <p:cNvSpPr/>
          <p:nvPr/>
        </p:nvSpPr>
        <p:spPr>
          <a:xfrm>
            <a:off x="49530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Consumer goods giant competing in beverages with Lipton, PG Tips, and health drinks</a:t>
            </a:r>
          </a:p>
        </p:txBody>
      </p:sp>
      <p:sp>
        <p:nvSpPr>
          <p:cNvPr id="340" name="Card340"/>
          <p:cNvSpPr/>
          <p:nvPr/>
        </p:nvSpPr>
        <p:spPr>
          <a:xfrm>
            <a:off x="70866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41" name="Logo340"/>
          <p:cNvSpPr/>
          <p:nvPr/>
        </p:nvSpPr>
        <p:spPr>
          <a:xfrm>
            <a:off x="78359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342" name="Name340"/>
          <p:cNvSpPr/>
          <p:nvPr/>
        </p:nvSpPr>
        <p:spPr>
          <a:xfrm>
            <a:off x="71882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Britvic</a:t>
            </a:r>
          </a:p>
        </p:txBody>
      </p:sp>
      <p:sp>
        <p:nvSpPr>
          <p:cNvPr id="343" name="Focus340"/>
          <p:cNvSpPr/>
          <p:nvPr/>
        </p:nvSpPr>
        <p:spPr>
          <a:xfrm>
            <a:off x="71882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Soft Drinks, Juices</a:t>
            </a:r>
          </a:p>
        </p:txBody>
      </p:sp>
      <p:sp>
        <p:nvSpPr>
          <p:cNvPr id="344" name="Line340"/>
          <p:cNvSpPr/>
          <p:nvPr/>
        </p:nvSpPr>
        <p:spPr>
          <a:xfrm>
            <a:off x="73406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5" name="Desc340"/>
          <p:cNvSpPr/>
          <p:nvPr/>
        </p:nvSpPr>
        <p:spPr>
          <a:xfrm>
            <a:off x="72136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Major UK soft drinks company offering fruit juices, sparkling waters, and flavoured sodas</a:t>
            </a:r>
          </a:p>
        </p:txBody>
      </p:sp>
      <p:sp>
        <p:nvSpPr>
          <p:cNvPr id="350" name="Card350"/>
          <p:cNvSpPr/>
          <p:nvPr/>
        </p:nvSpPr>
        <p:spPr>
          <a:xfrm>
            <a:off x="9347200" y="1371600"/>
            <a:ext cx="2108200" cy="3937000"/>
          </a:xfrm>
          <a:prstGeom prst="roundRect">
            <a:avLst>
              <a:gd name="adj" fmla="val 5000"/>
            </a:avLst>
          </a:prstGeom>
          <a:solidFill>
            <a:srgbClr val="2E2E48"/>
          </a:solidFill>
          <a:ln w="6350">
            <a:solidFill>
              <a:srgbClr val="3A3A5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51" name="Logo350"/>
          <p:cNvSpPr/>
          <p:nvPr/>
        </p:nvSpPr>
        <p:spPr>
          <a:xfrm>
            <a:off x="10096500" y="1625600"/>
            <a:ext cx="609600" cy="6096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352" name="Name350"/>
          <p:cNvSpPr/>
          <p:nvPr/>
        </p:nvSpPr>
        <p:spPr>
          <a:xfrm>
            <a:off x="9448800" y="2387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Tropicana Brands</a:t>
            </a:r>
          </a:p>
        </p:txBody>
      </p:sp>
      <p:sp>
        <p:nvSpPr>
          <p:cNvPr id="353" name="Focus350"/>
          <p:cNvSpPr/>
          <p:nvPr/>
        </p:nvSpPr>
        <p:spPr>
          <a:xfrm>
            <a:off x="9448800" y="2717800"/>
            <a:ext cx="1905000" cy="279400"/>
          </a:xfrm>
          <a:prstGeom prst="roundRect">
            <a:avLst>
              <a:gd name="adj" fmla="val 16667"/>
            </a:avLst>
          </a:prstGeom>
          <a:solidFill>
            <a:srgbClr val="8B0000">
              <a:alpha val="60000"/>
            </a:srgbClr>
          </a:solidFill>
          <a:ln>
            <a:noFill/>
          </a:ln>
        </p:spPr>
        <p:txBody>
          <a:bodyPr wrap="square" lIns="50800" tIns="0" rIns="50800" bIns="0" anchor="ctr"/>
          <a:lstStyle/>
          <a:p>
            <a:pPr algn="ctr">
              <a:buNone/>
            </a:pPr>
            <a:r>
              <a:rPr lang="en-US" sz="1000" dirty="0">
                <a:solidFill>
                  <a:srgbClr val="FFB3B3"/>
                </a:solidFill>
                <a:latin typeface="Calibri"/>
              </a:rPr>
              <a:t>Juice, Fruit Beverages</a:t>
            </a:r>
          </a:p>
        </p:txBody>
      </p:sp>
      <p:sp>
        <p:nvSpPr>
          <p:cNvPr id="354" name="Line350"/>
          <p:cNvSpPr/>
          <p:nvPr/>
        </p:nvSpPr>
        <p:spPr>
          <a:xfrm>
            <a:off x="9601200" y="3073400"/>
            <a:ext cx="1600200" cy="12700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5" name="Desc350"/>
          <p:cNvSpPr/>
          <p:nvPr/>
        </p:nvSpPr>
        <p:spPr>
          <a:xfrm>
            <a:off x="9474200" y="3175000"/>
            <a:ext cx="1854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50" dirty="0">
                <a:solidFill>
                  <a:srgbClr val="BBBBCC"/>
                </a:solidFill>
                <a:latin typeface="Calibri"/>
              </a:rPr>
              <a:t>Iconic juice brand with wide retail distribution and strong consumer loyalty across markets</a:t>
            </a:r>
          </a:p>
        </p:txBody>
      </p:sp>
      <p:sp>
        <p:nvSpPr>
          <p:cNvPr id="399" name="PageNum2"/>
          <p:cNvSpPr/>
          <p:nvPr/>
        </p:nvSpPr>
        <p:spPr>
          <a:xfrm>
            <a:off x="4826000" y="5486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dirty="0">
                <a:solidFill>
                  <a:srgbClr val="888899"/>
                </a:solidFill>
                <a:latin typeface="Calibri"/>
              </a:rPr>
              <a:t>2 / 2</a:t>
            </a:r>
          </a:p>
        </p:txBody>
      </p:sp>
      <p:pic>
        <p:nvPicPr>
          <p:cNvPr id="400" name="Graphic 400" descr="Danone logo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1727200"/>
            <a:ext cx="406400" cy="406400"/>
          </a:xfrm>
          <a:prstGeom prst="rect">
            <a:avLst/>
          </a:prstGeom>
        </p:spPr>
      </p:pic>
      <p:pic>
        <p:nvPicPr>
          <p:cNvPr id="401" name="Graphic 401" descr="Nongfu Spring logo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4700" y="1727200"/>
            <a:ext cx="406400" cy="406400"/>
          </a:xfrm>
          <a:prstGeom prst="rect">
            <a:avLst/>
          </a:prstGeom>
        </p:spPr>
      </p:pic>
      <p:pic>
        <p:nvPicPr>
          <p:cNvPr id="402" name="Graphic 402" descr="Unilever logo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5300" y="1727200"/>
            <a:ext cx="406400" cy="406400"/>
          </a:xfrm>
          <a:prstGeom prst="rect">
            <a:avLst/>
          </a:prstGeom>
        </p:spPr>
      </p:pic>
      <p:pic>
        <p:nvPicPr>
          <p:cNvPr id="403" name="Graphic 403" descr="Britvic logo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5900" y="1727200"/>
            <a:ext cx="406400" cy="406400"/>
          </a:xfrm>
          <a:prstGeom prst="rect">
            <a:avLst/>
          </a:prstGeom>
        </p:spPr>
      </p:pic>
      <p:pic>
        <p:nvPicPr>
          <p:cNvPr id="404" name="Graphic 404" descr="Tropicana logo ic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96500" y="1727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0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/>
          <p:nvPr/>
        </p:nvSpPr>
        <p:spPr>
          <a:xfrm>
            <a:off x="508000" y="177800"/>
            <a:ext cx="1117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Top 10 Markets by Brand Presence</a:t>
            </a:r>
          </a:p>
        </p:txBody>
      </p:sp>
      <p:sp>
        <p:nvSpPr>
          <p:cNvPr id="401" name="Subtitle"/>
          <p:cNvSpPr/>
          <p:nvPr/>
        </p:nvSpPr>
        <p:spPr>
          <a:xfrm>
            <a:off x="508000" y="7366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dirty="0">
                <a:solidFill>
                  <a:srgbClr val="AAAABB"/>
                </a:solidFill>
                <a:latin typeface="Calibri"/>
              </a:rPr>
              <a:t>Coca-Cola's strongest country-level markets by CSD market share, estimated revenue, and operating profit (2024)</a:t>
            </a:r>
          </a:p>
        </p:txBody>
      </p:sp>
      <p:sp>
        <p:nvSpPr>
          <p:cNvPr id="410" name="HeaderBg"/>
          <p:cNvSpPr/>
          <p:nvPr/>
        </p:nvSpPr>
        <p:spPr>
          <a:xfrm>
            <a:off x="508000" y="1092200"/>
            <a:ext cx="11277600" cy="3810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</p:spPr>
        <p:txBody>
          <a:bodyPr wrap="square" lIns="101600" tIns="0" rIns="101600" bIns="0" anchor="ctr"/>
          <a:lstStyle/>
          <a:p>
            <a:endParaRPr lang="en-US"/>
          </a:p>
        </p:txBody>
      </p:sp>
      <p:sp>
        <p:nvSpPr>
          <p:cNvPr id="420" name="H420"/>
          <p:cNvSpPr/>
          <p:nvPr/>
        </p:nvSpPr>
        <p:spPr>
          <a:xfrm>
            <a:off x="508000" y="1092200"/>
            <a:ext cx="4064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421" name="H421"/>
          <p:cNvSpPr/>
          <p:nvPr/>
        </p:nvSpPr>
        <p:spPr>
          <a:xfrm>
            <a:off x="914400" y="1092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422" name="H422"/>
          <p:cNvSpPr/>
          <p:nvPr/>
        </p:nvSpPr>
        <p:spPr>
          <a:xfrm>
            <a:off x="1676400" y="10922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423" name="H423"/>
          <p:cNvSpPr/>
          <p:nvPr/>
        </p:nvSpPr>
        <p:spPr>
          <a:xfrm>
            <a:off x="3810000" y="1092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CSD Market Share</a:t>
            </a:r>
          </a:p>
        </p:txBody>
      </p:sp>
      <p:sp>
        <p:nvSpPr>
          <p:cNvPr id="424" name="H424"/>
          <p:cNvSpPr/>
          <p:nvPr/>
        </p:nvSpPr>
        <p:spPr>
          <a:xfrm>
            <a:off x="5588000" y="1092200"/>
            <a:ext cx="187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Est. Revenue</a:t>
            </a:r>
          </a:p>
        </p:txBody>
      </p:sp>
      <p:sp>
        <p:nvSpPr>
          <p:cNvPr id="425" name="H425"/>
          <p:cNvSpPr/>
          <p:nvPr/>
        </p:nvSpPr>
        <p:spPr>
          <a:xfrm>
            <a:off x="7467600" y="1092200"/>
            <a:ext cx="187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762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Est. Op. Profit</a:t>
            </a:r>
          </a:p>
        </p:txBody>
      </p:sp>
      <p:sp>
        <p:nvSpPr>
          <p:cNvPr id="500" name="Row0"/>
          <p:cNvSpPr/>
          <p:nvPr/>
        </p:nvSpPr>
        <p:spPr>
          <a:xfrm>
            <a:off x="508000" y="14986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Rank0"/>
          <p:cNvSpPr/>
          <p:nvPr/>
        </p:nvSpPr>
        <p:spPr>
          <a:xfrm>
            <a:off x="508000" y="14986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1</a:t>
            </a:r>
          </a:p>
        </p:txBody>
      </p:sp>
      <p:sp>
        <p:nvSpPr>
          <p:cNvPr id="503" name="Name0"/>
          <p:cNvSpPr/>
          <p:nvPr/>
        </p:nvSpPr>
        <p:spPr>
          <a:xfrm>
            <a:off x="1676400" y="14986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United States</a:t>
            </a:r>
          </a:p>
        </p:txBody>
      </p:sp>
      <p:sp>
        <p:nvSpPr>
          <p:cNvPr id="504" name="Share0"/>
          <p:cNvSpPr/>
          <p:nvPr/>
        </p:nvSpPr>
        <p:spPr>
          <a:xfrm>
            <a:off x="3810000" y="14986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44.9%</a:t>
            </a:r>
          </a:p>
        </p:txBody>
      </p:sp>
      <p:sp>
        <p:nvSpPr>
          <p:cNvPr id="505" name="Rev0"/>
          <p:cNvSpPr/>
          <p:nvPr/>
        </p:nvSpPr>
        <p:spPr>
          <a:xfrm>
            <a:off x="5588000" y="14986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$18.7B</a:t>
            </a:r>
          </a:p>
        </p:txBody>
      </p:sp>
      <p:sp>
        <p:nvSpPr>
          <p:cNvPr id="506" name="Prof0"/>
          <p:cNvSpPr/>
          <p:nvPr/>
        </p:nvSpPr>
        <p:spPr>
          <a:xfrm>
            <a:off x="7467600" y="14986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$7.8B</a:t>
            </a:r>
          </a:p>
        </p:txBody>
      </p:sp>
      <p:sp>
        <p:nvSpPr>
          <p:cNvPr id="507" name="Row1"/>
          <p:cNvSpPr/>
          <p:nvPr/>
        </p:nvSpPr>
        <p:spPr>
          <a:xfrm>
            <a:off x="508000" y="19304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A2A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8" name="Rank1"/>
          <p:cNvSpPr/>
          <p:nvPr/>
        </p:nvSpPr>
        <p:spPr>
          <a:xfrm>
            <a:off x="508000" y="19304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2</a:t>
            </a:r>
          </a:p>
        </p:txBody>
      </p:sp>
      <p:sp>
        <p:nvSpPr>
          <p:cNvPr id="510" name="Name1"/>
          <p:cNvSpPr/>
          <p:nvPr/>
        </p:nvSpPr>
        <p:spPr>
          <a:xfrm>
            <a:off x="1676400" y="19304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Mexico</a:t>
            </a:r>
          </a:p>
        </p:txBody>
      </p:sp>
      <p:sp>
        <p:nvSpPr>
          <p:cNvPr id="511" name="Share1"/>
          <p:cNvSpPr/>
          <p:nvPr/>
        </p:nvSpPr>
        <p:spPr>
          <a:xfrm>
            <a:off x="3810000" y="1930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~70%</a:t>
            </a:r>
          </a:p>
        </p:txBody>
      </p:sp>
      <p:sp>
        <p:nvSpPr>
          <p:cNvPr id="512" name="Rev1"/>
          <p:cNvSpPr/>
          <p:nvPr/>
        </p:nvSpPr>
        <p:spPr>
          <a:xfrm>
            <a:off x="5588000" y="19304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$4.5B</a:t>
            </a:r>
          </a:p>
        </p:txBody>
      </p:sp>
      <p:sp>
        <p:nvSpPr>
          <p:cNvPr id="513" name="Prof1"/>
          <p:cNvSpPr/>
          <p:nvPr/>
        </p:nvSpPr>
        <p:spPr>
          <a:xfrm>
            <a:off x="7467600" y="19304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$1.9B</a:t>
            </a:r>
          </a:p>
        </p:txBody>
      </p:sp>
      <p:sp>
        <p:nvSpPr>
          <p:cNvPr id="514" name="Row2"/>
          <p:cNvSpPr/>
          <p:nvPr/>
        </p:nvSpPr>
        <p:spPr>
          <a:xfrm>
            <a:off x="508000" y="23622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5" name="Rank2"/>
          <p:cNvSpPr/>
          <p:nvPr/>
        </p:nvSpPr>
        <p:spPr>
          <a:xfrm>
            <a:off x="508000" y="2362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3</a:t>
            </a:r>
          </a:p>
        </p:txBody>
      </p:sp>
      <p:sp>
        <p:nvSpPr>
          <p:cNvPr id="517" name="Name2"/>
          <p:cNvSpPr/>
          <p:nvPr/>
        </p:nvSpPr>
        <p:spPr>
          <a:xfrm>
            <a:off x="1676400" y="23622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Brazil</a:t>
            </a:r>
          </a:p>
        </p:txBody>
      </p:sp>
      <p:sp>
        <p:nvSpPr>
          <p:cNvPr id="518" name="Share2"/>
          <p:cNvSpPr/>
          <p:nvPr/>
        </p:nvSpPr>
        <p:spPr>
          <a:xfrm>
            <a:off x="3810000" y="23622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~55%</a:t>
            </a:r>
          </a:p>
        </p:txBody>
      </p:sp>
      <p:sp>
        <p:nvSpPr>
          <p:cNvPr id="519" name="Rev2"/>
          <p:cNvSpPr/>
          <p:nvPr/>
        </p:nvSpPr>
        <p:spPr>
          <a:xfrm>
            <a:off x="5588000" y="2362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$3.2B</a:t>
            </a:r>
          </a:p>
        </p:txBody>
      </p:sp>
      <p:sp>
        <p:nvSpPr>
          <p:cNvPr id="520" name="Prof2"/>
          <p:cNvSpPr/>
          <p:nvPr/>
        </p:nvSpPr>
        <p:spPr>
          <a:xfrm>
            <a:off x="7467600" y="2362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$1.2B</a:t>
            </a:r>
          </a:p>
        </p:txBody>
      </p:sp>
      <p:sp>
        <p:nvSpPr>
          <p:cNvPr id="521" name="Row3"/>
          <p:cNvSpPr/>
          <p:nvPr/>
        </p:nvSpPr>
        <p:spPr>
          <a:xfrm>
            <a:off x="508000" y="27940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A2A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2" name="Rank3"/>
          <p:cNvSpPr/>
          <p:nvPr/>
        </p:nvSpPr>
        <p:spPr>
          <a:xfrm>
            <a:off x="508000" y="27940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4</a:t>
            </a:r>
          </a:p>
        </p:txBody>
      </p:sp>
      <p:sp>
        <p:nvSpPr>
          <p:cNvPr id="524" name="Name3"/>
          <p:cNvSpPr/>
          <p:nvPr/>
        </p:nvSpPr>
        <p:spPr>
          <a:xfrm>
            <a:off x="1676400" y="27940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China</a:t>
            </a:r>
          </a:p>
        </p:txBody>
      </p:sp>
      <p:sp>
        <p:nvSpPr>
          <p:cNvPr id="525" name="Share3"/>
          <p:cNvSpPr/>
          <p:nvPr/>
        </p:nvSpPr>
        <p:spPr>
          <a:xfrm>
            <a:off x="3810000" y="27940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~52%</a:t>
            </a:r>
          </a:p>
        </p:txBody>
      </p:sp>
      <p:sp>
        <p:nvSpPr>
          <p:cNvPr id="526" name="Rev3"/>
          <p:cNvSpPr/>
          <p:nvPr/>
        </p:nvSpPr>
        <p:spPr>
          <a:xfrm>
            <a:off x="5588000" y="27940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$3.0B</a:t>
            </a:r>
          </a:p>
        </p:txBody>
      </p:sp>
      <p:sp>
        <p:nvSpPr>
          <p:cNvPr id="527" name="Prof3"/>
          <p:cNvSpPr/>
          <p:nvPr/>
        </p:nvSpPr>
        <p:spPr>
          <a:xfrm>
            <a:off x="7467600" y="27940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$1.1B</a:t>
            </a:r>
          </a:p>
        </p:txBody>
      </p:sp>
      <p:sp>
        <p:nvSpPr>
          <p:cNvPr id="528" name="Row4"/>
          <p:cNvSpPr/>
          <p:nvPr/>
        </p:nvSpPr>
        <p:spPr>
          <a:xfrm>
            <a:off x="508000" y="32258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9" name="Rank4"/>
          <p:cNvSpPr/>
          <p:nvPr/>
        </p:nvSpPr>
        <p:spPr>
          <a:xfrm>
            <a:off x="508000" y="32258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5</a:t>
            </a:r>
          </a:p>
        </p:txBody>
      </p:sp>
      <p:sp>
        <p:nvSpPr>
          <p:cNvPr id="531" name="Name4"/>
          <p:cNvSpPr/>
          <p:nvPr/>
        </p:nvSpPr>
        <p:spPr>
          <a:xfrm>
            <a:off x="1676400" y="32258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Japan</a:t>
            </a:r>
          </a:p>
        </p:txBody>
      </p:sp>
      <p:sp>
        <p:nvSpPr>
          <p:cNvPr id="532" name="Share4"/>
          <p:cNvSpPr/>
          <p:nvPr/>
        </p:nvSpPr>
        <p:spPr>
          <a:xfrm>
            <a:off x="3810000" y="32258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~30%</a:t>
            </a:r>
          </a:p>
        </p:txBody>
      </p:sp>
      <p:sp>
        <p:nvSpPr>
          <p:cNvPr id="533" name="Rev4"/>
          <p:cNvSpPr/>
          <p:nvPr/>
        </p:nvSpPr>
        <p:spPr>
          <a:xfrm>
            <a:off x="5588000" y="32258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$2.8B</a:t>
            </a:r>
          </a:p>
        </p:txBody>
      </p:sp>
      <p:sp>
        <p:nvSpPr>
          <p:cNvPr id="534" name="Prof4"/>
          <p:cNvSpPr/>
          <p:nvPr/>
        </p:nvSpPr>
        <p:spPr>
          <a:xfrm>
            <a:off x="7467600" y="32258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$0.9B</a:t>
            </a:r>
          </a:p>
        </p:txBody>
      </p:sp>
      <p:sp>
        <p:nvSpPr>
          <p:cNvPr id="535" name="Row5"/>
          <p:cNvSpPr/>
          <p:nvPr/>
        </p:nvSpPr>
        <p:spPr>
          <a:xfrm>
            <a:off x="508000" y="36576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A2A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6" name="Rank5"/>
          <p:cNvSpPr/>
          <p:nvPr/>
        </p:nvSpPr>
        <p:spPr>
          <a:xfrm>
            <a:off x="508000" y="36576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6</a:t>
            </a:r>
          </a:p>
        </p:txBody>
      </p:sp>
      <p:sp>
        <p:nvSpPr>
          <p:cNvPr id="538" name="Name5"/>
          <p:cNvSpPr/>
          <p:nvPr/>
        </p:nvSpPr>
        <p:spPr>
          <a:xfrm>
            <a:off x="1676400" y="36576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India</a:t>
            </a:r>
          </a:p>
        </p:txBody>
      </p:sp>
      <p:sp>
        <p:nvSpPr>
          <p:cNvPr id="539" name="Share5"/>
          <p:cNvSpPr/>
          <p:nvPr/>
        </p:nvSpPr>
        <p:spPr>
          <a:xfrm>
            <a:off x="3810000" y="36576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~60%</a:t>
            </a:r>
          </a:p>
        </p:txBody>
      </p:sp>
      <p:sp>
        <p:nvSpPr>
          <p:cNvPr id="540" name="Rev5"/>
          <p:cNvSpPr/>
          <p:nvPr/>
        </p:nvSpPr>
        <p:spPr>
          <a:xfrm>
            <a:off x="5588000" y="36576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$2.5B</a:t>
            </a:r>
          </a:p>
        </p:txBody>
      </p:sp>
      <p:sp>
        <p:nvSpPr>
          <p:cNvPr id="541" name="Prof5"/>
          <p:cNvSpPr/>
          <p:nvPr/>
        </p:nvSpPr>
        <p:spPr>
          <a:xfrm>
            <a:off x="7467600" y="36576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$0.9B</a:t>
            </a:r>
          </a:p>
        </p:txBody>
      </p:sp>
      <p:sp>
        <p:nvSpPr>
          <p:cNvPr id="542" name="Row6"/>
          <p:cNvSpPr/>
          <p:nvPr/>
        </p:nvSpPr>
        <p:spPr>
          <a:xfrm>
            <a:off x="508000" y="40894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3" name="Rank6"/>
          <p:cNvSpPr/>
          <p:nvPr/>
        </p:nvSpPr>
        <p:spPr>
          <a:xfrm>
            <a:off x="508000" y="40894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7</a:t>
            </a:r>
          </a:p>
        </p:txBody>
      </p:sp>
      <p:sp>
        <p:nvSpPr>
          <p:cNvPr id="545" name="Name6"/>
          <p:cNvSpPr/>
          <p:nvPr/>
        </p:nvSpPr>
        <p:spPr>
          <a:xfrm>
            <a:off x="1676400" y="40894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Germany</a:t>
            </a:r>
          </a:p>
        </p:txBody>
      </p:sp>
      <p:sp>
        <p:nvSpPr>
          <p:cNvPr id="546" name="Share6"/>
          <p:cNvSpPr/>
          <p:nvPr/>
        </p:nvSpPr>
        <p:spPr>
          <a:xfrm>
            <a:off x="3810000" y="40894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~45%</a:t>
            </a:r>
          </a:p>
        </p:txBody>
      </p:sp>
      <p:sp>
        <p:nvSpPr>
          <p:cNvPr id="547" name="Rev6"/>
          <p:cNvSpPr/>
          <p:nvPr/>
        </p:nvSpPr>
        <p:spPr>
          <a:xfrm>
            <a:off x="5588000" y="40894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$2.2B</a:t>
            </a:r>
          </a:p>
        </p:txBody>
      </p:sp>
      <p:sp>
        <p:nvSpPr>
          <p:cNvPr id="548" name="Prof6"/>
          <p:cNvSpPr/>
          <p:nvPr/>
        </p:nvSpPr>
        <p:spPr>
          <a:xfrm>
            <a:off x="7467600" y="40894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$0.8B</a:t>
            </a:r>
          </a:p>
        </p:txBody>
      </p:sp>
      <p:sp>
        <p:nvSpPr>
          <p:cNvPr id="549" name="Row7"/>
          <p:cNvSpPr/>
          <p:nvPr/>
        </p:nvSpPr>
        <p:spPr>
          <a:xfrm>
            <a:off x="508000" y="45212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A2A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0" name="Rank7"/>
          <p:cNvSpPr/>
          <p:nvPr/>
        </p:nvSpPr>
        <p:spPr>
          <a:xfrm>
            <a:off x="508000" y="4521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8</a:t>
            </a:r>
          </a:p>
        </p:txBody>
      </p:sp>
      <p:sp>
        <p:nvSpPr>
          <p:cNvPr id="552" name="Name7"/>
          <p:cNvSpPr/>
          <p:nvPr/>
        </p:nvSpPr>
        <p:spPr>
          <a:xfrm>
            <a:off x="1676400" y="45212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United Kingdom</a:t>
            </a:r>
          </a:p>
        </p:txBody>
      </p:sp>
      <p:sp>
        <p:nvSpPr>
          <p:cNvPr id="553" name="Share7"/>
          <p:cNvSpPr/>
          <p:nvPr/>
        </p:nvSpPr>
        <p:spPr>
          <a:xfrm>
            <a:off x="3810000" y="45212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~42%</a:t>
            </a:r>
          </a:p>
        </p:txBody>
      </p:sp>
      <p:sp>
        <p:nvSpPr>
          <p:cNvPr id="554" name="Rev7"/>
          <p:cNvSpPr/>
          <p:nvPr/>
        </p:nvSpPr>
        <p:spPr>
          <a:xfrm>
            <a:off x="5588000" y="4521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$2.0B</a:t>
            </a:r>
          </a:p>
        </p:txBody>
      </p:sp>
      <p:sp>
        <p:nvSpPr>
          <p:cNvPr id="555" name="Prof7"/>
          <p:cNvSpPr/>
          <p:nvPr/>
        </p:nvSpPr>
        <p:spPr>
          <a:xfrm>
            <a:off x="7467600" y="45212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$0.7B</a:t>
            </a:r>
          </a:p>
        </p:txBody>
      </p:sp>
      <p:sp>
        <p:nvSpPr>
          <p:cNvPr id="556" name="Row8"/>
          <p:cNvSpPr/>
          <p:nvPr/>
        </p:nvSpPr>
        <p:spPr>
          <a:xfrm>
            <a:off x="508000" y="49530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7" name="Rank8"/>
          <p:cNvSpPr/>
          <p:nvPr/>
        </p:nvSpPr>
        <p:spPr>
          <a:xfrm>
            <a:off x="508000" y="49530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9</a:t>
            </a:r>
          </a:p>
        </p:txBody>
      </p:sp>
      <p:sp>
        <p:nvSpPr>
          <p:cNvPr id="559" name="Name8"/>
          <p:cNvSpPr/>
          <p:nvPr/>
        </p:nvSpPr>
        <p:spPr>
          <a:xfrm>
            <a:off x="1676400" y="49530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Nigeria</a:t>
            </a:r>
          </a:p>
        </p:txBody>
      </p:sp>
      <p:sp>
        <p:nvSpPr>
          <p:cNvPr id="560" name="Share8"/>
          <p:cNvSpPr/>
          <p:nvPr/>
        </p:nvSpPr>
        <p:spPr>
          <a:xfrm>
            <a:off x="3810000" y="49530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~65%</a:t>
            </a:r>
          </a:p>
        </p:txBody>
      </p:sp>
      <p:sp>
        <p:nvSpPr>
          <p:cNvPr id="561" name="Rev8"/>
          <p:cNvSpPr/>
          <p:nvPr/>
        </p:nvSpPr>
        <p:spPr>
          <a:xfrm>
            <a:off x="5588000" y="49530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$1.4B</a:t>
            </a:r>
          </a:p>
        </p:txBody>
      </p:sp>
      <p:sp>
        <p:nvSpPr>
          <p:cNvPr id="562" name="Prof8"/>
          <p:cNvSpPr/>
          <p:nvPr/>
        </p:nvSpPr>
        <p:spPr>
          <a:xfrm>
            <a:off x="7467600" y="49530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$0.5B</a:t>
            </a:r>
          </a:p>
        </p:txBody>
      </p:sp>
      <p:sp>
        <p:nvSpPr>
          <p:cNvPr id="563" name="Row9"/>
          <p:cNvSpPr/>
          <p:nvPr/>
        </p:nvSpPr>
        <p:spPr>
          <a:xfrm>
            <a:off x="508000" y="5384800"/>
            <a:ext cx="11277600" cy="406400"/>
          </a:xfrm>
          <a:prstGeom prst="roundRect">
            <a:avLst>
              <a:gd name="adj" fmla="val 6000"/>
            </a:avLst>
          </a:prstGeom>
          <a:solidFill>
            <a:srgbClr val="2A2A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4" name="Rank9"/>
          <p:cNvSpPr/>
          <p:nvPr/>
        </p:nvSpPr>
        <p:spPr>
          <a:xfrm>
            <a:off x="508000" y="53848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AAAACC"/>
                </a:solidFill>
                <a:latin typeface="Calibri"/>
              </a:rPr>
              <a:t>10</a:t>
            </a:r>
          </a:p>
        </p:txBody>
      </p:sp>
      <p:sp>
        <p:nvSpPr>
          <p:cNvPr id="566" name="Name9"/>
          <p:cNvSpPr/>
          <p:nvPr/>
        </p:nvSpPr>
        <p:spPr>
          <a:xfrm>
            <a:off x="1676400" y="5384800"/>
            <a:ext cx="2133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Philippines</a:t>
            </a:r>
          </a:p>
        </p:txBody>
      </p:sp>
      <p:sp>
        <p:nvSpPr>
          <p:cNvPr id="567" name="Share9"/>
          <p:cNvSpPr/>
          <p:nvPr/>
        </p:nvSpPr>
        <p:spPr>
          <a:xfrm>
            <a:off x="3810000" y="53848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FFB3B3"/>
                </a:solidFill>
                <a:latin typeface="Calibri"/>
              </a:rPr>
              <a:t>~68%</a:t>
            </a:r>
          </a:p>
        </p:txBody>
      </p:sp>
      <p:sp>
        <p:nvSpPr>
          <p:cNvPr id="568" name="Rev9"/>
          <p:cNvSpPr/>
          <p:nvPr/>
        </p:nvSpPr>
        <p:spPr>
          <a:xfrm>
            <a:off x="5588000" y="53848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CCCCDD"/>
                </a:solidFill>
                <a:latin typeface="Calibri"/>
              </a:rPr>
              <a:t>$1.3B</a:t>
            </a:r>
          </a:p>
        </p:txBody>
      </p:sp>
      <p:sp>
        <p:nvSpPr>
          <p:cNvPr id="569" name="Prof9"/>
          <p:cNvSpPr/>
          <p:nvPr/>
        </p:nvSpPr>
        <p:spPr>
          <a:xfrm>
            <a:off x="7467600" y="5384800"/>
            <a:ext cx="187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0" rIns="50800" bIns="0" anchor="ctr"/>
          <a:lstStyle/>
          <a:p>
            <a:pPr algn="l">
              <a:buNone/>
            </a:pPr>
            <a:r>
              <a:rPr lang="en-US" sz="1050" dirty="0">
                <a:solidFill>
                  <a:srgbClr val="90EE90"/>
                </a:solidFill>
                <a:latin typeface="Calibri"/>
              </a:rPr>
              <a:t>$0.4B</a:t>
            </a:r>
          </a:p>
        </p:txBody>
      </p:sp>
      <p:sp>
        <p:nvSpPr>
          <p:cNvPr id="571" name="Footnote"/>
          <p:cNvSpPr/>
          <p:nvPr/>
        </p:nvSpPr>
        <p:spPr>
          <a:xfrm>
            <a:off x="508000" y="58674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00" i="1" dirty="0">
                <a:solidFill>
                  <a:srgbClr val="777788"/>
                </a:solidFill>
                <a:latin typeface="Calibri"/>
              </a:rPr>
              <a:t>Sources: Coca-Cola Company 2024 Annual Report, Statista, Euromonitor. Revenue and profit figures are estimates based on regional segment data.</a:t>
            </a:r>
          </a:p>
        </p:txBody>
      </p:sp>
      <p:sp>
        <p:nvSpPr>
          <p:cNvPr id="700" name="FlagBg0"/>
          <p:cNvSpPr/>
          <p:nvPr/>
        </p:nvSpPr>
        <p:spPr>
          <a:xfrm>
            <a:off x="1104900" y="1574800"/>
            <a:ext cx="381000" cy="254000"/>
          </a:xfrm>
          <a:prstGeom prst="rect">
            <a:avLst/>
          </a:prstGeom>
          <a:solidFill>
            <a:srgbClr val="B22234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1" name="FlagStr0_1"/>
          <p:cNvSpPr/>
          <p:nvPr/>
        </p:nvSpPr>
        <p:spPr>
          <a:xfrm>
            <a:off x="1104900" y="1611086"/>
            <a:ext cx="381000" cy="3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FlagStr0_3"/>
          <p:cNvSpPr/>
          <p:nvPr/>
        </p:nvSpPr>
        <p:spPr>
          <a:xfrm>
            <a:off x="1104900" y="1683658"/>
            <a:ext cx="381000" cy="3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" name="FlagStr0_5"/>
          <p:cNvSpPr/>
          <p:nvPr/>
        </p:nvSpPr>
        <p:spPr>
          <a:xfrm>
            <a:off x="1104900" y="1756230"/>
            <a:ext cx="381000" cy="3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" name="FlagCanton0"/>
          <p:cNvSpPr/>
          <p:nvPr/>
        </p:nvSpPr>
        <p:spPr>
          <a:xfrm>
            <a:off x="1104900" y="1574800"/>
            <a:ext cx="152400" cy="139700"/>
          </a:xfrm>
          <a:prstGeom prst="rect">
            <a:avLst/>
          </a:prstGeom>
          <a:solidFill>
            <a:srgbClr val="3C3B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" name="FlagL1"/>
          <p:cNvSpPr/>
          <p:nvPr/>
        </p:nvSpPr>
        <p:spPr>
          <a:xfrm>
            <a:off x="1104900" y="2006600"/>
            <a:ext cx="127000" cy="254000"/>
          </a:xfrm>
          <a:prstGeom prst="rect">
            <a:avLst/>
          </a:prstGeom>
          <a:solidFill>
            <a:srgbClr val="006847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6" name="FlagC1"/>
          <p:cNvSpPr/>
          <p:nvPr/>
        </p:nvSpPr>
        <p:spPr>
          <a:xfrm>
            <a:off x="1231900" y="2006600"/>
            <a:ext cx="127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" name="FlagR1"/>
          <p:cNvSpPr/>
          <p:nvPr/>
        </p:nvSpPr>
        <p:spPr>
          <a:xfrm>
            <a:off x="1358900" y="2006600"/>
            <a:ext cx="127000" cy="254000"/>
          </a:xfrm>
          <a:prstGeom prst="rect">
            <a:avLst/>
          </a:prstGeom>
          <a:solidFill>
            <a:srgbClr val="CE1126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8" name="FlagBg2"/>
          <p:cNvSpPr/>
          <p:nvPr/>
        </p:nvSpPr>
        <p:spPr>
          <a:xfrm>
            <a:off x="1104900" y="2438400"/>
            <a:ext cx="381000" cy="254000"/>
          </a:xfrm>
          <a:prstGeom prst="rect">
            <a:avLst/>
          </a:prstGeom>
          <a:solidFill>
            <a:srgbClr val="009739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9" name="FlagDia2"/>
          <p:cNvSpPr/>
          <p:nvPr/>
        </p:nvSpPr>
        <p:spPr>
          <a:xfrm>
            <a:off x="1219200" y="2489200"/>
            <a:ext cx="266700" cy="152400"/>
          </a:xfrm>
          <a:prstGeom prst="diamond">
            <a:avLst/>
          </a:prstGeom>
          <a:solidFill>
            <a:srgbClr val="FEDD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0" name="FlagBg3"/>
          <p:cNvSpPr/>
          <p:nvPr/>
        </p:nvSpPr>
        <p:spPr>
          <a:xfrm>
            <a:off x="1104900" y="2870200"/>
            <a:ext cx="381000" cy="254000"/>
          </a:xfrm>
          <a:prstGeom prst="rect">
            <a:avLst/>
          </a:prstGeom>
          <a:solidFill>
            <a:srgbClr val="DE2910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1" name="FlagStar3"/>
          <p:cNvSpPr/>
          <p:nvPr/>
        </p:nvSpPr>
        <p:spPr>
          <a:xfrm>
            <a:off x="1143000" y="2895600"/>
            <a:ext cx="101600" cy="101600"/>
          </a:xfrm>
          <a:prstGeom prst="star5">
            <a:avLst/>
          </a:prstGeom>
          <a:solidFill>
            <a:srgbClr val="FFDE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2" name="FlagBg4"/>
          <p:cNvSpPr/>
          <p:nvPr/>
        </p:nvSpPr>
        <p:spPr>
          <a:xfrm>
            <a:off x="1104900" y="3302000"/>
            <a:ext cx="381000" cy="254000"/>
          </a:xfrm>
          <a:prstGeom prst="rect">
            <a:avLst/>
          </a:prstGeom>
          <a:solidFill>
            <a:srgbClr val="FFFFFF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3" name="FlagCirc4"/>
          <p:cNvSpPr/>
          <p:nvPr/>
        </p:nvSpPr>
        <p:spPr>
          <a:xfrm>
            <a:off x="1231900" y="3365500"/>
            <a:ext cx="127000" cy="127000"/>
          </a:xfrm>
          <a:prstGeom prst="ellipse">
            <a:avLst/>
          </a:prstGeom>
          <a:solidFill>
            <a:srgbClr val="BC00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4" name="FlagTop5"/>
          <p:cNvSpPr/>
          <p:nvPr/>
        </p:nvSpPr>
        <p:spPr>
          <a:xfrm>
            <a:off x="1104900" y="3733800"/>
            <a:ext cx="381000" cy="84667"/>
          </a:xfrm>
          <a:prstGeom prst="rect">
            <a:avLst/>
          </a:prstGeom>
          <a:solidFill>
            <a:srgbClr val="FF9933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5" name="FlagMid5"/>
          <p:cNvSpPr/>
          <p:nvPr/>
        </p:nvSpPr>
        <p:spPr>
          <a:xfrm>
            <a:off x="1104900" y="3818467"/>
            <a:ext cx="381000" cy="84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6" name="FlagBot5"/>
          <p:cNvSpPr/>
          <p:nvPr/>
        </p:nvSpPr>
        <p:spPr>
          <a:xfrm>
            <a:off x="1104900" y="3903134"/>
            <a:ext cx="381000" cy="84667"/>
          </a:xfrm>
          <a:prstGeom prst="rect">
            <a:avLst/>
          </a:prstGeom>
          <a:solidFill>
            <a:srgbClr val="138808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7" name="FlagTop6"/>
          <p:cNvSpPr/>
          <p:nvPr/>
        </p:nvSpPr>
        <p:spPr>
          <a:xfrm>
            <a:off x="1104900" y="4165600"/>
            <a:ext cx="381000" cy="84667"/>
          </a:xfrm>
          <a:prstGeom prst="rect">
            <a:avLst/>
          </a:prstGeom>
          <a:solidFill>
            <a:srgbClr val="000000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8" name="FlagMid6"/>
          <p:cNvSpPr/>
          <p:nvPr/>
        </p:nvSpPr>
        <p:spPr>
          <a:xfrm>
            <a:off x="1104900" y="4250267"/>
            <a:ext cx="381000" cy="84667"/>
          </a:xfrm>
          <a:prstGeom prst="rect">
            <a:avLst/>
          </a:prstGeom>
          <a:solidFill>
            <a:srgbClr val="DD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9" name="FlagBot6"/>
          <p:cNvSpPr/>
          <p:nvPr/>
        </p:nvSpPr>
        <p:spPr>
          <a:xfrm>
            <a:off x="1104900" y="4334934"/>
            <a:ext cx="381000" cy="84667"/>
          </a:xfrm>
          <a:prstGeom prst="rect">
            <a:avLst/>
          </a:prstGeom>
          <a:solidFill>
            <a:srgbClr val="FFCC00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0" name="FlagBg7"/>
          <p:cNvSpPr/>
          <p:nvPr/>
        </p:nvSpPr>
        <p:spPr>
          <a:xfrm>
            <a:off x="1104900" y="4597400"/>
            <a:ext cx="381000" cy="254000"/>
          </a:xfrm>
          <a:prstGeom prst="rect">
            <a:avLst/>
          </a:prstGeom>
          <a:solidFill>
            <a:srgbClr val="012169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1" name="FlagHBar7"/>
          <p:cNvSpPr/>
          <p:nvPr/>
        </p:nvSpPr>
        <p:spPr>
          <a:xfrm>
            <a:off x="1104900" y="4692650"/>
            <a:ext cx="381000" cy="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2" name="FlagVBar7"/>
          <p:cNvSpPr/>
          <p:nvPr/>
        </p:nvSpPr>
        <p:spPr>
          <a:xfrm>
            <a:off x="1257300" y="4597400"/>
            <a:ext cx="762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3" name="FlagCrossH7"/>
          <p:cNvSpPr/>
          <p:nvPr/>
        </p:nvSpPr>
        <p:spPr>
          <a:xfrm>
            <a:off x="1104900" y="4709160"/>
            <a:ext cx="381000" cy="30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4" name="FlagCrossV7"/>
          <p:cNvSpPr/>
          <p:nvPr/>
        </p:nvSpPr>
        <p:spPr>
          <a:xfrm>
            <a:off x="1276350" y="4597400"/>
            <a:ext cx="38100" cy="254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5" name="FlagL8"/>
          <p:cNvSpPr/>
          <p:nvPr/>
        </p:nvSpPr>
        <p:spPr>
          <a:xfrm>
            <a:off x="1104900" y="5029200"/>
            <a:ext cx="127000" cy="254000"/>
          </a:xfrm>
          <a:prstGeom prst="rect">
            <a:avLst/>
          </a:prstGeom>
          <a:solidFill>
            <a:srgbClr val="008751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6" name="FlagC8"/>
          <p:cNvSpPr/>
          <p:nvPr/>
        </p:nvSpPr>
        <p:spPr>
          <a:xfrm>
            <a:off x="1231900" y="5029200"/>
            <a:ext cx="127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7" name="FlagR8"/>
          <p:cNvSpPr/>
          <p:nvPr/>
        </p:nvSpPr>
        <p:spPr>
          <a:xfrm>
            <a:off x="1358900" y="5029200"/>
            <a:ext cx="127000" cy="254000"/>
          </a:xfrm>
          <a:prstGeom prst="rect">
            <a:avLst/>
          </a:prstGeom>
          <a:solidFill>
            <a:srgbClr val="008751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8" name="FlagTop9"/>
          <p:cNvSpPr/>
          <p:nvPr/>
        </p:nvSpPr>
        <p:spPr>
          <a:xfrm>
            <a:off x="1104900" y="5461000"/>
            <a:ext cx="381000" cy="127000"/>
          </a:xfrm>
          <a:prstGeom prst="rect">
            <a:avLst/>
          </a:prstGeom>
          <a:solidFill>
            <a:srgbClr val="0038A8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9" name="FlagBot9"/>
          <p:cNvSpPr/>
          <p:nvPr/>
        </p:nvSpPr>
        <p:spPr>
          <a:xfrm>
            <a:off x="1104900" y="5588000"/>
            <a:ext cx="381000" cy="127000"/>
          </a:xfrm>
          <a:prstGeom prst="rect">
            <a:avLst/>
          </a:prstGeom>
          <a:solidFill>
            <a:srgbClr val="CE1126"/>
          </a:solidFill>
          <a:ln w="3175">
            <a:solidFill>
              <a:srgbClr val="5555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0" name="FlagTri9"/>
          <p:cNvSpPr/>
          <p:nvPr/>
        </p:nvSpPr>
        <p:spPr>
          <a:xfrm>
            <a:off x="1104900" y="5461000"/>
            <a:ext cx="152400" cy="254000"/>
          </a:xfrm>
          <a:prstGeom prst="triangle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3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1001"/>
          <p:cNvSpPr/>
          <p:nvPr/>
        </p:nvSpPr>
        <p:spPr>
          <a:xfrm>
            <a:off x="457200" y="1270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</a:rPr>
              <a:t>Evian Revenue Growth in the USA</a:t>
            </a:r>
          </a:p>
        </p:txBody>
      </p:sp>
      <p:sp>
        <p:nvSpPr>
          <p:cNvPr id="1001" name="S1002"/>
          <p:cNvSpPr/>
          <p:nvPr/>
        </p:nvSpPr>
        <p:spPr>
          <a:xfrm>
            <a:off x="457200" y="558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1050" i="1" dirty="0">
                <a:solidFill>
                  <a:srgbClr val="AABBCC"/>
                </a:solidFill>
                <a:latin typeface="Calibri"/>
              </a:rPr>
              <a:t>Premium bottled water — Estimated U.S. retail sales performance (2020–2024)</a:t>
            </a:r>
          </a:p>
        </p:txBody>
      </p:sp>
      <p:sp>
        <p:nvSpPr>
          <p:cNvPr id="1002" name="S1003"/>
          <p:cNvSpPr/>
          <p:nvPr/>
        </p:nvSpPr>
        <p:spPr>
          <a:xfrm>
            <a:off x="9398000" y="127000"/>
            <a:ext cx="2540000" cy="6604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 w="6350">
            <a:solidFill>
              <a:srgbClr val="FF4444"/>
            </a:solidFill>
          </a:ln>
        </p:spPr>
        <p:txBody>
          <a:bodyPr wrap="square" lIns="63500" tIns="38100" rIns="63500" bIns="3810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CCCC"/>
                </a:solidFill>
                <a:latin typeface="Calibri"/>
              </a:rPr>
              <a:t>5-Year CAGR</a:t>
            </a:r>
          </a:p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~11.8%</a:t>
            </a:r>
          </a:p>
        </p:txBody>
      </p:sp>
      <p:sp>
        <p:nvSpPr>
          <p:cNvPr id="1003" name="S1004"/>
          <p:cNvSpPr/>
          <p:nvPr/>
        </p:nvSpPr>
        <p:spPr>
          <a:xfrm>
            <a:off x="457200" y="635000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700" i="1" dirty="0">
                <a:solidFill>
                  <a:srgbClr val="666688"/>
                </a:solidFill>
                <a:latin typeface="Calibri"/>
              </a:rPr>
              <a:t>Sources: Danone Annual Reports, Circana/IRI retail scanner data, BevNET analysis. Figures are estimates for Evian brand U.S. retail sales.</a:t>
            </a:r>
          </a:p>
        </p:txBody>
      </p:sp>
      <p:sp>
        <p:nvSpPr>
          <p:cNvPr id="1004" name="S1005"/>
          <p:cNvSpPr/>
          <p:nvPr/>
        </p:nvSpPr>
        <p:spPr>
          <a:xfrm>
            <a:off x="457200" y="5588000"/>
            <a:ext cx="3683000" cy="6350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3175">
            <a:solidFill>
              <a:srgbClr val="3A3A58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1005" name="S1006"/>
          <p:cNvSpPr/>
          <p:nvPr/>
        </p:nvSpPr>
        <p:spPr>
          <a:xfrm>
            <a:off x="533400" y="5638800"/>
            <a:ext cx="3530600" cy="5334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l">
              <a:buNone/>
            </a:pPr>
            <a:r>
              <a:rPr lang="en-US" sz="850" b="1" dirty="0">
                <a:solidFill>
                  <a:srgbClr val="D4A843"/>
                </a:solidFill>
                <a:latin typeface="Calibri"/>
              </a:rPr>
              <a:t>Premium Positioning</a:t>
            </a:r>
          </a:p>
          <a:p>
            <a:pPr algn="l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Highest-priced brand at $33.45 per 12-bottle case in 2024 retail</a:t>
            </a:r>
          </a:p>
        </p:txBody>
      </p:sp>
      <p:sp>
        <p:nvSpPr>
          <p:cNvPr id="1006" name="S1007"/>
          <p:cNvSpPr/>
          <p:nvPr/>
        </p:nvSpPr>
        <p:spPr>
          <a:xfrm>
            <a:off x="4318000" y="5588000"/>
            <a:ext cx="3683000" cy="6350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3175">
            <a:solidFill>
              <a:srgbClr val="3A3A58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1007" name="S1008"/>
          <p:cNvSpPr/>
          <p:nvPr/>
        </p:nvSpPr>
        <p:spPr>
          <a:xfrm>
            <a:off x="4394200" y="5638800"/>
            <a:ext cx="3530600" cy="5334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l">
              <a:buNone/>
            </a:pPr>
            <a:r>
              <a:rPr lang="en-US" sz="850" b="1" dirty="0">
                <a:solidFill>
                  <a:srgbClr val="FF9999"/>
                </a:solidFill>
                <a:latin typeface="Calibri"/>
              </a:rPr>
              <a:t>North America Momentum</a:t>
            </a:r>
          </a:p>
          <a:p>
            <a:pPr algn="l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Danone Waters N.A. LFL sales +7.7% in Q4 2024, led by Evian</a:t>
            </a:r>
          </a:p>
        </p:txBody>
      </p:sp>
      <p:sp>
        <p:nvSpPr>
          <p:cNvPr id="1008" name="S1009"/>
          <p:cNvSpPr/>
          <p:nvPr/>
        </p:nvSpPr>
        <p:spPr>
          <a:xfrm>
            <a:off x="8178800" y="5588000"/>
            <a:ext cx="3759200" cy="6350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3175">
            <a:solidFill>
              <a:srgbClr val="3A3A58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1009" name="S1010"/>
          <p:cNvSpPr/>
          <p:nvPr/>
        </p:nvSpPr>
        <p:spPr>
          <a:xfrm>
            <a:off x="8255000" y="5638800"/>
            <a:ext cx="3606800" cy="5334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l">
              <a:buNone/>
            </a:pPr>
            <a:r>
              <a:rPr lang="en-US" sz="850" b="1" dirty="0">
                <a:solidFill>
                  <a:srgbClr val="6A9FD8"/>
                </a:solidFill>
                <a:latin typeface="Calibri"/>
              </a:rPr>
              <a:t>Sparkling Water Expansion</a:t>
            </a:r>
          </a:p>
          <a:p>
            <a:pPr algn="l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Launched first-ever sparkling water in Jan 2022, driving new growth</a:t>
            </a:r>
          </a:p>
        </p:txBody>
      </p:sp>
      <p:graphicFrame>
        <p:nvGraphicFramePr>
          <p:cNvPr id="302" name="Chart 2"/>
          <p:cNvGraphicFramePr/>
          <p:nvPr/>
        </p:nvGraphicFramePr>
        <p:xfrm>
          <a:off x="457200" y="863600"/>
          <a:ext cx="11480800" cy="463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59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S2001"/>
          <p:cNvSpPr/>
          <p:nvPr/>
        </p:nvSpPr>
        <p:spPr>
          <a:xfrm>
            <a:off x="457200" y="1270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</a:rPr>
              <a:t>Consumer Bottling Process</a:t>
            </a:r>
          </a:p>
        </p:txBody>
      </p:sp>
      <p:sp>
        <p:nvSpPr>
          <p:cNvPr id="2001" name="S2002"/>
          <p:cNvSpPr/>
          <p:nvPr/>
        </p:nvSpPr>
        <p:spPr>
          <a:xfrm>
            <a:off x="457200" y="558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1050" i="1" dirty="0">
                <a:solidFill>
                  <a:srgbClr val="AABBCC"/>
                </a:solidFill>
                <a:latin typeface="Calibri"/>
              </a:rPr>
              <a:t>From natural source to retail shelf — a 7-step journey</a:t>
            </a:r>
          </a:p>
        </p:txBody>
      </p:sp>
      <p:sp>
        <p:nvSpPr>
          <p:cNvPr id="2002" name="S2003"/>
          <p:cNvSpPr/>
          <p:nvPr/>
        </p:nvSpPr>
        <p:spPr>
          <a:xfrm>
            <a:off x="1390650" y="1016000"/>
            <a:ext cx="609600" cy="609600"/>
          </a:xfrm>
          <a:prstGeom prst="ellipse">
            <a:avLst/>
          </a:prstGeom>
          <a:solidFill>
            <a:srgbClr val="1E5C8B"/>
          </a:solidFill>
          <a:ln w="12700">
            <a:solidFill>
              <a:srgbClr val="3A8FD4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03" name="S2004"/>
          <p:cNvSpPr/>
          <p:nvPr/>
        </p:nvSpPr>
        <p:spPr>
          <a:xfrm>
            <a:off x="1339850" y="965200"/>
            <a:ext cx="279400" cy="203200"/>
          </a:xfrm>
          <a:prstGeom prst="roundRect">
            <a:avLst>
              <a:gd name="adj" fmla="val 5000"/>
            </a:avLst>
          </a:prstGeom>
          <a:solidFill>
            <a:srgbClr val="3A8FD4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04" name="S2005"/>
          <p:cNvSpPr/>
          <p:nvPr/>
        </p:nvSpPr>
        <p:spPr>
          <a:xfrm>
            <a:off x="457200" y="1701800"/>
            <a:ext cx="2476500" cy="10922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4762">
            <a:solidFill>
              <a:srgbClr val="3A8FD4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05" name="S2006"/>
          <p:cNvSpPr/>
          <p:nvPr/>
        </p:nvSpPr>
        <p:spPr>
          <a:xfrm>
            <a:off x="533400" y="1752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3A8FD4"/>
                </a:solidFill>
                <a:latin typeface="Calibri"/>
              </a:rPr>
              <a:t>Water Sourcing</a:t>
            </a:r>
          </a:p>
          <a:p>
            <a:pPr algn="ctr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Natural spring or aquifer extraction from protected geological sources</a:t>
            </a:r>
          </a:p>
        </p:txBody>
      </p:sp>
      <p:cxnSp>
        <p:nvCxnSpPr>
          <p:cNvPr id="2006" name="A2007"/>
          <p:cNvCxnSpPr/>
          <p:nvPr/>
        </p:nvCxnSpPr>
        <p:spPr>
          <a:xfrm>
            <a:off x="2959100" y="1320800"/>
            <a:ext cx="228600" cy="0"/>
          </a:xfrm>
          <a:prstGeom prst="straightConnector1">
            <a:avLst/>
          </a:prstGeom>
          <a:ln w="15875" cap="rnd">
            <a:solidFill>
              <a:srgbClr val="3A8FD4"/>
            </a:solidFill>
            <a:tailEnd type="triangle" w="med" len="med"/>
          </a:ln>
        </p:spPr>
      </p:cxnSp>
      <p:sp>
        <p:nvSpPr>
          <p:cNvPr id="2007" name="S2008"/>
          <p:cNvSpPr/>
          <p:nvPr/>
        </p:nvSpPr>
        <p:spPr>
          <a:xfrm>
            <a:off x="4146550" y="1016000"/>
            <a:ext cx="609600" cy="609600"/>
          </a:xfrm>
          <a:prstGeom prst="ellipse">
            <a:avLst/>
          </a:prstGeom>
          <a:solidFill>
            <a:srgbClr val="2B6A4F"/>
          </a:solidFill>
          <a:ln w="12700">
            <a:solidFill>
              <a:srgbClr val="4CAF7D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08" name="S2009"/>
          <p:cNvSpPr/>
          <p:nvPr/>
        </p:nvSpPr>
        <p:spPr>
          <a:xfrm>
            <a:off x="4095750" y="965200"/>
            <a:ext cx="279400" cy="203200"/>
          </a:xfrm>
          <a:prstGeom prst="roundRect">
            <a:avLst>
              <a:gd name="adj" fmla="val 5000"/>
            </a:avLst>
          </a:prstGeom>
          <a:solidFill>
            <a:srgbClr val="4CAF7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09" name="S2010"/>
          <p:cNvSpPr/>
          <p:nvPr/>
        </p:nvSpPr>
        <p:spPr>
          <a:xfrm>
            <a:off x="3213100" y="1701800"/>
            <a:ext cx="2476500" cy="10922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4762">
            <a:solidFill>
              <a:srgbClr val="4CAF7D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10" name="S2011"/>
          <p:cNvSpPr/>
          <p:nvPr/>
        </p:nvSpPr>
        <p:spPr>
          <a:xfrm>
            <a:off x="3289300" y="1752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4CAF7D"/>
                </a:solidFill>
                <a:latin typeface="Calibri"/>
              </a:rPr>
              <a:t>Purification &amp; Filtration</a:t>
            </a:r>
          </a:p>
          <a:p>
            <a:pPr algn="ctr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Multi-stage treatment: UV sterilization, reverse osmosis, mineral balancing</a:t>
            </a:r>
          </a:p>
        </p:txBody>
      </p:sp>
      <p:cxnSp>
        <p:nvCxnSpPr>
          <p:cNvPr id="2011" name="A2012"/>
          <p:cNvCxnSpPr/>
          <p:nvPr/>
        </p:nvCxnSpPr>
        <p:spPr>
          <a:xfrm>
            <a:off x="5715000" y="1320800"/>
            <a:ext cx="228600" cy="0"/>
          </a:xfrm>
          <a:prstGeom prst="straightConnector1">
            <a:avLst/>
          </a:prstGeom>
          <a:ln w="15875" cap="rnd">
            <a:solidFill>
              <a:srgbClr val="4CAF7D"/>
            </a:solidFill>
            <a:tailEnd type="triangle" w="med" len="med"/>
          </a:ln>
        </p:spPr>
      </p:cxnSp>
      <p:sp>
        <p:nvSpPr>
          <p:cNvPr id="2012" name="S2013"/>
          <p:cNvSpPr/>
          <p:nvPr/>
        </p:nvSpPr>
        <p:spPr>
          <a:xfrm>
            <a:off x="6902450" y="1016000"/>
            <a:ext cx="609600" cy="609600"/>
          </a:xfrm>
          <a:prstGeom prst="ellipse">
            <a:avLst/>
          </a:prstGeom>
          <a:solidFill>
            <a:srgbClr val="7B4B94"/>
          </a:solidFill>
          <a:ln w="12700">
            <a:solidFill>
              <a:srgbClr val="A76DC2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13" name="S2014"/>
          <p:cNvSpPr/>
          <p:nvPr/>
        </p:nvSpPr>
        <p:spPr>
          <a:xfrm>
            <a:off x="6851650" y="965200"/>
            <a:ext cx="279400" cy="203200"/>
          </a:xfrm>
          <a:prstGeom prst="roundRect">
            <a:avLst>
              <a:gd name="adj" fmla="val 5000"/>
            </a:avLst>
          </a:prstGeom>
          <a:solidFill>
            <a:srgbClr val="A76DC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14" name="S2015"/>
          <p:cNvSpPr/>
          <p:nvPr/>
        </p:nvSpPr>
        <p:spPr>
          <a:xfrm>
            <a:off x="5969000" y="1701800"/>
            <a:ext cx="2476500" cy="10922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4762">
            <a:solidFill>
              <a:srgbClr val="A76DC2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15" name="S2016"/>
          <p:cNvSpPr/>
          <p:nvPr/>
        </p:nvSpPr>
        <p:spPr>
          <a:xfrm>
            <a:off x="6045200" y="1752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A76DC2"/>
                </a:solidFill>
                <a:latin typeface="Calibri"/>
              </a:rPr>
              <a:t>Quality Testing</a:t>
            </a:r>
          </a:p>
          <a:p>
            <a:pPr algn="ctr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Laboratory analysis for purity, mineral content, pH levels &amp; contaminants</a:t>
            </a:r>
          </a:p>
        </p:txBody>
      </p:sp>
      <p:cxnSp>
        <p:nvCxnSpPr>
          <p:cNvPr id="2016" name="A2017"/>
          <p:cNvCxnSpPr/>
          <p:nvPr/>
        </p:nvCxnSpPr>
        <p:spPr>
          <a:xfrm>
            <a:off x="8470900" y="1320800"/>
            <a:ext cx="228600" cy="0"/>
          </a:xfrm>
          <a:prstGeom prst="straightConnector1">
            <a:avLst/>
          </a:prstGeom>
          <a:ln w="15875" cap="rnd">
            <a:solidFill>
              <a:srgbClr val="A76DC2"/>
            </a:solidFill>
            <a:tailEnd type="triangle" w="med" len="med"/>
          </a:ln>
        </p:spPr>
      </p:cxnSp>
      <p:sp>
        <p:nvSpPr>
          <p:cNvPr id="2017" name="S2018"/>
          <p:cNvSpPr/>
          <p:nvPr/>
        </p:nvSpPr>
        <p:spPr>
          <a:xfrm>
            <a:off x="9658350" y="1016000"/>
            <a:ext cx="609600" cy="60960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D4A843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18" name="S2019"/>
          <p:cNvSpPr/>
          <p:nvPr/>
        </p:nvSpPr>
        <p:spPr>
          <a:xfrm>
            <a:off x="9607550" y="965200"/>
            <a:ext cx="279400" cy="203200"/>
          </a:xfrm>
          <a:prstGeom prst="roundRect">
            <a:avLst>
              <a:gd name="adj" fmla="val 5000"/>
            </a:avLst>
          </a:prstGeom>
          <a:solidFill>
            <a:srgbClr val="D4A84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19" name="S2020"/>
          <p:cNvSpPr/>
          <p:nvPr/>
        </p:nvSpPr>
        <p:spPr>
          <a:xfrm>
            <a:off x="8724900" y="1701800"/>
            <a:ext cx="2476500" cy="10922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4762">
            <a:solidFill>
              <a:srgbClr val="D4A843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20" name="S2021"/>
          <p:cNvSpPr/>
          <p:nvPr/>
        </p:nvSpPr>
        <p:spPr>
          <a:xfrm>
            <a:off x="8801100" y="1752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/>
              </a:rPr>
              <a:t>Bottle Molding</a:t>
            </a:r>
          </a:p>
          <a:p>
            <a:pPr algn="ctr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PET preforms blow-molded into bottles using high-pressure compressed air</a:t>
            </a:r>
          </a:p>
        </p:txBody>
      </p:sp>
      <p:cxnSp>
        <p:nvCxnSpPr>
          <p:cNvPr id="2021" name="A2022"/>
          <p:cNvCxnSpPr/>
          <p:nvPr/>
        </p:nvCxnSpPr>
        <p:spPr>
          <a:xfrm>
            <a:off x="9963150" y="2819400"/>
            <a:ext cx="0" cy="431800"/>
          </a:xfrm>
          <a:prstGeom prst="straightConnector1">
            <a:avLst/>
          </a:prstGeom>
          <a:ln w="15875" cap="rnd">
            <a:solidFill>
              <a:srgbClr val="D4A843"/>
            </a:solidFill>
            <a:tailEnd type="triangle" w="med" len="med"/>
          </a:ln>
        </p:spPr>
      </p:cxnSp>
      <p:sp>
        <p:nvSpPr>
          <p:cNvPr id="2022" name="S2023"/>
          <p:cNvSpPr/>
          <p:nvPr/>
        </p:nvSpPr>
        <p:spPr>
          <a:xfrm>
            <a:off x="9658350" y="3302000"/>
            <a:ext cx="609600" cy="609600"/>
          </a:xfrm>
          <a:prstGeom prst="ellipse">
            <a:avLst/>
          </a:prstGeom>
          <a:solidFill>
            <a:srgbClr val="8B3A3A"/>
          </a:solidFill>
          <a:ln w="12700">
            <a:solidFill>
              <a:srgbClr val="D45A5A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23" name="S2024"/>
          <p:cNvSpPr/>
          <p:nvPr/>
        </p:nvSpPr>
        <p:spPr>
          <a:xfrm>
            <a:off x="9607550" y="3251200"/>
            <a:ext cx="279400" cy="203200"/>
          </a:xfrm>
          <a:prstGeom prst="roundRect">
            <a:avLst>
              <a:gd name="adj" fmla="val 5000"/>
            </a:avLst>
          </a:prstGeom>
          <a:solidFill>
            <a:srgbClr val="D45A5A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24" name="S2025"/>
          <p:cNvSpPr/>
          <p:nvPr/>
        </p:nvSpPr>
        <p:spPr>
          <a:xfrm>
            <a:off x="8724900" y="3987800"/>
            <a:ext cx="2476500" cy="10922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4762">
            <a:solidFill>
              <a:srgbClr val="D45A5A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25" name="S2026"/>
          <p:cNvSpPr/>
          <p:nvPr/>
        </p:nvSpPr>
        <p:spPr>
          <a:xfrm>
            <a:off x="8801100" y="4038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D45A5A"/>
                </a:solidFill>
                <a:latin typeface="Calibri"/>
              </a:rPr>
              <a:t>Filling &amp; Sealing</a:t>
            </a:r>
          </a:p>
          <a:p>
            <a:pPr algn="ctr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Automated high-speed filling lines in sterile cleanroom environment</a:t>
            </a:r>
          </a:p>
        </p:txBody>
      </p:sp>
      <p:cxnSp>
        <p:nvCxnSpPr>
          <p:cNvPr id="2026" name="A2027"/>
          <p:cNvCxnSpPr/>
          <p:nvPr/>
        </p:nvCxnSpPr>
        <p:spPr>
          <a:xfrm>
            <a:off x="8699500" y="3606800"/>
            <a:ext cx="0" cy="0"/>
          </a:xfrm>
          <a:prstGeom prst="straightConnector1">
            <a:avLst/>
          </a:prstGeom>
          <a:ln w="15875" cap="rnd">
            <a:solidFill>
              <a:srgbClr val="D45A5A"/>
            </a:solidFill>
            <a:tailEnd type="triangle" w="med" len="med"/>
          </a:ln>
        </p:spPr>
      </p:cxnSp>
      <p:sp>
        <p:nvSpPr>
          <p:cNvPr id="2027" name="S2028"/>
          <p:cNvSpPr/>
          <p:nvPr/>
        </p:nvSpPr>
        <p:spPr>
          <a:xfrm>
            <a:off x="6902450" y="3302000"/>
            <a:ext cx="609600" cy="609600"/>
          </a:xfrm>
          <a:prstGeom prst="ellipse">
            <a:avLst/>
          </a:prstGeom>
          <a:solidFill>
            <a:srgbClr val="3A6B8B"/>
          </a:solidFill>
          <a:ln w="12700">
            <a:solidFill>
              <a:srgbClr val="5A9BBB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28" name="S2029"/>
          <p:cNvSpPr/>
          <p:nvPr/>
        </p:nvSpPr>
        <p:spPr>
          <a:xfrm>
            <a:off x="6851650" y="3251200"/>
            <a:ext cx="279400" cy="203200"/>
          </a:xfrm>
          <a:prstGeom prst="roundRect">
            <a:avLst>
              <a:gd name="adj" fmla="val 5000"/>
            </a:avLst>
          </a:prstGeom>
          <a:solidFill>
            <a:srgbClr val="5A9BB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029" name="S2030"/>
          <p:cNvSpPr/>
          <p:nvPr/>
        </p:nvSpPr>
        <p:spPr>
          <a:xfrm>
            <a:off x="5969000" y="3987800"/>
            <a:ext cx="2476500" cy="10922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4762">
            <a:solidFill>
              <a:srgbClr val="5A9BBB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30" name="S2031"/>
          <p:cNvSpPr/>
          <p:nvPr/>
        </p:nvSpPr>
        <p:spPr>
          <a:xfrm>
            <a:off x="6045200" y="4038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5A9BBB"/>
                </a:solidFill>
                <a:latin typeface="Calibri"/>
              </a:rPr>
              <a:t>Labeling &amp; Packaging</a:t>
            </a:r>
          </a:p>
          <a:p>
            <a:pPr algn="ctr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Brand labels applied, bottles grouped into cases &amp; shrink-wrapped pallets</a:t>
            </a:r>
          </a:p>
        </p:txBody>
      </p:sp>
      <p:cxnSp>
        <p:nvCxnSpPr>
          <p:cNvPr id="2031" name="A2032"/>
          <p:cNvCxnSpPr/>
          <p:nvPr/>
        </p:nvCxnSpPr>
        <p:spPr>
          <a:xfrm>
            <a:off x="5943600" y="3606800"/>
            <a:ext cx="0" cy="0"/>
          </a:xfrm>
          <a:prstGeom prst="straightConnector1">
            <a:avLst/>
          </a:prstGeom>
          <a:ln w="15875" cap="rnd">
            <a:solidFill>
              <a:srgbClr val="5A9BBB"/>
            </a:solidFill>
            <a:tailEnd type="triangle" w="med" len="med"/>
          </a:ln>
        </p:spPr>
      </p:cxnSp>
      <p:sp>
        <p:nvSpPr>
          <p:cNvPr id="2032" name="S2033"/>
          <p:cNvSpPr/>
          <p:nvPr/>
        </p:nvSpPr>
        <p:spPr>
          <a:xfrm>
            <a:off x="4146550" y="3302000"/>
            <a:ext cx="609600" cy="609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4AB87D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33" name="S2034"/>
          <p:cNvSpPr/>
          <p:nvPr/>
        </p:nvSpPr>
        <p:spPr>
          <a:xfrm>
            <a:off x="4095750" y="3251200"/>
            <a:ext cx="279400" cy="203200"/>
          </a:xfrm>
          <a:prstGeom prst="roundRect">
            <a:avLst>
              <a:gd name="adj" fmla="val 5000"/>
            </a:avLst>
          </a:prstGeom>
          <a:solidFill>
            <a:srgbClr val="4AB87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034" name="S2035"/>
          <p:cNvSpPr/>
          <p:nvPr/>
        </p:nvSpPr>
        <p:spPr>
          <a:xfrm>
            <a:off x="3213100" y="3987800"/>
            <a:ext cx="2476500" cy="10922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4762">
            <a:solidFill>
              <a:srgbClr val="4AB87D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35" name="S2036"/>
          <p:cNvSpPr/>
          <p:nvPr/>
        </p:nvSpPr>
        <p:spPr>
          <a:xfrm>
            <a:off x="3289300" y="4038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4AB87D"/>
                </a:solidFill>
                <a:latin typeface="Calibri"/>
              </a:rPr>
              <a:t>Distribution &amp; Retail</a:t>
            </a:r>
          </a:p>
          <a:p>
            <a:pPr algn="ctr">
              <a:buNone/>
            </a:pPr>
            <a:r>
              <a:rPr lang="en-US" sz="750" dirty="0">
                <a:solidFill>
                  <a:srgbClr val="BBBBCC"/>
                </a:solidFill>
                <a:latin typeface="Calibri"/>
              </a:rPr>
              <a:t>Temperature-controlled logistics to warehouses, stores &amp; consumer delivery</a:t>
            </a:r>
          </a:p>
        </p:txBody>
      </p:sp>
      <p:sp>
        <p:nvSpPr>
          <p:cNvPr id="2036" name="S2037"/>
          <p:cNvSpPr/>
          <p:nvPr/>
        </p:nvSpPr>
        <p:spPr>
          <a:xfrm>
            <a:off x="457200" y="3302000"/>
            <a:ext cx="2476500" cy="17780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 w="9525">
            <a:solidFill>
              <a:srgbClr val="8B0000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37" name="S2038"/>
          <p:cNvSpPr/>
          <p:nvPr/>
        </p:nvSpPr>
        <p:spPr>
          <a:xfrm>
            <a:off x="558800" y="3378200"/>
            <a:ext cx="2273300" cy="1625600"/>
          </a:xfrm>
          <a:prstGeom prst="rect">
            <a:avLst/>
          </a:prstGeom>
          <a:noFill/>
          <a:ln>
            <a:noFill/>
          </a:ln>
        </p:spPr>
        <p:txBody>
          <a:bodyPr wrap="square" lIns="63500" tIns="38100" rIns="63500" bIns="38100" anchor="t"/>
          <a:lstStyle/>
          <a:p>
            <a:pPr algn="ctr">
              <a:buNone/>
            </a:pPr>
            <a:r>
              <a:rPr lang="en-US" sz="1000" b="1" dirty="0">
                <a:solidFill>
                  <a:srgbClr val="FF9999"/>
                </a:solidFill>
                <a:latin typeface="Georgia"/>
              </a:rPr>
              <a:t>Key Metrics</a:t>
            </a:r>
          </a:p>
          <a:p>
            <a:pPr algn="ctr">
              <a:buNone/>
            </a:pPr>
            <a:r>
              <a:rPr lang="en-US" sz="800" dirty="0">
                <a:solidFill>
                  <a:srgbClr val="DDDDEE"/>
                </a:solidFill>
                <a:latin typeface="Calibri"/>
              </a:rPr>
              <a:t>15+ quality checks</a:t>
            </a:r>
          </a:p>
          <a:p>
            <a:pPr algn="ctr">
              <a:buNone/>
            </a:pPr>
            <a:r>
              <a:rPr lang="en-US" sz="800" dirty="0">
                <a:solidFill>
                  <a:srgbClr val="DDDDEE"/>
                </a:solidFill>
                <a:latin typeface="Calibri"/>
              </a:rPr>
              <a:t>1,200 bottles/min</a:t>
            </a:r>
          </a:p>
          <a:p>
            <a:pPr algn="ctr">
              <a:buNone/>
            </a:pPr>
            <a:r>
              <a:rPr lang="en-US" sz="800" dirty="0">
                <a:solidFill>
                  <a:srgbClr val="DDDDEE"/>
                </a:solidFill>
                <a:latin typeface="Calibri"/>
              </a:rPr>
              <a:t>99.9% sterile accuracy</a:t>
            </a:r>
          </a:p>
          <a:p>
            <a:pPr algn="ctr">
              <a:buNone/>
            </a:pPr>
            <a:r>
              <a:rPr lang="en-US" sz="800" dirty="0">
                <a:solidFill>
                  <a:srgbClr val="DDDDEE"/>
                </a:solidFill>
                <a:latin typeface="Calibri"/>
              </a:rPr>
              <a:t>48hr source-to-shelf</a:t>
            </a:r>
          </a:p>
        </p:txBody>
      </p:sp>
      <p:cxnSp>
        <p:nvCxnSpPr>
          <p:cNvPr id="2038" name="A2039"/>
          <p:cNvCxnSpPr/>
          <p:nvPr/>
        </p:nvCxnSpPr>
        <p:spPr>
          <a:xfrm>
            <a:off x="3187700" y="3606800"/>
            <a:ext cx="0" cy="0"/>
          </a:xfrm>
          <a:prstGeom prst="straightConnector1">
            <a:avLst/>
          </a:prstGeom>
          <a:ln w="15875" cap="rnd">
            <a:solidFill>
              <a:srgbClr val="4AB87D"/>
            </a:solidFill>
            <a:tailEnd type="triangle" w="med" len="med"/>
          </a:ln>
        </p:spPr>
      </p:cxnSp>
      <p:sp>
        <p:nvSpPr>
          <p:cNvPr id="2039" name="S2040"/>
          <p:cNvSpPr/>
          <p:nvPr/>
        </p:nvSpPr>
        <p:spPr>
          <a:xfrm>
            <a:off x="457200" y="5334000"/>
            <a:ext cx="11480800" cy="304800"/>
          </a:xfrm>
          <a:prstGeom prst="roundRect">
            <a:avLst>
              <a:gd name="adj" fmla="val 3000"/>
            </a:avLst>
          </a:prstGeom>
          <a:solidFill>
            <a:srgbClr val="1E1E38"/>
          </a:solidFill>
          <a:ln w="3175">
            <a:solidFill>
              <a:srgbClr val="3A3A58"/>
            </a:solidFill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40" name="S2041"/>
          <p:cNvSpPr/>
          <p:nvPr/>
        </p:nvSpPr>
        <p:spPr>
          <a:xfrm>
            <a:off x="1117600" y="5422900"/>
            <a:ext cx="127000" cy="127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41" name="S2042"/>
          <p:cNvSpPr/>
          <p:nvPr/>
        </p:nvSpPr>
        <p:spPr>
          <a:xfrm>
            <a:off x="736600" y="566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i="1" dirty="0">
                <a:solidFill>
                  <a:srgbClr val="888899"/>
                </a:solidFill>
                <a:latin typeface="Calibri"/>
              </a:rPr>
              <a:t>Source · Day 1</a:t>
            </a:r>
          </a:p>
        </p:txBody>
      </p:sp>
      <p:sp>
        <p:nvSpPr>
          <p:cNvPr id="2042" name="S2043"/>
          <p:cNvSpPr/>
          <p:nvPr/>
        </p:nvSpPr>
        <p:spPr>
          <a:xfrm>
            <a:off x="2724912" y="5422900"/>
            <a:ext cx="127000" cy="127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43" name="S2044"/>
          <p:cNvSpPr/>
          <p:nvPr/>
        </p:nvSpPr>
        <p:spPr>
          <a:xfrm>
            <a:off x="2343912" y="566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i="1" dirty="0">
                <a:solidFill>
                  <a:srgbClr val="888899"/>
                </a:solidFill>
                <a:latin typeface="Calibri"/>
              </a:rPr>
              <a:t>Purify · Day 1</a:t>
            </a:r>
          </a:p>
        </p:txBody>
      </p:sp>
      <p:sp>
        <p:nvSpPr>
          <p:cNvPr id="2044" name="S2045"/>
          <p:cNvSpPr/>
          <p:nvPr/>
        </p:nvSpPr>
        <p:spPr>
          <a:xfrm>
            <a:off x="4332224" y="5422900"/>
            <a:ext cx="127000" cy="127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45" name="S2046"/>
          <p:cNvSpPr/>
          <p:nvPr/>
        </p:nvSpPr>
        <p:spPr>
          <a:xfrm>
            <a:off x="3951224" y="566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i="1" dirty="0">
                <a:solidFill>
                  <a:srgbClr val="888899"/>
                </a:solidFill>
                <a:latin typeface="Calibri"/>
              </a:rPr>
              <a:t>Test · Day 1-2</a:t>
            </a:r>
          </a:p>
        </p:txBody>
      </p:sp>
      <p:sp>
        <p:nvSpPr>
          <p:cNvPr id="2046" name="S2047"/>
          <p:cNvSpPr/>
          <p:nvPr/>
        </p:nvSpPr>
        <p:spPr>
          <a:xfrm>
            <a:off x="5939536" y="5422900"/>
            <a:ext cx="127000" cy="127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47" name="S2048"/>
          <p:cNvSpPr/>
          <p:nvPr/>
        </p:nvSpPr>
        <p:spPr>
          <a:xfrm>
            <a:off x="5558536" y="566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i="1" dirty="0">
                <a:solidFill>
                  <a:srgbClr val="888899"/>
                </a:solidFill>
                <a:latin typeface="Calibri"/>
              </a:rPr>
              <a:t>Mold · Day 2</a:t>
            </a:r>
          </a:p>
        </p:txBody>
      </p:sp>
      <p:sp>
        <p:nvSpPr>
          <p:cNvPr id="2048" name="S2049"/>
          <p:cNvSpPr/>
          <p:nvPr/>
        </p:nvSpPr>
        <p:spPr>
          <a:xfrm>
            <a:off x="7546848" y="5422900"/>
            <a:ext cx="127000" cy="127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49" name="S2050"/>
          <p:cNvSpPr/>
          <p:nvPr/>
        </p:nvSpPr>
        <p:spPr>
          <a:xfrm>
            <a:off x="7165848" y="566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i="1" dirty="0">
                <a:solidFill>
                  <a:srgbClr val="888899"/>
                </a:solidFill>
                <a:latin typeface="Calibri"/>
              </a:rPr>
              <a:t>Fill · Day 2</a:t>
            </a:r>
          </a:p>
        </p:txBody>
      </p:sp>
      <p:sp>
        <p:nvSpPr>
          <p:cNvPr id="2050" name="S2051"/>
          <p:cNvSpPr/>
          <p:nvPr/>
        </p:nvSpPr>
        <p:spPr>
          <a:xfrm>
            <a:off x="9154160" y="5422900"/>
            <a:ext cx="127000" cy="127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51" name="S2052"/>
          <p:cNvSpPr/>
          <p:nvPr/>
        </p:nvSpPr>
        <p:spPr>
          <a:xfrm>
            <a:off x="8773160" y="566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i="1" dirty="0">
                <a:solidFill>
                  <a:srgbClr val="888899"/>
                </a:solidFill>
                <a:latin typeface="Calibri"/>
              </a:rPr>
              <a:t>Label · Day 2-3</a:t>
            </a:r>
          </a:p>
        </p:txBody>
      </p:sp>
      <p:sp>
        <p:nvSpPr>
          <p:cNvPr id="2052" name="S2053"/>
          <p:cNvSpPr/>
          <p:nvPr/>
        </p:nvSpPr>
        <p:spPr>
          <a:xfrm>
            <a:off x="10761472" y="5422900"/>
            <a:ext cx="127000" cy="127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endParaRPr/>
          </a:p>
        </p:txBody>
      </p:sp>
      <p:sp>
        <p:nvSpPr>
          <p:cNvPr id="2053" name="S2054"/>
          <p:cNvSpPr/>
          <p:nvPr/>
        </p:nvSpPr>
        <p:spPr>
          <a:xfrm>
            <a:off x="10380472" y="5664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ctr">
              <a:buNone/>
            </a:pPr>
            <a:r>
              <a:rPr lang="en-US" sz="600" i="1" dirty="0">
                <a:solidFill>
                  <a:srgbClr val="888899"/>
                </a:solidFill>
                <a:latin typeface="Calibri"/>
              </a:rPr>
              <a:t>Ship · Day 3+</a:t>
            </a:r>
          </a:p>
        </p:txBody>
      </p:sp>
      <p:sp>
        <p:nvSpPr>
          <p:cNvPr id="2054" name="S2055"/>
          <p:cNvSpPr/>
          <p:nvPr/>
        </p:nvSpPr>
        <p:spPr>
          <a:xfrm>
            <a:off x="457200" y="6477000"/>
            <a:ext cx="1148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 algn="l">
              <a:buNone/>
            </a:pPr>
            <a:r>
              <a:rPr lang="en-US" sz="650" i="1" dirty="0">
                <a:solidFill>
                  <a:srgbClr val="555566"/>
                </a:solidFill>
                <a:latin typeface="Calibri"/>
              </a:rPr>
              <a:t>Consumer bottling process typical for premium spring water brands. Timelines are illustrative averages.</a:t>
            </a:r>
          </a:p>
        </p:txBody>
      </p:sp>
      <p:pic>
        <p:nvPicPr>
          <p:cNvPr id="2055" name="Graphic 2055" descr="Water sourcing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1092200"/>
            <a:ext cx="457200" cy="457200"/>
          </a:xfrm>
          <a:prstGeom prst="rect">
            <a:avLst/>
          </a:prstGeom>
        </p:spPr>
      </p:pic>
      <p:pic>
        <p:nvPicPr>
          <p:cNvPr id="2056" name="Graphic 2056" descr="Filtration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5400" y="1092200"/>
            <a:ext cx="457200" cy="457200"/>
          </a:xfrm>
          <a:prstGeom prst="rect">
            <a:avLst/>
          </a:prstGeom>
        </p:spPr>
      </p:pic>
      <p:pic>
        <p:nvPicPr>
          <p:cNvPr id="2057" name="Graphic 2057" descr="Quality testing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1300" y="1092200"/>
            <a:ext cx="457200" cy="457200"/>
          </a:xfrm>
          <a:prstGeom prst="rect">
            <a:avLst/>
          </a:prstGeom>
        </p:spPr>
      </p:pic>
      <p:pic>
        <p:nvPicPr>
          <p:cNvPr id="2058" name="Graphic 2058" descr="Bottle molding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47200" y="1092200"/>
            <a:ext cx="457200" cy="457200"/>
          </a:xfrm>
          <a:prstGeom prst="rect">
            <a:avLst/>
          </a:prstGeom>
        </p:spPr>
      </p:pic>
      <p:pic>
        <p:nvPicPr>
          <p:cNvPr id="2059" name="Graphic 2059" descr="Filling and sealing ic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7200" y="3124200"/>
            <a:ext cx="457200" cy="457200"/>
          </a:xfrm>
          <a:prstGeom prst="rect">
            <a:avLst/>
          </a:prstGeom>
        </p:spPr>
      </p:pic>
      <p:pic>
        <p:nvPicPr>
          <p:cNvPr id="2060" name="Graphic 2060" descr="Labeling icon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91300" y="3124200"/>
            <a:ext cx="457200" cy="457200"/>
          </a:xfrm>
          <a:prstGeom prst="rect">
            <a:avLst/>
          </a:prstGeom>
        </p:spPr>
      </p:pic>
      <p:pic>
        <p:nvPicPr>
          <p:cNvPr id="2061" name="Graphic 2061" descr="Distribution icon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35400" y="31242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19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EC3F6-0676-1E16-5848-AA3F3394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latin typeface="Georgia"/>
              </a:rPr>
              <a:t>Global Market at a Glance</a:t>
            </a:r>
          </a:p>
        </p:txBody>
      </p:sp>
      <p:sp>
        <p:nvSpPr>
          <p:cNvPr id="100" name="StatCard100"/>
          <p:cNvSpPr/>
          <p:nvPr/>
        </p:nvSpPr>
        <p:spPr>
          <a:xfrm>
            <a:off x="546100" y="2095500"/>
            <a:ext cx="3492500" cy="25400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</p:spPr>
        <p:txBody>
          <a:bodyPr wrap="square" lIns="91440" tIns="91440" rIns="91440" bIns="45720" anchor="ctr"/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$1.83T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Global Market Size (2025)</a:t>
            </a:r>
          </a:p>
        </p:txBody>
      </p:sp>
      <p:sp>
        <p:nvSpPr>
          <p:cNvPr id="101" name="StatCard101"/>
          <p:cNvSpPr/>
          <p:nvPr/>
        </p:nvSpPr>
        <p:spPr>
          <a:xfrm>
            <a:off x="4318000" y="2095500"/>
            <a:ext cx="3492500" cy="2540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txBody>
          <a:bodyPr wrap="square" lIns="91440" tIns="91440" rIns="91440" bIns="45720" anchor="ctr"/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4.16%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Annual Growth Rate (CAGR)</a:t>
            </a:r>
          </a:p>
        </p:txBody>
      </p:sp>
      <p:sp>
        <p:nvSpPr>
          <p:cNvPr id="102" name="StatCard102"/>
          <p:cNvSpPr/>
          <p:nvPr/>
        </p:nvSpPr>
        <p:spPr>
          <a:xfrm>
            <a:off x="8089900" y="2095500"/>
            <a:ext cx="3492500" cy="25400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</p:spPr>
        <p:txBody>
          <a:bodyPr wrap="square" lIns="91440" tIns="91440" rIns="91440" bIns="45720" anchor="ctr"/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$2.31T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Projected Market by 2030</a:t>
            </a:r>
          </a:p>
        </p:txBody>
      </p:sp>
      <p:sp>
        <p:nvSpPr>
          <p:cNvPr id="103" name="SubtitleText"/>
          <p:cNvSpPr/>
          <p:nvPr/>
        </p:nvSpPr>
        <p:spPr>
          <a:xfrm>
            <a:off x="731520" y="1727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  <a:latin typeface="Calibri"/>
              </a:rPr>
              <a:t>Driven by health-conscious innovation, premiumisation, and expanding emerging markets</a:t>
            </a:r>
          </a:p>
        </p:txBody>
      </p:sp>
      <p:sp>
        <p:nvSpPr>
          <p:cNvPr id="104" name="InsightBar"/>
          <p:cNvSpPr/>
          <p:nvPr/>
        </p:nvSpPr>
        <p:spPr>
          <a:xfrm>
            <a:off x="731520" y="5080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/>
              </a:rPr>
              <a:t>Asia-Pacific is the fastest-growing region, driven by rising health consciousness</a:t>
            </a:r>
          </a:p>
        </p:txBody>
      </p:sp>
    </p:spTree>
    <p:extLst>
      <p:ext uri="{BB962C8B-B14F-4D97-AF65-F5344CB8AC3E}">
        <p14:creationId xmlns:p14="http://schemas.microsoft.com/office/powerpoint/2010/main" val="2155799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66AA-033F-D0B2-61E7-C136AD7F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latin typeface="Georgia"/>
              </a:rPr>
              <a:t>Key Industry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731A2-467F-F001-62F1-6DBFCCD1A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Health &amp; Wellness Revolution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Low-sugar, zero-sugar, and clean-label products dominating innovation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Functional beverages with adaptogens, nootropics, and gut-health benefits surging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Moderation &amp; No/Low Alcohol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No/low alcohol sales projected to grow 7% annually through 2028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71% of European consumers now say they are drinking less alcohol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Premiumisation Evolving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Consumers more selective about when they trade up, seeking clear value</a:t>
            </a:r>
          </a:p>
        </p:txBody>
      </p:sp>
    </p:spTree>
    <p:extLst>
      <p:ext uri="{BB962C8B-B14F-4D97-AF65-F5344CB8AC3E}">
        <p14:creationId xmlns:p14="http://schemas.microsoft.com/office/powerpoint/2010/main" val="3985281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1C58-2737-8B81-D4C5-92DDD413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latin typeface="Georgia"/>
              </a:rPr>
              <a:t>Emerging Growth Opportunities</a:t>
            </a:r>
          </a:p>
        </p:txBody>
      </p:sp>
      <p:sp>
        <p:nvSpPr>
          <p:cNvPr id="110" name="Card110"/>
          <p:cNvSpPr/>
          <p:nvPr/>
        </p:nvSpPr>
        <p:spPr>
          <a:xfrm>
            <a:off x="529185" y="1414024"/>
            <a:ext cx="5394960" cy="1325563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</p:spPr>
        <p:txBody>
          <a:bodyPr wrap="square" lIns="182880" tIns="137160" rIns="182880" bIns="9144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Functional Stacking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Beverages combining multiple benefits—gut health, energy, mood—in a single drink</a:t>
            </a:r>
          </a:p>
        </p:txBody>
      </p:sp>
      <p:sp>
        <p:nvSpPr>
          <p:cNvPr id="112" name="Card112"/>
          <p:cNvSpPr/>
          <p:nvPr/>
        </p:nvSpPr>
        <p:spPr>
          <a:xfrm>
            <a:off x="6198465" y="1414024"/>
            <a:ext cx="5394960" cy="1325563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</p:spPr>
        <p:txBody>
          <a:bodyPr wrap="square" lIns="182880" tIns="137160" rIns="182880" bIns="9144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Emerging Markets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India, SE Asia, and Latin America driving growth through younger consumers and urbanisation</a:t>
            </a:r>
          </a:p>
        </p:txBody>
      </p:sp>
      <p:sp>
        <p:nvSpPr>
          <p:cNvPr id="114" name="Card114"/>
          <p:cNvSpPr/>
          <p:nvPr/>
        </p:nvSpPr>
        <p:spPr>
          <a:xfrm>
            <a:off x="529185" y="2867736"/>
            <a:ext cx="5394960" cy="1325563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txBody>
          <a:bodyPr wrap="square" lIns="182880" tIns="137160" rIns="182880" bIns="91440" anchor="ctr">
            <a:normAutofit fontScale="92500" lnSpcReduction="20000"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RTD Innovation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Ready-to-drink category delivered 55% of value added over the past decade globally.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And if we add more info here…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That’s what it looks like</a:t>
            </a:r>
          </a:p>
        </p:txBody>
      </p:sp>
      <p:sp>
        <p:nvSpPr>
          <p:cNvPr id="116" name="Card116"/>
          <p:cNvSpPr/>
          <p:nvPr/>
        </p:nvSpPr>
        <p:spPr>
          <a:xfrm>
            <a:off x="6198465" y="2867736"/>
            <a:ext cx="5394960" cy="18415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txBody>
          <a:bodyPr wrap="square" lIns="182880" tIns="137160" rIns="182880" bIns="9144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Sustainability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Eco-friendly packaging and sustainable supply chains becoming competitive differentiators</a:t>
            </a:r>
          </a:p>
        </p:txBody>
      </p:sp>
      <p:pic>
        <p:nvPicPr>
          <p:cNvPr id="117" name="Graphic 117" descr="Functional stacking tren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545" y="1452124"/>
            <a:ext cx="457200" cy="457200"/>
          </a:xfrm>
          <a:prstGeom prst="rect">
            <a:avLst/>
          </a:prstGeom>
        </p:spPr>
      </p:pic>
      <p:pic>
        <p:nvPicPr>
          <p:cNvPr id="118" name="Graphic 118" descr="Emerging markets glob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7145" y="1452124"/>
            <a:ext cx="457200" cy="457200"/>
          </a:xfrm>
          <a:prstGeom prst="rect">
            <a:avLst/>
          </a:prstGeom>
        </p:spPr>
      </p:pic>
      <p:pic>
        <p:nvPicPr>
          <p:cNvPr id="119" name="Graphic 119" descr="RTD innovation chart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87545" y="2905836"/>
            <a:ext cx="457200" cy="457200"/>
          </a:xfrm>
          <a:prstGeom prst="rect">
            <a:avLst/>
          </a:prstGeom>
        </p:spPr>
      </p:pic>
      <p:pic>
        <p:nvPicPr>
          <p:cNvPr id="120" name="Graphic 120" descr="Sustainability leaf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77145" y="2905836"/>
            <a:ext cx="457200" cy="4572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D2D420-8A6E-B384-0710-2B43FA74FA4A}"/>
              </a:ext>
            </a:extLst>
          </p:cNvPr>
          <p:cNvSpPr/>
          <p:nvPr/>
        </p:nvSpPr>
        <p:spPr>
          <a:xfrm>
            <a:off x="529185" y="4321448"/>
            <a:ext cx="5394960" cy="132556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b="1" dirty="0">
                <a:solidFill>
                  <a:schemeClr val="accent3"/>
                </a:solidFill>
                <a:latin typeface="+mj-lt"/>
              </a:rPr>
              <a:t>Unicorn Drinks</a:t>
            </a:r>
          </a:p>
          <a:p>
            <a:r>
              <a:rPr lang="en-GB" sz="1400" dirty="0">
                <a:solidFill>
                  <a:schemeClr val="accent3"/>
                </a:solidFill>
              </a:rPr>
              <a:t>This is about some net gen drinks category. We can’t yet reveal more info about this.</a:t>
            </a:r>
          </a:p>
        </p:txBody>
      </p:sp>
    </p:spTree>
    <p:extLst>
      <p:ext uri="{BB962C8B-B14F-4D97-AF65-F5344CB8AC3E}">
        <p14:creationId xmlns:p14="http://schemas.microsoft.com/office/powerpoint/2010/main" val="352179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1C58-2737-8B81-D4C5-92DDD413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latin typeface="Georgia"/>
              </a:rPr>
              <a:t>Emerging Growth Opportunities (cont.)</a:t>
            </a:r>
          </a:p>
        </p:txBody>
      </p:sp>
      <p:sp>
        <p:nvSpPr>
          <p:cNvPr id="110" name="Card110"/>
          <p:cNvSpPr/>
          <p:nvPr/>
        </p:nvSpPr>
        <p:spPr>
          <a:xfrm>
            <a:off x="548640" y="2667000"/>
            <a:ext cx="5394960" cy="2476500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</p:spPr>
        <p:txBody>
          <a:bodyPr wrap="square" lIns="182880" tIns="137160" rIns="182880" bIns="9144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Personalised Nutrition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AI-driven formulations tailored to individual health profiles and dietary preferences</a:t>
            </a:r>
          </a:p>
        </p:txBody>
      </p:sp>
      <p:sp>
        <p:nvSpPr>
          <p:cNvPr id="112" name="Card112"/>
          <p:cNvSpPr/>
          <p:nvPr/>
        </p:nvSpPr>
        <p:spPr>
          <a:xfrm>
            <a:off x="6217920" y="2667000"/>
            <a:ext cx="5394960" cy="2476500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</p:spPr>
        <p:txBody>
          <a:bodyPr wrap="square" lIns="182880" tIns="137160" rIns="182880" bIns="9144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</a:rPr>
              <a:t>Low-Alcohol &amp; No-Alcohol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Sober-curious movement fuelling double-digit growth in premium non-alcoholic beverages</a:t>
            </a:r>
          </a:p>
        </p:txBody>
      </p:sp>
      <p:pic>
        <p:nvPicPr>
          <p:cNvPr id="113" name="Graphic 113" descr="DNA icon for personalised nutri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2705100"/>
            <a:ext cx="457200" cy="457200"/>
          </a:xfrm>
          <a:prstGeom prst="rect">
            <a:avLst/>
          </a:prstGeom>
        </p:spPr>
      </p:pic>
      <p:pic>
        <p:nvPicPr>
          <p:cNvPr id="114" name="Graphic 114" descr="Bottle icon for non-alcoholic beverage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6600" y="2705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16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95C5-D713-39F6-72D4-8695D2030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latin typeface="Georgia"/>
              </a:rPr>
              <a:t>Gen Z &amp; The New Consumer</a:t>
            </a:r>
          </a:p>
        </p:txBody>
      </p:sp>
      <p:sp>
        <p:nvSpPr>
          <p:cNvPr id="120" name="StatCallout"/>
          <p:cNvSpPr/>
          <p:nvPr/>
        </p:nvSpPr>
        <p:spPr>
          <a:xfrm>
            <a:off x="548640" y="1968500"/>
            <a:ext cx="4572000" cy="3683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txBody>
          <a:bodyPr wrap="square" lIns="228600" tIns="228600" rIns="228600" bIns="228600" anchor="ctr"/>
          <a:lstStyle/>
          <a:p>
            <a:pPr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/>
              </a:rPr>
              <a:t>49%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Calibri"/>
              </a:rPr>
              <a:t>of Gen Z consumers believe limiting alcohol is vital to their health in 2026</a:t>
            </a:r>
          </a:p>
        </p:txBody>
      </p:sp>
      <p:sp>
        <p:nvSpPr>
          <p:cNvPr id="121" name="InsightsBox"/>
          <p:cNvSpPr/>
          <p:nvPr/>
        </p:nvSpPr>
        <p:spPr>
          <a:xfrm>
            <a:off x="5669280" y="1968500"/>
            <a:ext cx="5943600" cy="3683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37160" rIns="91440" bIns="9144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The Mindful Consumer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Gen Z redefining their relationship with alcohol: more selective, balancing moderation with discovery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Drawn to beverages offering real health benefits alongside unique, compelling flavours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Brands like Poppi and SunSip winning by emphasising wellness, authenticity, and personal expression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Alcohol share of total beverage spend fell from 49% in 2020 to 45% in 2025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Non-alcoholic alternatives saw a 29% surge in sales volume</a:t>
            </a:r>
          </a:p>
        </p:txBody>
      </p:sp>
    </p:spTree>
    <p:extLst>
      <p:ext uri="{BB962C8B-B14F-4D97-AF65-F5344CB8AC3E}">
        <p14:creationId xmlns:p14="http://schemas.microsoft.com/office/powerpoint/2010/main" val="3514150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D131-E21E-AB9A-41A8-4FC5032F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latin typeface="Georgia"/>
              </a:rPr>
              <a:t>Strategic Recommendations</a:t>
            </a:r>
          </a:p>
        </p:txBody>
      </p:sp>
      <p:sp>
        <p:nvSpPr>
          <p:cNvPr id="130" name="Circle130"/>
          <p:cNvSpPr/>
          <p:nvPr/>
        </p:nvSpPr>
        <p:spPr>
          <a:xfrm>
            <a:off x="548640" y="1968500"/>
            <a:ext cx="54864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40000"/>
                </a:solidFill>
                <a:latin typeface="Georgia"/>
              </a:rPr>
              <a:t>01</a:t>
            </a:r>
          </a:p>
        </p:txBody>
      </p:sp>
      <p:sp>
        <p:nvSpPr>
          <p:cNvPr id="131" name="RecText130"/>
          <p:cNvSpPr/>
          <p:nvPr/>
        </p:nvSpPr>
        <p:spPr>
          <a:xfrm>
            <a:off x="1280160" y="1905000"/>
            <a:ext cx="9875520" cy="73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Make Wellness a Daily Ritual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Build beverages that fit naturally into consumers' routines — easy, health-forward, and subscription-worthy</a:t>
            </a:r>
          </a:p>
        </p:txBody>
      </p:sp>
      <p:sp>
        <p:nvSpPr>
          <p:cNvPr id="132" name="Circle132"/>
          <p:cNvSpPr/>
          <p:nvPr/>
        </p:nvSpPr>
        <p:spPr>
          <a:xfrm>
            <a:off x="548640" y="2984500"/>
            <a:ext cx="54864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40000"/>
                </a:solidFill>
                <a:latin typeface="Georgia"/>
              </a:rPr>
              <a:t>02</a:t>
            </a:r>
          </a:p>
        </p:txBody>
      </p:sp>
      <p:sp>
        <p:nvSpPr>
          <p:cNvPr id="133" name="RecText132"/>
          <p:cNvSpPr/>
          <p:nvPr/>
        </p:nvSpPr>
        <p:spPr>
          <a:xfrm>
            <a:off x="1280160" y="2921000"/>
            <a:ext cx="9875520" cy="73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Lead RTD Innovation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Push into bold flavours, new formats, and premium touches to capture the fastest-growing category</a:t>
            </a:r>
          </a:p>
        </p:txBody>
      </p:sp>
      <p:sp>
        <p:nvSpPr>
          <p:cNvPr id="134" name="Circle134"/>
          <p:cNvSpPr/>
          <p:nvPr/>
        </p:nvSpPr>
        <p:spPr>
          <a:xfrm>
            <a:off x="548640" y="4000500"/>
            <a:ext cx="54864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40000"/>
                </a:solidFill>
                <a:latin typeface="Georgia"/>
              </a:rPr>
              <a:t>03</a:t>
            </a:r>
          </a:p>
        </p:txBody>
      </p:sp>
      <p:sp>
        <p:nvSpPr>
          <p:cNvPr id="135" name="RecText134"/>
          <p:cNvSpPr/>
          <p:nvPr/>
        </p:nvSpPr>
        <p:spPr>
          <a:xfrm>
            <a:off x="1280160" y="3937000"/>
            <a:ext cx="9875520" cy="73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Invest in Emerging Markets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Target India, SE Asia, and Latin America where younger demographics and rising middle classes are driving demand</a:t>
            </a:r>
          </a:p>
        </p:txBody>
      </p:sp>
      <p:sp>
        <p:nvSpPr>
          <p:cNvPr id="136" name="Circle136"/>
          <p:cNvSpPr/>
          <p:nvPr/>
        </p:nvSpPr>
        <p:spPr>
          <a:xfrm>
            <a:off x="548640" y="5016500"/>
            <a:ext cx="54864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40000"/>
                </a:solidFill>
                <a:latin typeface="Georgia"/>
              </a:rPr>
              <a:t>04</a:t>
            </a:r>
          </a:p>
        </p:txBody>
      </p:sp>
      <p:sp>
        <p:nvSpPr>
          <p:cNvPr id="137" name="RecText136"/>
          <p:cNvSpPr/>
          <p:nvPr/>
        </p:nvSpPr>
        <p:spPr>
          <a:xfrm>
            <a:off x="1280160" y="4953000"/>
            <a:ext cx="9875520" cy="73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Pursue Strategic M&amp;A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Acquire smaller, niche operators in health and wellness to fill portfolio gaps and boost margins</a:t>
            </a:r>
          </a:p>
        </p:txBody>
      </p:sp>
      <p:sp>
        <p:nvSpPr>
          <p:cNvPr id="140" name="Separator0"/>
          <p:cNvSpPr/>
          <p:nvPr/>
        </p:nvSpPr>
        <p:spPr>
          <a:xfrm>
            <a:off x="548640" y="2794000"/>
            <a:ext cx="10607040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Separator1"/>
          <p:cNvSpPr/>
          <p:nvPr/>
        </p:nvSpPr>
        <p:spPr>
          <a:xfrm>
            <a:off x="548640" y="3810000"/>
            <a:ext cx="10607040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Separator2"/>
          <p:cNvSpPr/>
          <p:nvPr/>
        </p:nvSpPr>
        <p:spPr>
          <a:xfrm>
            <a:off x="548640" y="4826000"/>
            <a:ext cx="10607040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62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41DA-C890-18B7-79D7-1472E200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032000"/>
            <a:ext cx="10160000" cy="2852737"/>
          </a:xfrm>
        </p:spPr>
        <p:txBody>
          <a:bodyPr>
            <a:normAutofit/>
          </a:bodyPr>
          <a:lstStyle/>
          <a:p>
            <a:r>
              <a:rPr lang="en-GB" sz="4000" b="1">
                <a:latin typeface="Georgia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E70ED-6CD5-3572-6E79-661981553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4064000"/>
            <a:ext cx="10160000" cy="1500187"/>
          </a:xfrm>
        </p:spPr>
        <p:txBody>
          <a:bodyPr>
            <a:normAutofit/>
          </a:bodyPr>
          <a:lstStyle/>
          <a:p>
            <a:r>
              <a:rPr lang="en-GB" sz="2200">
                <a:latin typeface="Calibri"/>
                <a:ea typeface="Calibri"/>
                <a:cs typeface="Calibri"/>
              </a:rPr>
              <a:t>Refreshing the Future of Beverages</a:t>
            </a:r>
          </a:p>
        </p:txBody>
      </p:sp>
    </p:spTree>
    <p:extLst>
      <p:ext uri="{BB962C8B-B14F-4D97-AF65-F5344CB8AC3E}">
        <p14:creationId xmlns:p14="http://schemas.microsoft.com/office/powerpoint/2010/main" val="2104704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Coca-Cola">
      <a:dk1>
        <a:srgbClr val="FFFFFF"/>
      </a:dk1>
      <a:lt1>
        <a:srgbClr val="F40000"/>
      </a:lt1>
      <a:dk2>
        <a:srgbClr val="1A1A1A"/>
      </a:dk2>
      <a:lt2>
        <a:srgbClr val="FBE8E8"/>
      </a:lt2>
      <a:accent1>
        <a:srgbClr val="F40000"/>
      </a:accent1>
      <a:accent2>
        <a:srgbClr val="000000"/>
      </a:accent2>
      <a:accent3>
        <a:srgbClr val="FFFFFF"/>
      </a:accent3>
      <a:accent4>
        <a:srgbClr val="D40000"/>
      </a:accent4>
      <a:accent5>
        <a:srgbClr val="FF5A5A"/>
      </a:accent5>
      <a:accent6>
        <a:srgbClr val="8B0000"/>
      </a:accent6>
      <a:hlink>
        <a:srgbClr val="0563C1"/>
      </a:hlink>
      <a:folHlink>
        <a:srgbClr val="954F72"/>
      </a:folHlink>
    </a:clrScheme>
    <a:fontScheme name="Coca-Cola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AEAFDB-870E-4781-AD6C-6D73A04C3C4A}">
  <we:reference id="wa200010001" version="1.0.0.0" store="en-GB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Microsoft Office PowerPoint</Application>
  <PresentationFormat>Widescreen</PresentationFormat>
  <Paragraphs>354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Beverage Industry
Opportunities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Global Market at a Glance</vt:lpstr>
      <vt:lpstr>Key Industry Trends</vt:lpstr>
      <vt:lpstr>Emerging Growth Opportunities</vt:lpstr>
      <vt:lpstr>Emerging Growth Opportunities (cont.)</vt:lpstr>
      <vt:lpstr>Gen Z &amp; The New Consumer</vt:lpstr>
      <vt:lpstr>Strategic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Hussain</dc:creator>
  <cp:lastModifiedBy>Syed Hussain</cp:lastModifiedBy>
  <cp:revision>2</cp:revision>
  <dcterms:created xsi:type="dcterms:W3CDTF">2026-03-06T14:14:14Z</dcterms:created>
  <dcterms:modified xsi:type="dcterms:W3CDTF">2026-03-08T03:53:41Z</dcterms:modified>
</cp:coreProperties>
</file>