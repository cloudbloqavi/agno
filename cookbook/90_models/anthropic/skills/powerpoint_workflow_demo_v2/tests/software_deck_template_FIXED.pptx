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</p:sld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presProps" Target="pres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1" sz="2160" spc="-1" strike="noStrike">
                <a:solidFill>
                  <a:srgbClr val="FFFFFF"/>
                </a:solidFill>
                <a:latin typeface="Calibri"/>
              </a:defRPr>
            </a:pPr>
            <a:r>
              <a:rPr b="1" sz="2160" spc="-1" strike="noStrike">
                <a:solidFill>
                  <a:srgbClr val="FFFFFF"/>
                </a:solidFill>
                <a:latin typeface="Calibri"/>
              </a:rPr>
              <a:t>Adoption Rate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pie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Adoption Rate</c:v>
                </c:pt>
              </c:strCache>
            </c:strRef>
          </c:tx>
          <c:spPr>
            <a:solidFill>
              <a:srgbClr val="9a031e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9a031e"/>
              </a:solidFill>
              <a:ln w="0">
                <a:noFill/>
              </a:ln>
            </c:spPr>
          </c:dPt>
          <c:dPt>
            <c:idx val="1"/>
            <c:spPr>
              <a:solidFill>
                <a:srgbClr val="5f0f40"/>
              </a:solidFill>
              <a:ln w="0">
                <a:noFill/>
              </a:ln>
            </c:spPr>
          </c:dPt>
          <c:dLbls>
            <c:dLbl>
              <c:idx val="0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pc="-1" strike="noStrik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</c:dLbls>
          <c:cat>
            <c:strRef>
              <c:f>categories</c:f>
              <c:strCache>
                <c:ptCount val="2"/>
                <c:pt idx="0">
                  <c:v>Using/Planning AI Tools</c:v>
                </c:pt>
                <c:pt idx="1">
                  <c:v>Not Adopting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84</c:v>
                </c:pt>
                <c:pt idx="1">
                  <c:v>16</c:v>
                </c:pt>
              </c:numCache>
            </c:numRef>
          </c:val>
        </c:ser>
        <c:firstSliceAng val="0"/>
      </c:pieChart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1" sz="2160" spc="-1" strike="noStrike">
                <a:solidFill>
                  <a:srgbClr val="FFFFFF"/>
                </a:solidFill>
                <a:latin typeface="Calibri"/>
              </a:defRPr>
            </a:pPr>
            <a:r>
              <a:rPr b="1" sz="2160" spc="-1" strike="noStrike">
                <a:solidFill>
                  <a:srgbClr val="FFFFFF"/>
                </a:solidFill>
                <a:latin typeface="Calibri"/>
              </a:rPr>
              <a:t>Code Share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pie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Code Share</c:v>
                </c:pt>
              </c:strCache>
            </c:strRef>
          </c:tx>
          <c:spPr>
            <a:solidFill>
              <a:srgbClr val="9a031e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9a031e"/>
              </a:solidFill>
              <a:ln w="0">
                <a:noFill/>
              </a:ln>
            </c:spPr>
          </c:dPt>
          <c:dPt>
            <c:idx val="1"/>
            <c:spPr>
              <a:solidFill>
                <a:srgbClr val="5f0f40"/>
              </a:solidFill>
              <a:ln w="0">
                <a:noFill/>
              </a:ln>
            </c:spPr>
          </c:dPt>
          <c:dLbls>
            <c:dLbl>
              <c:idx val="0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pc="-1" strike="noStrik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</c:dLbls>
          <c:cat>
            <c:strRef>
              <c:f>categories</c:f>
              <c:strCache>
                <c:ptCount val="2"/>
                <c:pt idx="0">
                  <c:v>AI-Generated/Assisted</c:v>
                </c:pt>
                <c:pt idx="1">
                  <c:v>Traditional Code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41</c:v>
                </c:pt>
                <c:pt idx="1">
                  <c:v>59</c:v>
                </c:pt>
              </c:numCache>
            </c:numRef>
          </c:val>
        </c:ser>
        <c:firstSliceAng val="0"/>
      </c:pieChart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1" sz="2160" spc="-1" strike="noStrike">
                <a:solidFill>
                  <a:srgbClr val="000000"/>
                </a:solidFill>
                <a:latin typeface="Calibri"/>
              </a:defRPr>
            </a:pPr>
            <a:r>
              <a:rPr b="1" sz="2160" spc="-1" strike="noStrike">
                <a:solidFill>
                  <a:srgbClr val="000000"/>
                </a:solidFill>
                <a:latin typeface="Calibri"/>
              </a:rPr>
              <a:t>Metric %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Metric %</c:v>
                </c:pt>
              </c:strCache>
            </c:strRef>
          </c:tx>
          <c:spPr>
            <a:solidFill>
              <a:srgbClr val="9a031e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Developer
Sentiment
2024</c:v>
                </c:pt>
                <c:pt idx="1">
                  <c:v>Developer
Sentiment
2025</c:v>
                </c:pt>
                <c:pt idx="2">
                  <c:v>Quality
Improvement
with AI Review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70</c:v>
                </c:pt>
                <c:pt idx="1">
                  <c:v>60</c:v>
                </c:pt>
                <c:pt idx="2">
                  <c:v>35</c:v>
                </c:pt>
              </c:numCache>
            </c:numRef>
          </c:val>
        </c:ser>
        <c:gapWidth val="150"/>
        <c:overlap val="0"/>
        <c:axId val="15761549"/>
        <c:axId val="92725093"/>
      </c:barChart>
      <c:catAx>
        <c:axId val="15761549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6480">
            <a:solidFill>
              <a:srgbClr val="8b8b8b"/>
            </a:solidFill>
            <a:round/>
          </a:ln>
        </c:spPr>
        <c:txPr>
          <a:bodyPr/>
          <a:lstStyle/>
          <a:p>
            <a:pPr>
              <a:defRPr b="0" sz="1000" spc="-1" strike="noStrike">
                <a:solidFill>
                  <a:srgbClr val="000000"/>
                </a:solidFill>
                <a:latin typeface="Calibri"/>
              </a:defRPr>
            </a:pPr>
          </a:p>
        </c:txPr>
        <c:crossAx val="92725093"/>
        <c:crosses val="autoZero"/>
        <c:auto val="1"/>
        <c:lblAlgn val="ctr"/>
        <c:lblOffset val="100"/>
        <c:noMultiLvlLbl val="0"/>
      </c:catAx>
      <c:valAx>
        <c:axId val="92725093"/>
        <c:scaling>
          <c:orientation val="minMax"/>
        </c:scaling>
        <c:delete val="0"/>
        <c:axPos val="l"/>
        <c:majorGridlines>
          <c:spPr>
            <a:ln w="6480">
              <a:solidFill>
                <a:srgbClr val="8b8b8b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6480">
            <a:solidFill>
              <a:srgbClr val="8b8b8b"/>
            </a:solidFill>
            <a:round/>
          </a:ln>
        </c:spPr>
        <c:txPr>
          <a:bodyPr/>
          <a:lstStyle/>
          <a:p>
            <a:pPr>
              <a:defRPr b="0" sz="1000" spc="-1" strike="noStrike">
                <a:solidFill>
                  <a:srgbClr val="000000"/>
                </a:solidFill>
                <a:latin typeface="Calibri"/>
              </a:defRPr>
            </a:pPr>
          </a:p>
        </c:txPr>
        <c:crossAx val="15761549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1" sz="2160" spc="-1" strike="noStrike">
                <a:solidFill>
                  <a:srgbClr val="FFFFFF"/>
                </a:solidFill>
                <a:latin typeface="Calibri"/>
              </a:defRPr>
            </a:pPr>
            <a:r>
              <a:rPr b="1" sz="2160" spc="-1" strike="noStrike">
                <a:solidFill>
                  <a:srgbClr val="FFFFFF"/>
                </a:solidFill>
                <a:latin typeface="Calibri"/>
              </a:rPr>
              <a:t>Market Size ($B)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Market Size ($B)</c:v>
                </c:pt>
              </c:strCache>
            </c:strRef>
          </c:tx>
          <c:spPr>
            <a:solidFill>
              <a:srgbClr val="9a031e"/>
            </a:solidFill>
            <a:ln w="19080">
              <a:solidFill>
                <a:srgbClr val="9a031e"/>
              </a:solidFill>
              <a:round/>
            </a:ln>
          </c:spPr>
          <c:marker>
            <c:symbol val="none"/>
          </c:marker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6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6"/>
                <c:pt idx="0">
                  <c:v>24</c:v>
                </c:pt>
                <c:pt idx="1">
                  <c:v>29</c:v>
                </c:pt>
                <c:pt idx="2">
                  <c:v>35</c:v>
                </c:pt>
                <c:pt idx="3">
                  <c:v>42</c:v>
                </c:pt>
                <c:pt idx="4">
                  <c:v>51</c:v>
                </c:pt>
                <c:pt idx="5">
                  <c:v>61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0"/>
        <c:axId val="13933071"/>
        <c:axId val="13737727"/>
      </c:lineChart>
      <c:catAx>
        <c:axId val="13933071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6480">
            <a:solidFill>
              <a:srgbClr val="8b8b8b"/>
            </a:solidFill>
            <a:round/>
          </a:ln>
        </c:spPr>
        <c:txPr>
          <a:bodyPr/>
          <a:lstStyle/>
          <a:p>
            <a:pPr>
              <a:defRPr b="0" sz="1000" spc="-1" strike="noStrike">
                <a:solidFill>
                  <a:srgbClr val="FFFFFF"/>
                </a:solidFill>
                <a:latin typeface="Calibri"/>
              </a:defRPr>
            </a:pPr>
          </a:p>
        </c:txPr>
        <c:crossAx val="13737727"/>
        <c:crosses val="autoZero"/>
        <c:auto val="1"/>
        <c:lblAlgn val="ctr"/>
        <c:lblOffset val="100"/>
        <c:noMultiLvlLbl val="0"/>
      </c:catAx>
      <c:valAx>
        <c:axId val="13737727"/>
        <c:scaling>
          <c:orientation val="minMax"/>
        </c:scaling>
        <c:delete val="0"/>
        <c:axPos val="l"/>
        <c:majorGridlines>
          <c:spPr>
            <a:ln w="6480">
              <a:solidFill>
                <a:srgbClr val="8b8b8b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6480">
            <a:solidFill>
              <a:srgbClr val="8b8b8b"/>
            </a:solidFill>
            <a:round/>
          </a:ln>
        </c:spPr>
        <c:txPr>
          <a:bodyPr/>
          <a:lstStyle/>
          <a:p>
            <a:pPr>
              <a:defRPr b="0" sz="1000" spc="-1" strike="noStrike">
                <a:solidFill>
                  <a:srgbClr val="FFFFFF"/>
                </a:solidFill>
                <a:latin typeface="Calibri"/>
              </a:defRPr>
            </a:pPr>
          </a:p>
        </c:txPr>
        <c:crossAx val="13933071"/>
        <c:crosses val="autoZero"/>
        <c:crossBetween val="between"/>
      </c:valAx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b="0" sz="1000" spc="-1" strike="noStrike">
              <a:solidFill>
                <a:srgbClr val="FFFFFF"/>
              </a:solidFill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wmf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wmf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"/>
          <p:cNvPicPr/>
          <p:nvPr/>
        </p:nvPicPr>
        <p:blipFill>
          <a:blip r:embed="rId2"/>
          <a:stretch/>
        </p:blipFill>
        <p:spPr>
          <a:xfrm>
            <a:off x="6120" y="0"/>
            <a:ext cx="12185640" cy="6876720"/>
          </a:xfrm>
          <a:prstGeom prst="rect">
            <a:avLst/>
          </a:prstGeom>
          <a:ln w="0">
            <a:noFill/>
          </a:ln>
        </p:spPr>
      </p:pic>
      <p:sp>
        <p:nvSpPr>
          <p:cNvPr id="3" name="Text Placeholder 11"/>
          <p:cNvSpPr/>
          <p:nvPr/>
        </p:nvSpPr>
        <p:spPr>
          <a:xfrm>
            <a:off x="8136720" y="4856040"/>
            <a:ext cx="2692080" cy="383040"/>
          </a:xfrm>
          <a:prstGeom prst="roundRect">
            <a:avLst>
              <a:gd name="adj" fmla="val 50000"/>
            </a:avLst>
          </a:prstGeom>
          <a:noFill/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" name="Group 14"/>
          <p:cNvGrpSpPr/>
          <p:nvPr/>
        </p:nvGrpSpPr>
        <p:grpSpPr>
          <a:xfrm>
            <a:off x="8887680" y="5498280"/>
            <a:ext cx="1189800" cy="308520"/>
            <a:chOff x="8887680" y="5498280"/>
            <a:chExt cx="1189800" cy="308520"/>
          </a:xfrm>
        </p:grpSpPr>
        <p:sp>
          <p:nvSpPr>
            <p:cNvPr id="5" name="Freeform 9"/>
            <p:cNvSpPr/>
            <p:nvPr/>
          </p:nvSpPr>
          <p:spPr>
            <a:xfrm>
              <a:off x="8887680" y="5498280"/>
              <a:ext cx="300600" cy="308520"/>
            </a:xfrm>
            <a:custGeom>
              <a:avLst/>
              <a:gdLst>
                <a:gd name="textAreaLeft" fmla="*/ 0 w 300600"/>
                <a:gd name="textAreaRight" fmla="*/ 300960 w 300600"/>
                <a:gd name="textAreaTop" fmla="*/ 0 h 308520"/>
                <a:gd name="textAreaBottom" fmla="*/ 308880 h 308520"/>
              </a:gdLst>
              <a:ahLst/>
              <a:rect l="textAreaLeft" t="textAreaTop" r="textAreaRight" b="textAreaBottom"/>
              <a:pathLst>
                <a:path w="97" h="97">
                  <a:moveTo>
                    <a:pt x="49" y="0"/>
                  </a:moveTo>
                  <a:cubicBezTo>
                    <a:pt x="22" y="0"/>
                    <a:pt x="0" y="22"/>
                    <a:pt x="0" y="48"/>
                  </a:cubicBezTo>
                  <a:cubicBezTo>
                    <a:pt x="0" y="75"/>
                    <a:pt x="22" y="97"/>
                    <a:pt x="49" y="97"/>
                  </a:cubicBezTo>
                  <a:cubicBezTo>
                    <a:pt x="75" y="97"/>
                    <a:pt x="97" y="75"/>
                    <a:pt x="97" y="48"/>
                  </a:cubicBezTo>
                  <a:cubicBezTo>
                    <a:pt x="97" y="22"/>
                    <a:pt x="75" y="0"/>
                    <a:pt x="49" y="0"/>
                  </a:cubicBezTo>
                  <a:close/>
                  <a:moveTo>
                    <a:pt x="61" y="50"/>
                  </a:moveTo>
                  <a:cubicBezTo>
                    <a:pt x="53" y="50"/>
                    <a:pt x="53" y="50"/>
                    <a:pt x="53" y="50"/>
                  </a:cubicBezTo>
                  <a:cubicBezTo>
                    <a:pt x="53" y="78"/>
                    <a:pt x="53" y="78"/>
                    <a:pt x="53" y="78"/>
                  </a:cubicBezTo>
                  <a:cubicBezTo>
                    <a:pt x="41" y="78"/>
                    <a:pt x="41" y="78"/>
                    <a:pt x="41" y="7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36" y="50"/>
                    <a:pt x="36" y="50"/>
                    <a:pt x="36" y="5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41" y="40"/>
                    <a:pt x="41" y="40"/>
                    <a:pt x="41" y="40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29"/>
                    <a:pt x="43" y="22"/>
                    <a:pt x="53" y="22"/>
                  </a:cubicBezTo>
                  <a:cubicBezTo>
                    <a:pt x="61" y="22"/>
                    <a:pt x="61" y="22"/>
                    <a:pt x="61" y="22"/>
                  </a:cubicBezTo>
                  <a:cubicBezTo>
                    <a:pt x="61" y="32"/>
                    <a:pt x="61" y="32"/>
                    <a:pt x="61" y="32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2"/>
                    <a:pt x="53" y="32"/>
                    <a:pt x="53" y="34"/>
                  </a:cubicBezTo>
                  <a:cubicBezTo>
                    <a:pt x="53" y="40"/>
                    <a:pt x="53" y="40"/>
                    <a:pt x="53" y="40"/>
                  </a:cubicBezTo>
                  <a:cubicBezTo>
                    <a:pt x="62" y="40"/>
                    <a:pt x="62" y="40"/>
                    <a:pt x="62" y="40"/>
                  </a:cubicBezTo>
                  <a:lnTo>
                    <a:pt x="61" y="50"/>
                  </a:lnTo>
                  <a:close/>
                  <a:moveTo>
                    <a:pt x="61" y="50"/>
                  </a:moveTo>
                  <a:cubicBezTo>
                    <a:pt x="61" y="50"/>
                    <a:pt x="61" y="50"/>
                    <a:pt x="61" y="50"/>
                  </a:cubicBezTo>
                </a:path>
              </a:pathLst>
            </a:custGeom>
            <a:solidFill>
              <a:schemeClr val="bg1">
                <a:alpha val="1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id-ID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" name="Freeform 10"/>
            <p:cNvSpPr/>
            <p:nvPr/>
          </p:nvSpPr>
          <p:spPr>
            <a:xfrm>
              <a:off x="9330120" y="5498280"/>
              <a:ext cx="300600" cy="308520"/>
            </a:xfrm>
            <a:custGeom>
              <a:avLst/>
              <a:gdLst>
                <a:gd name="textAreaLeft" fmla="*/ 0 w 300600"/>
                <a:gd name="textAreaRight" fmla="*/ 300960 w 300600"/>
                <a:gd name="textAreaTop" fmla="*/ 0 h 308520"/>
                <a:gd name="textAreaBottom" fmla="*/ 308880 h 308520"/>
              </a:gdLst>
              <a:ahLst/>
              <a:rect l="textAreaLeft" t="textAreaTop" r="textAreaRight" b="textAreaBottom"/>
              <a:pathLst>
                <a:path w="97" h="97">
                  <a:moveTo>
                    <a:pt x="48" y="0"/>
                  </a:moveTo>
                  <a:cubicBezTo>
                    <a:pt x="21" y="0"/>
                    <a:pt x="0" y="22"/>
                    <a:pt x="0" y="48"/>
                  </a:cubicBezTo>
                  <a:cubicBezTo>
                    <a:pt x="0" y="75"/>
                    <a:pt x="21" y="97"/>
                    <a:pt x="48" y="97"/>
                  </a:cubicBezTo>
                  <a:cubicBezTo>
                    <a:pt x="75" y="97"/>
                    <a:pt x="97" y="75"/>
                    <a:pt x="97" y="48"/>
                  </a:cubicBezTo>
                  <a:cubicBezTo>
                    <a:pt x="97" y="22"/>
                    <a:pt x="75" y="0"/>
                    <a:pt x="48" y="0"/>
                  </a:cubicBezTo>
                  <a:close/>
                  <a:moveTo>
                    <a:pt x="72" y="41"/>
                  </a:moveTo>
                  <a:cubicBezTo>
                    <a:pt x="72" y="41"/>
                    <a:pt x="72" y="42"/>
                    <a:pt x="72" y="42"/>
                  </a:cubicBezTo>
                  <a:cubicBezTo>
                    <a:pt x="72" y="58"/>
                    <a:pt x="61" y="75"/>
                    <a:pt x="39" y="75"/>
                  </a:cubicBezTo>
                  <a:cubicBezTo>
                    <a:pt x="33" y="75"/>
                    <a:pt x="27" y="73"/>
                    <a:pt x="21" y="70"/>
                  </a:cubicBezTo>
                  <a:cubicBezTo>
                    <a:pt x="22" y="70"/>
                    <a:pt x="23" y="70"/>
                    <a:pt x="24" y="70"/>
                  </a:cubicBezTo>
                  <a:cubicBezTo>
                    <a:pt x="30" y="70"/>
                    <a:pt x="35" y="68"/>
                    <a:pt x="39" y="65"/>
                  </a:cubicBezTo>
                  <a:cubicBezTo>
                    <a:pt x="34" y="65"/>
                    <a:pt x="29" y="62"/>
                    <a:pt x="28" y="57"/>
                  </a:cubicBezTo>
                  <a:cubicBezTo>
                    <a:pt x="29" y="57"/>
                    <a:pt x="29" y="57"/>
                    <a:pt x="30" y="57"/>
                  </a:cubicBezTo>
                  <a:cubicBezTo>
                    <a:pt x="31" y="57"/>
                    <a:pt x="32" y="57"/>
                    <a:pt x="33" y="57"/>
                  </a:cubicBezTo>
                  <a:cubicBezTo>
                    <a:pt x="28" y="56"/>
                    <a:pt x="24" y="51"/>
                    <a:pt x="24" y="46"/>
                  </a:cubicBezTo>
                  <a:cubicBezTo>
                    <a:pt x="24" y="46"/>
                    <a:pt x="24" y="45"/>
                    <a:pt x="24" y="45"/>
                  </a:cubicBezTo>
                  <a:cubicBezTo>
                    <a:pt x="25" y="46"/>
                    <a:pt x="27" y="47"/>
                    <a:pt x="29" y="47"/>
                  </a:cubicBezTo>
                  <a:cubicBezTo>
                    <a:pt x="26" y="45"/>
                    <a:pt x="24" y="41"/>
                    <a:pt x="24" y="37"/>
                  </a:cubicBezTo>
                  <a:cubicBezTo>
                    <a:pt x="24" y="35"/>
                    <a:pt x="24" y="33"/>
                    <a:pt x="25" y="31"/>
                  </a:cubicBezTo>
                  <a:cubicBezTo>
                    <a:pt x="31" y="38"/>
                    <a:pt x="40" y="43"/>
                    <a:pt x="49" y="44"/>
                  </a:cubicBezTo>
                  <a:cubicBezTo>
                    <a:pt x="49" y="43"/>
                    <a:pt x="49" y="42"/>
                    <a:pt x="49" y="41"/>
                  </a:cubicBezTo>
                  <a:cubicBezTo>
                    <a:pt x="49" y="34"/>
                    <a:pt x="54" y="29"/>
                    <a:pt x="61" y="29"/>
                  </a:cubicBezTo>
                  <a:cubicBezTo>
                    <a:pt x="64" y="29"/>
                    <a:pt x="67" y="31"/>
                    <a:pt x="69" y="33"/>
                  </a:cubicBezTo>
                  <a:cubicBezTo>
                    <a:pt x="72" y="32"/>
                    <a:pt x="74" y="31"/>
                    <a:pt x="76" y="30"/>
                  </a:cubicBezTo>
                  <a:cubicBezTo>
                    <a:pt x="76" y="33"/>
                    <a:pt x="74" y="35"/>
                    <a:pt x="71" y="37"/>
                  </a:cubicBezTo>
                  <a:cubicBezTo>
                    <a:pt x="74" y="36"/>
                    <a:pt x="76" y="36"/>
                    <a:pt x="78" y="35"/>
                  </a:cubicBezTo>
                  <a:cubicBezTo>
                    <a:pt x="76" y="37"/>
                    <a:pt x="75" y="39"/>
                    <a:pt x="72" y="41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id-ID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" name="Freeform 11"/>
            <p:cNvSpPr/>
            <p:nvPr/>
          </p:nvSpPr>
          <p:spPr>
            <a:xfrm>
              <a:off x="9781920" y="5504760"/>
              <a:ext cx="295560" cy="302040"/>
            </a:xfrm>
            <a:custGeom>
              <a:avLst/>
              <a:gdLst>
                <a:gd name="textAreaLeft" fmla="*/ 0 w 295560"/>
                <a:gd name="textAreaRight" fmla="*/ 295920 w 295560"/>
                <a:gd name="textAreaTop" fmla="*/ 0 h 302040"/>
                <a:gd name="textAreaBottom" fmla="*/ 302400 h 302040"/>
              </a:gdLst>
              <a:ahLst/>
              <a:rect l="textAreaLeft" t="textAreaTop" r="textAreaRight" b="textAreaBottom"/>
              <a:pathLst>
                <a:path w="95" h="95">
                  <a:moveTo>
                    <a:pt x="88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92"/>
                    <a:pt x="3" y="95"/>
                    <a:pt x="7" y="95"/>
                  </a:cubicBezTo>
                  <a:cubicBezTo>
                    <a:pt x="88" y="95"/>
                    <a:pt x="88" y="95"/>
                    <a:pt x="88" y="95"/>
                  </a:cubicBezTo>
                  <a:cubicBezTo>
                    <a:pt x="92" y="95"/>
                    <a:pt x="95" y="92"/>
                    <a:pt x="95" y="88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3"/>
                    <a:pt x="92" y="0"/>
                    <a:pt x="88" y="0"/>
                  </a:cubicBezTo>
                  <a:close/>
                  <a:moveTo>
                    <a:pt x="29" y="79"/>
                  </a:moveTo>
                  <a:cubicBezTo>
                    <a:pt x="15" y="79"/>
                    <a:pt x="15" y="79"/>
                    <a:pt x="15" y="79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79"/>
                  </a:lnTo>
                  <a:close/>
                  <a:moveTo>
                    <a:pt x="22" y="31"/>
                  </a:moveTo>
                  <a:cubicBezTo>
                    <a:pt x="22" y="31"/>
                    <a:pt x="22" y="31"/>
                    <a:pt x="22" y="31"/>
                  </a:cubicBezTo>
                  <a:cubicBezTo>
                    <a:pt x="17" y="31"/>
                    <a:pt x="14" y="27"/>
                    <a:pt x="14" y="23"/>
                  </a:cubicBezTo>
                  <a:cubicBezTo>
                    <a:pt x="14" y="19"/>
                    <a:pt x="17" y="16"/>
                    <a:pt x="22" y="16"/>
                  </a:cubicBezTo>
                  <a:cubicBezTo>
                    <a:pt x="27" y="16"/>
                    <a:pt x="30" y="19"/>
                    <a:pt x="30" y="23"/>
                  </a:cubicBezTo>
                  <a:cubicBezTo>
                    <a:pt x="30" y="27"/>
                    <a:pt x="27" y="31"/>
                    <a:pt x="22" y="31"/>
                  </a:cubicBezTo>
                  <a:close/>
                  <a:moveTo>
                    <a:pt x="80" y="79"/>
                  </a:moveTo>
                  <a:cubicBezTo>
                    <a:pt x="66" y="79"/>
                    <a:pt x="66" y="79"/>
                    <a:pt x="66" y="79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66" y="51"/>
                    <a:pt x="64" y="47"/>
                    <a:pt x="59" y="47"/>
                  </a:cubicBezTo>
                  <a:cubicBezTo>
                    <a:pt x="55" y="47"/>
                    <a:pt x="53" y="49"/>
                    <a:pt x="52" y="52"/>
                  </a:cubicBezTo>
                  <a:cubicBezTo>
                    <a:pt x="51" y="53"/>
                    <a:pt x="51" y="54"/>
                    <a:pt x="51" y="55"/>
                  </a:cubicBezTo>
                  <a:cubicBezTo>
                    <a:pt x="51" y="79"/>
                    <a:pt x="51" y="79"/>
                    <a:pt x="51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7" y="40"/>
                    <a:pt x="37" y="36"/>
                  </a:cubicBezTo>
                  <a:cubicBezTo>
                    <a:pt x="51" y="36"/>
                    <a:pt x="51" y="36"/>
                    <a:pt x="51" y="36"/>
                  </a:cubicBezTo>
                  <a:cubicBezTo>
                    <a:pt x="51" y="42"/>
                    <a:pt x="51" y="42"/>
                    <a:pt x="51" y="42"/>
                  </a:cubicBezTo>
                  <a:cubicBezTo>
                    <a:pt x="53" y="40"/>
                    <a:pt x="56" y="35"/>
                    <a:pt x="64" y="35"/>
                  </a:cubicBezTo>
                  <a:cubicBezTo>
                    <a:pt x="73" y="35"/>
                    <a:pt x="80" y="41"/>
                    <a:pt x="80" y="55"/>
                  </a:cubicBezTo>
                  <a:lnTo>
                    <a:pt x="80" y="79"/>
                  </a:lnTo>
                  <a:close/>
                  <a:moveTo>
                    <a:pt x="51" y="43"/>
                  </a:moveTo>
                  <a:cubicBezTo>
                    <a:pt x="51" y="43"/>
                    <a:pt x="51" y="42"/>
                    <a:pt x="51" y="42"/>
                  </a:cubicBezTo>
                  <a:cubicBezTo>
                    <a:pt x="51" y="43"/>
                    <a:pt x="51" y="43"/>
                    <a:pt x="51" y="43"/>
                  </a:cubicBezTo>
                  <a:close/>
                  <a:moveTo>
                    <a:pt x="51" y="43"/>
                  </a:moveTo>
                  <a:cubicBezTo>
                    <a:pt x="51" y="43"/>
                    <a:pt x="51" y="43"/>
                    <a:pt x="51" y="43"/>
                  </a:cubicBezTo>
                </a:path>
              </a:pathLst>
            </a:custGeom>
            <a:solidFill>
              <a:schemeClr val="bg1">
                <a:alpha val="1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id-ID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8" name="PlaceHolder 1"/>
          <p:cNvSpPr>
            <a:spLocks noGrp="1"/>
          </p:cNvSpPr>
          <p:nvPr>
            <p:ph type="body"/>
          </p:nvPr>
        </p:nvSpPr>
        <p:spPr>
          <a:xfrm>
            <a:off x="7258680" y="2337840"/>
            <a:ext cx="4448160" cy="111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0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4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4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258680" y="3975480"/>
            <a:ext cx="4448160" cy="72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Freeform 5"/>
          <p:cNvSpPr/>
          <p:nvPr/>
        </p:nvSpPr>
        <p:spPr>
          <a:xfrm>
            <a:off x="9051120" y="3613320"/>
            <a:ext cx="863280" cy="61560"/>
          </a:xfrm>
          <a:custGeom>
            <a:avLst/>
            <a:gdLst>
              <a:gd name="textAreaLeft" fmla="*/ 0 w 863280"/>
              <a:gd name="textAreaRight" fmla="*/ 863640 w 863280"/>
              <a:gd name="textAreaTop" fmla="*/ 0 h 61560"/>
              <a:gd name="textAreaBottom" fmla="*/ 61920 h 61560"/>
            </a:gdLst>
            <a:ahLst/>
            <a:rect l="textAreaLeft" t="textAreaTop" r="textAreaRight" b="textAreaBottom"/>
            <a:pathLst>
              <a:path w="228" h="14">
                <a:moveTo>
                  <a:pt x="228" y="7"/>
                </a:moveTo>
                <a:cubicBezTo>
                  <a:pt x="228" y="11"/>
                  <a:pt x="225" y="14"/>
                  <a:pt x="221" y="14"/>
                </a:cubicBezTo>
                <a:cubicBezTo>
                  <a:pt x="7" y="14"/>
                  <a:pt x="7" y="14"/>
                  <a:pt x="7" y="14"/>
                </a:cubicBezTo>
                <a:cubicBezTo>
                  <a:pt x="4" y="14"/>
                  <a:pt x="0" y="11"/>
                  <a:pt x="0" y="7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7" y="0"/>
                </a:cubicBezTo>
                <a:cubicBezTo>
                  <a:pt x="221" y="0"/>
                  <a:pt x="221" y="0"/>
                  <a:pt x="221" y="0"/>
                </a:cubicBezTo>
                <a:cubicBezTo>
                  <a:pt x="225" y="0"/>
                  <a:pt x="228" y="3"/>
                  <a:pt x="228" y="7"/>
                </a:cubicBezTo>
                <a:close/>
              </a:path>
            </a:pathLst>
          </a:custGeom>
          <a:solidFill>
            <a:srgbClr val="f68a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tIns="30960" bIns="30960" anchor="t">
            <a:noAutofit/>
          </a:bodyPr>
          <a:p>
            <a:pPr defTabSz="914400">
              <a:lnSpc>
                <a:spcPct val="100000"/>
              </a:lnSpc>
            </a:pPr>
            <a:endParaRPr b="0" lang="id-ID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1" name="Picture 15" descr=""/>
          <p:cNvPicPr/>
          <p:nvPr/>
        </p:nvPicPr>
        <p:blipFill>
          <a:blip r:embed="rId3"/>
          <a:stretch/>
        </p:blipFill>
        <p:spPr>
          <a:xfrm>
            <a:off x="8033400" y="1540800"/>
            <a:ext cx="2894760" cy="755280"/>
          </a:xfrm>
          <a:prstGeom prst="rect">
            <a:avLst/>
          </a:prstGeom>
          <a:ln w="0">
            <a:noFill/>
          </a:ln>
        </p:spPr>
      </p:pic>
      <p:sp>
        <p:nvSpPr>
          <p:cNvPr id="12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62e33">
            <a:alpha val="9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262e33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id-ID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4" name="Picture 9" descr=""/>
          <p:cNvPicPr/>
          <p:nvPr/>
        </p:nvPicPr>
        <p:blipFill>
          <a:blip r:embed="rId2"/>
          <a:stretch/>
        </p:blipFill>
        <p:spPr>
          <a:xfrm>
            <a:off x="-2089440" y="-959400"/>
            <a:ext cx="14591880" cy="7979040"/>
          </a:xfrm>
          <a:prstGeom prst="rect">
            <a:avLst/>
          </a:prstGeom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body"/>
          </p:nvPr>
        </p:nvSpPr>
        <p:spPr>
          <a:xfrm>
            <a:off x="476280" y="2228040"/>
            <a:ext cx="5154840" cy="802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4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4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48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4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4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4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4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4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48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48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48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48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48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76280" y="3315240"/>
            <a:ext cx="4574520" cy="646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Text Placeholder 11"/>
          <p:cNvSpPr/>
          <p:nvPr/>
        </p:nvSpPr>
        <p:spPr>
          <a:xfrm>
            <a:off x="476280" y="4182120"/>
            <a:ext cx="2692080" cy="383040"/>
          </a:xfrm>
          <a:prstGeom prst="roundRect">
            <a:avLst>
              <a:gd name="adj" fmla="val 50000"/>
            </a:avLst>
          </a:prstGeom>
          <a:noFill/>
          <a:ln w="0">
            <a:solidFill>
              <a:srgbClr val="f68a1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646920" y="4782600"/>
            <a:ext cx="1189800" cy="308520"/>
            <a:chOff x="646920" y="4782600"/>
            <a:chExt cx="1189800" cy="308520"/>
          </a:xfrm>
        </p:grpSpPr>
        <p:sp>
          <p:nvSpPr>
            <p:cNvPr id="19" name="Freeform 9"/>
            <p:cNvSpPr/>
            <p:nvPr/>
          </p:nvSpPr>
          <p:spPr>
            <a:xfrm>
              <a:off x="646920" y="4782600"/>
              <a:ext cx="300600" cy="308520"/>
            </a:xfrm>
            <a:custGeom>
              <a:avLst/>
              <a:gdLst>
                <a:gd name="textAreaLeft" fmla="*/ 0 w 300600"/>
                <a:gd name="textAreaRight" fmla="*/ 300960 w 300600"/>
                <a:gd name="textAreaTop" fmla="*/ 0 h 308520"/>
                <a:gd name="textAreaBottom" fmla="*/ 308880 h 308520"/>
              </a:gdLst>
              <a:ahLst/>
              <a:rect l="textAreaLeft" t="textAreaTop" r="textAreaRight" b="textAreaBottom"/>
              <a:pathLst>
                <a:path w="97" h="97">
                  <a:moveTo>
                    <a:pt x="49" y="0"/>
                  </a:moveTo>
                  <a:cubicBezTo>
                    <a:pt x="22" y="0"/>
                    <a:pt x="0" y="22"/>
                    <a:pt x="0" y="48"/>
                  </a:cubicBezTo>
                  <a:cubicBezTo>
                    <a:pt x="0" y="75"/>
                    <a:pt x="22" y="97"/>
                    <a:pt x="49" y="97"/>
                  </a:cubicBezTo>
                  <a:cubicBezTo>
                    <a:pt x="75" y="97"/>
                    <a:pt x="97" y="75"/>
                    <a:pt x="97" y="48"/>
                  </a:cubicBezTo>
                  <a:cubicBezTo>
                    <a:pt x="97" y="22"/>
                    <a:pt x="75" y="0"/>
                    <a:pt x="49" y="0"/>
                  </a:cubicBezTo>
                  <a:close/>
                  <a:moveTo>
                    <a:pt x="61" y="50"/>
                  </a:moveTo>
                  <a:cubicBezTo>
                    <a:pt x="53" y="50"/>
                    <a:pt x="53" y="50"/>
                    <a:pt x="53" y="50"/>
                  </a:cubicBezTo>
                  <a:cubicBezTo>
                    <a:pt x="53" y="78"/>
                    <a:pt x="53" y="78"/>
                    <a:pt x="53" y="78"/>
                  </a:cubicBezTo>
                  <a:cubicBezTo>
                    <a:pt x="41" y="78"/>
                    <a:pt x="41" y="78"/>
                    <a:pt x="41" y="7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36" y="50"/>
                    <a:pt x="36" y="50"/>
                    <a:pt x="36" y="5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41" y="40"/>
                    <a:pt x="41" y="40"/>
                    <a:pt x="41" y="40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29"/>
                    <a:pt x="43" y="22"/>
                    <a:pt x="53" y="22"/>
                  </a:cubicBezTo>
                  <a:cubicBezTo>
                    <a:pt x="61" y="22"/>
                    <a:pt x="61" y="22"/>
                    <a:pt x="61" y="22"/>
                  </a:cubicBezTo>
                  <a:cubicBezTo>
                    <a:pt x="61" y="32"/>
                    <a:pt x="61" y="32"/>
                    <a:pt x="61" y="32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2"/>
                    <a:pt x="53" y="32"/>
                    <a:pt x="53" y="34"/>
                  </a:cubicBezTo>
                  <a:cubicBezTo>
                    <a:pt x="53" y="40"/>
                    <a:pt x="53" y="40"/>
                    <a:pt x="53" y="40"/>
                  </a:cubicBezTo>
                  <a:cubicBezTo>
                    <a:pt x="62" y="40"/>
                    <a:pt x="62" y="40"/>
                    <a:pt x="62" y="40"/>
                  </a:cubicBezTo>
                  <a:lnTo>
                    <a:pt x="61" y="50"/>
                  </a:lnTo>
                  <a:close/>
                  <a:moveTo>
                    <a:pt x="61" y="50"/>
                  </a:moveTo>
                  <a:cubicBezTo>
                    <a:pt x="61" y="50"/>
                    <a:pt x="61" y="50"/>
                    <a:pt x="61" y="50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id-ID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0" name="Freeform 10"/>
            <p:cNvSpPr/>
            <p:nvPr/>
          </p:nvSpPr>
          <p:spPr>
            <a:xfrm>
              <a:off x="1089360" y="4782600"/>
              <a:ext cx="300600" cy="308520"/>
            </a:xfrm>
            <a:custGeom>
              <a:avLst/>
              <a:gdLst>
                <a:gd name="textAreaLeft" fmla="*/ 0 w 300600"/>
                <a:gd name="textAreaRight" fmla="*/ 300960 w 300600"/>
                <a:gd name="textAreaTop" fmla="*/ 0 h 308520"/>
                <a:gd name="textAreaBottom" fmla="*/ 308880 h 308520"/>
              </a:gdLst>
              <a:ahLst/>
              <a:rect l="textAreaLeft" t="textAreaTop" r="textAreaRight" b="textAreaBottom"/>
              <a:pathLst>
                <a:path w="97" h="97">
                  <a:moveTo>
                    <a:pt x="48" y="0"/>
                  </a:moveTo>
                  <a:cubicBezTo>
                    <a:pt x="21" y="0"/>
                    <a:pt x="0" y="22"/>
                    <a:pt x="0" y="48"/>
                  </a:cubicBezTo>
                  <a:cubicBezTo>
                    <a:pt x="0" y="75"/>
                    <a:pt x="21" y="97"/>
                    <a:pt x="48" y="97"/>
                  </a:cubicBezTo>
                  <a:cubicBezTo>
                    <a:pt x="75" y="97"/>
                    <a:pt x="97" y="75"/>
                    <a:pt x="97" y="48"/>
                  </a:cubicBezTo>
                  <a:cubicBezTo>
                    <a:pt x="97" y="22"/>
                    <a:pt x="75" y="0"/>
                    <a:pt x="48" y="0"/>
                  </a:cubicBezTo>
                  <a:close/>
                  <a:moveTo>
                    <a:pt x="72" y="41"/>
                  </a:moveTo>
                  <a:cubicBezTo>
                    <a:pt x="72" y="41"/>
                    <a:pt x="72" y="42"/>
                    <a:pt x="72" y="42"/>
                  </a:cubicBezTo>
                  <a:cubicBezTo>
                    <a:pt x="72" y="58"/>
                    <a:pt x="61" y="75"/>
                    <a:pt x="39" y="75"/>
                  </a:cubicBezTo>
                  <a:cubicBezTo>
                    <a:pt x="33" y="75"/>
                    <a:pt x="27" y="73"/>
                    <a:pt x="21" y="70"/>
                  </a:cubicBezTo>
                  <a:cubicBezTo>
                    <a:pt x="22" y="70"/>
                    <a:pt x="23" y="70"/>
                    <a:pt x="24" y="70"/>
                  </a:cubicBezTo>
                  <a:cubicBezTo>
                    <a:pt x="30" y="70"/>
                    <a:pt x="35" y="68"/>
                    <a:pt x="39" y="65"/>
                  </a:cubicBezTo>
                  <a:cubicBezTo>
                    <a:pt x="34" y="65"/>
                    <a:pt x="29" y="62"/>
                    <a:pt x="28" y="57"/>
                  </a:cubicBezTo>
                  <a:cubicBezTo>
                    <a:pt x="29" y="57"/>
                    <a:pt x="29" y="57"/>
                    <a:pt x="30" y="57"/>
                  </a:cubicBezTo>
                  <a:cubicBezTo>
                    <a:pt x="31" y="57"/>
                    <a:pt x="32" y="57"/>
                    <a:pt x="33" y="57"/>
                  </a:cubicBezTo>
                  <a:cubicBezTo>
                    <a:pt x="28" y="56"/>
                    <a:pt x="24" y="51"/>
                    <a:pt x="24" y="46"/>
                  </a:cubicBezTo>
                  <a:cubicBezTo>
                    <a:pt x="24" y="46"/>
                    <a:pt x="24" y="45"/>
                    <a:pt x="24" y="45"/>
                  </a:cubicBezTo>
                  <a:cubicBezTo>
                    <a:pt x="25" y="46"/>
                    <a:pt x="27" y="47"/>
                    <a:pt x="29" y="47"/>
                  </a:cubicBezTo>
                  <a:cubicBezTo>
                    <a:pt x="26" y="45"/>
                    <a:pt x="24" y="41"/>
                    <a:pt x="24" y="37"/>
                  </a:cubicBezTo>
                  <a:cubicBezTo>
                    <a:pt x="24" y="35"/>
                    <a:pt x="24" y="33"/>
                    <a:pt x="25" y="31"/>
                  </a:cubicBezTo>
                  <a:cubicBezTo>
                    <a:pt x="31" y="38"/>
                    <a:pt x="40" y="43"/>
                    <a:pt x="49" y="44"/>
                  </a:cubicBezTo>
                  <a:cubicBezTo>
                    <a:pt x="49" y="43"/>
                    <a:pt x="49" y="42"/>
                    <a:pt x="49" y="41"/>
                  </a:cubicBezTo>
                  <a:cubicBezTo>
                    <a:pt x="49" y="34"/>
                    <a:pt x="54" y="29"/>
                    <a:pt x="61" y="29"/>
                  </a:cubicBezTo>
                  <a:cubicBezTo>
                    <a:pt x="64" y="29"/>
                    <a:pt x="67" y="31"/>
                    <a:pt x="69" y="33"/>
                  </a:cubicBezTo>
                  <a:cubicBezTo>
                    <a:pt x="72" y="32"/>
                    <a:pt x="74" y="31"/>
                    <a:pt x="76" y="30"/>
                  </a:cubicBezTo>
                  <a:cubicBezTo>
                    <a:pt x="76" y="33"/>
                    <a:pt x="74" y="35"/>
                    <a:pt x="71" y="37"/>
                  </a:cubicBezTo>
                  <a:cubicBezTo>
                    <a:pt x="74" y="36"/>
                    <a:pt x="76" y="36"/>
                    <a:pt x="78" y="35"/>
                  </a:cubicBezTo>
                  <a:cubicBezTo>
                    <a:pt x="76" y="37"/>
                    <a:pt x="75" y="39"/>
                    <a:pt x="72" y="41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id-ID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1" name="Freeform 11"/>
            <p:cNvSpPr/>
            <p:nvPr/>
          </p:nvSpPr>
          <p:spPr>
            <a:xfrm>
              <a:off x="1541160" y="4789080"/>
              <a:ext cx="295560" cy="302040"/>
            </a:xfrm>
            <a:custGeom>
              <a:avLst/>
              <a:gdLst>
                <a:gd name="textAreaLeft" fmla="*/ 0 w 295560"/>
                <a:gd name="textAreaRight" fmla="*/ 295920 w 295560"/>
                <a:gd name="textAreaTop" fmla="*/ 0 h 302040"/>
                <a:gd name="textAreaBottom" fmla="*/ 302400 h 302040"/>
              </a:gdLst>
              <a:ahLst/>
              <a:rect l="textAreaLeft" t="textAreaTop" r="textAreaRight" b="textAreaBottom"/>
              <a:pathLst>
                <a:path w="95" h="95">
                  <a:moveTo>
                    <a:pt x="88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92"/>
                    <a:pt x="3" y="95"/>
                    <a:pt x="7" y="95"/>
                  </a:cubicBezTo>
                  <a:cubicBezTo>
                    <a:pt x="88" y="95"/>
                    <a:pt x="88" y="95"/>
                    <a:pt x="88" y="95"/>
                  </a:cubicBezTo>
                  <a:cubicBezTo>
                    <a:pt x="92" y="95"/>
                    <a:pt x="95" y="92"/>
                    <a:pt x="95" y="88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3"/>
                    <a:pt x="92" y="0"/>
                    <a:pt x="88" y="0"/>
                  </a:cubicBezTo>
                  <a:close/>
                  <a:moveTo>
                    <a:pt x="29" y="79"/>
                  </a:moveTo>
                  <a:cubicBezTo>
                    <a:pt x="15" y="79"/>
                    <a:pt x="15" y="79"/>
                    <a:pt x="15" y="79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79"/>
                  </a:lnTo>
                  <a:close/>
                  <a:moveTo>
                    <a:pt x="22" y="31"/>
                  </a:moveTo>
                  <a:cubicBezTo>
                    <a:pt x="22" y="31"/>
                    <a:pt x="22" y="31"/>
                    <a:pt x="22" y="31"/>
                  </a:cubicBezTo>
                  <a:cubicBezTo>
                    <a:pt x="17" y="31"/>
                    <a:pt x="14" y="27"/>
                    <a:pt x="14" y="23"/>
                  </a:cubicBezTo>
                  <a:cubicBezTo>
                    <a:pt x="14" y="19"/>
                    <a:pt x="17" y="16"/>
                    <a:pt x="22" y="16"/>
                  </a:cubicBezTo>
                  <a:cubicBezTo>
                    <a:pt x="27" y="16"/>
                    <a:pt x="30" y="19"/>
                    <a:pt x="30" y="23"/>
                  </a:cubicBezTo>
                  <a:cubicBezTo>
                    <a:pt x="30" y="27"/>
                    <a:pt x="27" y="31"/>
                    <a:pt x="22" y="31"/>
                  </a:cubicBezTo>
                  <a:close/>
                  <a:moveTo>
                    <a:pt x="80" y="79"/>
                  </a:moveTo>
                  <a:cubicBezTo>
                    <a:pt x="66" y="79"/>
                    <a:pt x="66" y="79"/>
                    <a:pt x="66" y="79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66" y="51"/>
                    <a:pt x="64" y="47"/>
                    <a:pt x="59" y="47"/>
                  </a:cubicBezTo>
                  <a:cubicBezTo>
                    <a:pt x="55" y="47"/>
                    <a:pt x="53" y="49"/>
                    <a:pt x="52" y="52"/>
                  </a:cubicBezTo>
                  <a:cubicBezTo>
                    <a:pt x="51" y="53"/>
                    <a:pt x="51" y="54"/>
                    <a:pt x="51" y="55"/>
                  </a:cubicBezTo>
                  <a:cubicBezTo>
                    <a:pt x="51" y="79"/>
                    <a:pt x="51" y="79"/>
                    <a:pt x="51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7" y="40"/>
                    <a:pt x="37" y="36"/>
                  </a:cubicBezTo>
                  <a:cubicBezTo>
                    <a:pt x="51" y="36"/>
                    <a:pt x="51" y="36"/>
                    <a:pt x="51" y="36"/>
                  </a:cubicBezTo>
                  <a:cubicBezTo>
                    <a:pt x="51" y="42"/>
                    <a:pt x="51" y="42"/>
                    <a:pt x="51" y="42"/>
                  </a:cubicBezTo>
                  <a:cubicBezTo>
                    <a:pt x="53" y="40"/>
                    <a:pt x="56" y="35"/>
                    <a:pt x="64" y="35"/>
                  </a:cubicBezTo>
                  <a:cubicBezTo>
                    <a:pt x="73" y="35"/>
                    <a:pt x="80" y="41"/>
                    <a:pt x="80" y="55"/>
                  </a:cubicBezTo>
                  <a:lnTo>
                    <a:pt x="80" y="79"/>
                  </a:lnTo>
                  <a:close/>
                  <a:moveTo>
                    <a:pt x="51" y="43"/>
                  </a:moveTo>
                  <a:cubicBezTo>
                    <a:pt x="51" y="43"/>
                    <a:pt x="51" y="42"/>
                    <a:pt x="51" y="42"/>
                  </a:cubicBezTo>
                  <a:cubicBezTo>
                    <a:pt x="51" y="43"/>
                    <a:pt x="51" y="43"/>
                    <a:pt x="51" y="43"/>
                  </a:cubicBezTo>
                  <a:close/>
                  <a:moveTo>
                    <a:pt x="51" y="43"/>
                  </a:moveTo>
                  <a:cubicBezTo>
                    <a:pt x="51" y="43"/>
                    <a:pt x="51" y="43"/>
                    <a:pt x="51" y="43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id-ID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2" name="Rounded Rectangle 1"/>
          <p:cNvSpPr/>
          <p:nvPr/>
        </p:nvSpPr>
        <p:spPr>
          <a:xfrm>
            <a:off x="583920" y="3039840"/>
            <a:ext cx="806400" cy="75240"/>
          </a:xfrm>
          <a:prstGeom prst="roundRect">
            <a:avLst>
              <a:gd name="adj" fmla="val 50000"/>
            </a:avLst>
          </a:prstGeom>
          <a:solidFill>
            <a:srgbClr val="f68a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8640" bIns="86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id-ID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3" name="Picture 23" descr=""/>
          <p:cNvPicPr/>
          <p:nvPr/>
        </p:nvPicPr>
        <p:blipFill>
          <a:blip r:embed="rId3"/>
          <a:stretch/>
        </p:blipFill>
        <p:spPr>
          <a:xfrm>
            <a:off x="465480" y="1503000"/>
            <a:ext cx="2742840" cy="7156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4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1"/>
          <p:cNvSpPr/>
          <p:nvPr/>
        </p:nvSpPr>
        <p:spPr>
          <a:xfrm>
            <a:off x="609480" y="274320"/>
            <a:ext cx="109724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800" spc="-1" strike="noStrike">
                <a:solidFill>
                  <a:schemeClr val="dk1"/>
                </a:solidFill>
                <a:latin typeface="Calibri Light"/>
              </a:rPr>
              <a:t>AI Is Rewriting the Rules of Software Development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Box 3"/>
          <p:cNvSpPr/>
          <p:nvPr/>
        </p:nvSpPr>
        <p:spPr>
          <a:xfrm>
            <a:off x="609480" y="3200400"/>
            <a:ext cx="10972440" cy="164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Aft>
                <a:spcPts val="1199"/>
              </a:spcAft>
            </a:pPr>
            <a:r>
              <a:rPr b="1" lang="en-US" sz="4800" spc="-1" strike="noStrike">
                <a:latin typeface="Calibri"/>
                <a:solidFill>
                  <a:srgbClr val="000000"/>
                </a:solidFill>
              </a:rPr>
              <a:t>$37B Enterprise AI Spend in 2025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latin typeface="Calibri"/>
                <a:solidFill>
                  <a:srgbClr val="000000"/>
                </a:solidFill>
              </a:rPr>
              <a:t>3.2x year-over-year growth · 42.3% CAGR through 2033 · $15.7B market projection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600" spc="-1" strike="noStrike">
                <a:latin typeface="Calibri"/>
                <a:solidFill>
                  <a:srgbClr val="000000"/>
                </a:solidFill>
              </a:rPr>
              <a:t>AI is now core infrastructure for competitive software teams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/>
          </p:nvPr>
        </p:nvSpPr>
        <p:spPr>
          <a:xfrm>
            <a:off x="7258680" y="2337840"/>
            <a:ext cx="4448160" cy="111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34002"/>
          </a:bodyPr>
          <a:p>
            <a:pPr indent="0" defTabSz="91440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rgbClr val="FFFFFF"/>
                </a:solidFill>
                <a:latin typeface="Proxima Nova"/>
              </a:rPr>
              <a:t>GitHub Copilot users: 126% more projects/week  |  91% of orgs adopted at least one AI tool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rgbClr val="FFFFFF"/>
                </a:solidFill>
                <a:latin typeface="Proxima Nova"/>
              </a:rPr>
              <a:t>Sources: Stack Overflow 2025, GitHub, Second Talent 2025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TextBox 4"/>
          <p:cNvSpPr/>
          <p:nvPr/>
        </p:nvSpPr>
        <p:spPr>
          <a:xfrm>
            <a:off x="7258680" y="274320"/>
            <a:ext cx="444816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 Light"/>
              </a:rPr>
              <a:t>Trend 1: AI Coding Assistants Reach Critical Mass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8" name="Chart 5"/>
          <p:cNvGraphicFramePr/>
          <p:nvPr/>
        </p:nvGraphicFramePr>
        <p:xfrm>
          <a:off x="7258680" y="3975480"/>
          <a:ext cx="44481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9" name="Chart 6"/>
          <p:cNvGraphicFramePr/>
          <p:nvPr/>
        </p:nvGraphicFramePr>
        <p:xfrm>
          <a:off x="7258680" y="6901560"/>
          <a:ext cx="44481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4"/>
          <p:cNvSpPr/>
          <p:nvPr/>
        </p:nvSpPr>
        <p:spPr>
          <a:xfrm>
            <a:off x="7258680" y="274320"/>
            <a:ext cx="444816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 Light"/>
              </a:rPr>
              <a:t>Trend 2: From Copilots to Autonomous AI Agents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Rectangle 3"/>
          <p:cNvSpPr/>
          <p:nvPr/>
        </p:nvSpPr>
        <p:spPr>
          <a:xfrm>
            <a:off x="7480800" y="2636640"/>
            <a:ext cx="974880" cy="273960"/>
          </a:xfrm>
          <a:prstGeom prst="rect">
            <a:avLst/>
          </a:prstGeom>
          <a:solidFill>
            <a:srgbClr val="4a90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Prototype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Box 4"/>
          <p:cNvSpPr/>
          <p:nvPr/>
        </p:nvSpPr>
        <p:spPr>
          <a:xfrm>
            <a:off x="7745760" y="2748600"/>
            <a:ext cx="4446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+8%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Rectangle 5"/>
          <p:cNvSpPr/>
          <p:nvPr/>
        </p:nvSpPr>
        <p:spPr>
          <a:xfrm>
            <a:off x="8103600" y="2979360"/>
            <a:ext cx="974880" cy="273960"/>
          </a:xfrm>
          <a:prstGeom prst="rect">
            <a:avLst/>
          </a:prstGeom>
          <a:solidFill>
            <a:srgbClr val="4a90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Code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Box 6"/>
          <p:cNvSpPr/>
          <p:nvPr/>
        </p:nvSpPr>
        <p:spPr>
          <a:xfrm>
            <a:off x="8329680" y="3091680"/>
            <a:ext cx="522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+12%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Rectangle 7"/>
          <p:cNvSpPr/>
          <p:nvPr/>
        </p:nvSpPr>
        <p:spPr>
          <a:xfrm>
            <a:off x="8726400" y="3322440"/>
            <a:ext cx="974880" cy="273960"/>
          </a:xfrm>
          <a:prstGeom prst="rect">
            <a:avLst/>
          </a:prstGeom>
          <a:solidFill>
            <a:srgbClr val="4a90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Review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Box 8"/>
          <p:cNvSpPr/>
          <p:nvPr/>
        </p:nvSpPr>
        <p:spPr>
          <a:xfrm>
            <a:off x="8952480" y="3434400"/>
            <a:ext cx="522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+15%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Rectangle 9"/>
          <p:cNvSpPr/>
          <p:nvPr/>
        </p:nvSpPr>
        <p:spPr>
          <a:xfrm>
            <a:off x="9349200" y="3665160"/>
            <a:ext cx="974880" cy="273960"/>
          </a:xfrm>
          <a:prstGeom prst="rect">
            <a:avLst/>
          </a:prstGeom>
          <a:solidFill>
            <a:srgbClr val="4a90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Test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Box 10"/>
          <p:cNvSpPr/>
          <p:nvPr/>
        </p:nvSpPr>
        <p:spPr>
          <a:xfrm>
            <a:off x="9575280" y="3777480"/>
            <a:ext cx="522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+18%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Rectangle 11"/>
          <p:cNvSpPr/>
          <p:nvPr/>
        </p:nvSpPr>
        <p:spPr>
          <a:xfrm>
            <a:off x="9972000" y="4008240"/>
            <a:ext cx="974880" cy="273960"/>
          </a:xfrm>
          <a:prstGeom prst="rect">
            <a:avLst/>
          </a:prstGeom>
          <a:solidFill>
            <a:srgbClr val="4a90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Deploy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Box 12"/>
          <p:cNvSpPr/>
          <p:nvPr/>
        </p:nvSpPr>
        <p:spPr>
          <a:xfrm>
            <a:off x="10198080" y="4120200"/>
            <a:ext cx="522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+22%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Rectangle 13"/>
          <p:cNvSpPr/>
          <p:nvPr/>
        </p:nvSpPr>
        <p:spPr>
          <a:xfrm>
            <a:off x="10594800" y="4350960"/>
            <a:ext cx="974880" cy="273960"/>
          </a:xfrm>
          <a:prstGeom prst="rect">
            <a:avLst/>
          </a:prstGeom>
          <a:solidFill>
            <a:srgbClr val="4a90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Monitor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TextBox 14"/>
          <p:cNvSpPr/>
          <p:nvPr/>
        </p:nvSpPr>
        <p:spPr>
          <a:xfrm>
            <a:off x="10820880" y="4463280"/>
            <a:ext cx="522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+25%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Box 15"/>
          <p:cNvSpPr/>
          <p:nvPr/>
        </p:nvSpPr>
        <p:spPr>
          <a:xfrm>
            <a:off x="7480800" y="4806000"/>
            <a:ext cx="4003200" cy="21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Aft>
                <a:spcPts val="799"/>
              </a:spcAf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AI Coding Spend Surge: $550M → $4B in 2025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Development teams report 15%+ velocity gains with AI agents assisting across the full SDLC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Leading AI agents solve 70%+ of issues on SWE-bench Verified (up from 33% in Aug 2024)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Google: 25% of production code now AI-assisted, focus on engineering velocity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1"/>
          <p:cNvSpPr/>
          <p:nvPr/>
        </p:nvSpPr>
        <p:spPr>
          <a:xfrm>
            <a:off x="609480" y="274320"/>
            <a:ext cx="109724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800" spc="-1" strike="noStrike">
                <a:solidFill>
                  <a:schemeClr val="dk1"/>
                </a:solidFill>
                <a:latin typeface="Calibri Light"/>
              </a:rPr>
              <a:t>Trend 3: The Trust Gap and Quality Imperative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Box 2"/>
          <p:cNvSpPr/>
          <p:nvPr/>
        </p:nvSpPr>
        <p:spPr>
          <a:xfrm>
            <a:off x="609480" y="1714680"/>
            <a:ext cx="10972440" cy="11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66% of developers report AI solutions are 'almost right but not quite' • Positive sentiment dropped from 70% (2024) to 60% (2025)</a:t>
            </a:r>
            <a:br>
              <a:rPr sz="1600"/>
            </a:b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• 76% experience frequent AI hallucinations • AI-assisted code review: 35% higher quality improvements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6" name="Chart 3"/>
          <p:cNvGraphicFramePr/>
          <p:nvPr/>
        </p:nvGraphicFramePr>
        <p:xfrm>
          <a:off x="609480" y="3072600"/>
          <a:ext cx="10972440" cy="3099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/>
          </p:nvPr>
        </p:nvSpPr>
        <p:spPr>
          <a:xfrm>
            <a:off x="7258680" y="2337840"/>
            <a:ext cx="4448160" cy="111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4751" lnSpcReduction="20000"/>
          </a:bodyPr>
          <a:p>
            <a:pPr indent="0" defTabSz="91440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rgbClr val="FFFFFF"/>
                </a:solidFill>
                <a:latin typeface="Proxima Nova"/>
              </a:rPr>
              <a:t>Strategic Outlook: Investing in AI-Powered Development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rgbClr val="FFFFFF"/>
                </a:solidFill>
                <a:latin typeface="Proxima Nova"/>
              </a:rPr>
              <a:t>AI market growth: $24B (2024) → $61B (2029) at 20% CAGR | Microsoft: 3.5x average ROI (top performers 8x) | CIOs prioritizing AI-integrated development as #1 investment | Governance + model oversight = competitive advantage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rgbClr val="FFFFFF"/>
                </a:solidFill>
                <a:latin typeface="Proxima Nova"/>
              </a:rPr>
              <a:t>www.PowerSlides.com | Translating Complex Data into Clear, Actionable Insights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graphicFrame>
        <p:nvGraphicFramePr>
          <p:cNvPr id="48" name="Chart 4"/>
          <p:cNvGraphicFramePr/>
          <p:nvPr/>
        </p:nvGraphicFramePr>
        <p:xfrm>
          <a:off x="7258680" y="3975480"/>
          <a:ext cx="44481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599">
      <a:dk1>
        <a:srgbClr val="000000"/>
      </a:dk1>
      <a:lt1>
        <a:srgbClr val="ffffff"/>
      </a:lt1>
      <a:dk2>
        <a:srgbClr val="2d3847"/>
      </a:dk2>
      <a:lt2>
        <a:srgbClr val="e7e6e6"/>
      </a:lt2>
      <a:accent1>
        <a:srgbClr val="9a031e"/>
      </a:accent1>
      <a:accent2>
        <a:srgbClr val="5f0f40"/>
      </a:accent2>
      <a:accent3>
        <a:srgbClr val="e36414"/>
      </a:accent3>
      <a:accent4>
        <a:srgbClr val="ff9f1c"/>
      </a:accent4>
      <a:accent5>
        <a:srgbClr val="335c67"/>
      </a:accent5>
      <a:accent6>
        <a:srgbClr val="89b0ae"/>
      </a:accent6>
      <a:hlink>
        <a:srgbClr val="f68a1f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ustom 599">
      <a:dk1>
        <a:srgbClr val="000000"/>
      </a:dk1>
      <a:lt1>
        <a:srgbClr val="ffffff"/>
      </a:lt1>
      <a:dk2>
        <a:srgbClr val="2d3847"/>
      </a:dk2>
      <a:lt2>
        <a:srgbClr val="e7e6e6"/>
      </a:lt2>
      <a:accent1>
        <a:srgbClr val="9a031e"/>
      </a:accent1>
      <a:accent2>
        <a:srgbClr val="5f0f40"/>
      </a:accent2>
      <a:accent3>
        <a:srgbClr val="e36414"/>
      </a:accent3>
      <a:accent4>
        <a:srgbClr val="ff9f1c"/>
      </a:accent4>
      <a:accent5>
        <a:srgbClr val="335c67"/>
      </a:accent5>
      <a:accent6>
        <a:srgbClr val="89b0ae"/>
      </a:accent6>
      <a:hlink>
        <a:srgbClr val="f68a1f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Custom 599">
      <a:dk1>
        <a:srgbClr val="000000"/>
      </a:dk1>
      <a:lt1>
        <a:srgbClr val="ffffff"/>
      </a:lt1>
      <a:dk2>
        <a:srgbClr val="2d3847"/>
      </a:dk2>
      <a:lt2>
        <a:srgbClr val="e7e6e6"/>
      </a:lt2>
      <a:accent1>
        <a:srgbClr val="9a031e"/>
      </a:accent1>
      <a:accent2>
        <a:srgbClr val="5f0f40"/>
      </a:accent2>
      <a:accent3>
        <a:srgbClr val="e36414"/>
      </a:accent3>
      <a:accent4>
        <a:srgbClr val="ff9f1c"/>
      </a:accent4>
      <a:accent5>
        <a:srgbClr val="335c67"/>
      </a:accent5>
      <a:accent6>
        <a:srgbClr val="89b0ae"/>
      </a:accent6>
      <a:hlink>
        <a:srgbClr val="f68a1f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1674</TotalTime>
  <Application>LibreOffice/24.2.7.2$Linux_X86_64 LibreOffice_project/420$Build-2</Application>
  <AppVersion>15.0000</AppVersion>
  <Words>1336</Words>
  <Paragraphs>411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2020-09-29T07:20:24Z</dcterms:created>
  <dc:creator>RRG Y</dc:creator>
  <dc:description/>
  <dc:language>en-US</dc:language>
  <cp:lastModifiedBy>HP</cp:lastModifiedBy>
  <dcterms:modified xsi:type="dcterms:W3CDTF">2021-12-12T09:22:44Z</dcterms:modified>
  <cp:revision>218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3</vt:r8>
  </property>
  <property fmtid="{D5CDD505-2E9C-101B-9397-08002B2CF9AE}" pid="3" name="PresentationFormat">
    <vt:lpwstr>Widescreen</vt:lpwstr>
  </property>
  <property fmtid="{D5CDD505-2E9C-101B-9397-08002B2CF9AE}" pid="4" name="Slides">
    <vt:r8>10</vt:r8>
  </property>
</Properties>
</file>