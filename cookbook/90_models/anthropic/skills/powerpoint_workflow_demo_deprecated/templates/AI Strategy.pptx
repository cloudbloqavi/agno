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Lato Black" panose="020F0502020204030203" pitchFamily="34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F0E92C-DC4C-4440-A556-2BC7BFF319D1}">
  <a:tblStyle styleId="{92F0E92C-DC4C-4440-A556-2BC7BFF319D1}" styleName="Table_0">
    <a:wholeTbl>
      <a:tcTxStyle b="off" i="off">
        <a:font>
          <a:latin typeface="Lato"/>
          <a:ea typeface="Lato"/>
          <a:cs typeface="Lato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E7F0"/>
          </a:solidFill>
        </a:fill>
      </a:tcStyle>
    </a:wholeTbl>
    <a:band1H>
      <a:tcTxStyle/>
      <a:tcStyle>
        <a:tcBdr/>
        <a:fill>
          <a:solidFill>
            <a:srgbClr val="D5CB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5CBE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Lato"/>
          <a:ea typeface="Lato"/>
          <a:cs typeface="Lato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Lato"/>
          <a:ea typeface="Lato"/>
          <a:cs typeface="Lato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Lato"/>
          <a:ea typeface="Lato"/>
          <a:cs typeface="Lato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Lato"/>
          <a:ea typeface="Lato"/>
          <a:cs typeface="Lato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34" autoAdjust="0"/>
  </p:normalViewPr>
  <p:slideViewPr>
    <p:cSldViewPr snapToGrid="0">
      <p:cViewPr varScale="1">
        <p:scale>
          <a:sx n="102" d="100"/>
          <a:sy n="102" d="100"/>
        </p:scale>
        <p:origin x="918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Hussain" userId="2746bba315b6e413" providerId="LiveId" clId="{4EBEA89B-E272-4921-8336-E6EB1079E91F}"/>
    <pc:docChg chg="undo custSel modSld modMainMaster">
      <pc:chgData name="Syed Hussain" userId="2746bba315b6e413" providerId="LiveId" clId="{4EBEA89B-E272-4921-8336-E6EB1079E91F}" dt="2025-08-26T17:55:44.140" v="239" actId="255"/>
      <pc:docMkLst>
        <pc:docMk/>
      </pc:docMkLst>
      <pc:sldChg chg="modSp mod">
        <pc:chgData name="Syed Hussain" userId="2746bba315b6e413" providerId="LiveId" clId="{4EBEA89B-E272-4921-8336-E6EB1079E91F}" dt="2025-08-26T17:47:28.604" v="178" actId="208"/>
        <pc:sldMkLst>
          <pc:docMk/>
          <pc:sldMk cId="0" sldId="256"/>
        </pc:sldMkLst>
      </pc:sldChg>
      <pc:sldChg chg="modSp mod">
        <pc:chgData name="Syed Hussain" userId="2746bba315b6e413" providerId="LiveId" clId="{4EBEA89B-E272-4921-8336-E6EB1079E91F}" dt="2025-08-26T17:47:32.227" v="179" actId="208"/>
        <pc:sldMkLst>
          <pc:docMk/>
          <pc:sldMk cId="0" sldId="257"/>
        </pc:sldMkLst>
      </pc:sldChg>
      <pc:sldChg chg="modSp mod">
        <pc:chgData name="Syed Hussain" userId="2746bba315b6e413" providerId="LiveId" clId="{4EBEA89B-E272-4921-8336-E6EB1079E91F}" dt="2025-08-26T17:47:36.325" v="180" actId="208"/>
        <pc:sldMkLst>
          <pc:docMk/>
          <pc:sldMk cId="0" sldId="258"/>
        </pc:sldMkLst>
      </pc:sldChg>
      <pc:sldChg chg="modSp mod">
        <pc:chgData name="Syed Hussain" userId="2746bba315b6e413" providerId="LiveId" clId="{4EBEA89B-E272-4921-8336-E6EB1079E91F}" dt="2025-08-26T17:47:46.080" v="181" actId="208"/>
        <pc:sldMkLst>
          <pc:docMk/>
          <pc:sldMk cId="0" sldId="259"/>
        </pc:sldMkLst>
      </pc:sldChg>
      <pc:sldChg chg="modSp mod">
        <pc:chgData name="Syed Hussain" userId="2746bba315b6e413" providerId="LiveId" clId="{4EBEA89B-E272-4921-8336-E6EB1079E91F}" dt="2025-08-26T17:47:51.376" v="182" actId="208"/>
        <pc:sldMkLst>
          <pc:docMk/>
          <pc:sldMk cId="0" sldId="260"/>
        </pc:sldMkLst>
      </pc:sldChg>
      <pc:sldChg chg="addSp modSp mod">
        <pc:chgData name="Syed Hussain" userId="2746bba315b6e413" providerId="LiveId" clId="{4EBEA89B-E272-4921-8336-E6EB1079E91F}" dt="2025-08-26T17:47:55.155" v="183" actId="208"/>
        <pc:sldMkLst>
          <pc:docMk/>
          <pc:sldMk cId="0" sldId="261"/>
        </pc:sldMkLst>
      </pc:sldChg>
      <pc:sldChg chg="modSp mod">
        <pc:chgData name="Syed Hussain" userId="2746bba315b6e413" providerId="LiveId" clId="{4EBEA89B-E272-4921-8336-E6EB1079E91F}" dt="2025-08-26T17:48:02.412" v="184" actId="208"/>
        <pc:sldMkLst>
          <pc:docMk/>
          <pc:sldMk cId="0" sldId="262"/>
        </pc:sldMkLst>
      </pc:sldChg>
      <pc:sldChg chg="modSp mod">
        <pc:chgData name="Syed Hussain" userId="2746bba315b6e413" providerId="LiveId" clId="{4EBEA89B-E272-4921-8336-E6EB1079E91F}" dt="2025-08-26T17:48:05.960" v="185" actId="208"/>
        <pc:sldMkLst>
          <pc:docMk/>
          <pc:sldMk cId="0" sldId="263"/>
        </pc:sldMkLst>
      </pc:sldChg>
      <pc:sldChg chg="modSp mod">
        <pc:chgData name="Syed Hussain" userId="2746bba315b6e413" providerId="LiveId" clId="{4EBEA89B-E272-4921-8336-E6EB1079E91F}" dt="2025-08-26T17:48:10.013" v="186" actId="208"/>
        <pc:sldMkLst>
          <pc:docMk/>
          <pc:sldMk cId="0" sldId="264"/>
        </pc:sldMkLst>
      </pc:sldChg>
      <pc:sldChg chg="modSp mod">
        <pc:chgData name="Syed Hussain" userId="2746bba315b6e413" providerId="LiveId" clId="{4EBEA89B-E272-4921-8336-E6EB1079E91F}" dt="2025-08-26T17:48:14.823" v="187" actId="208"/>
        <pc:sldMkLst>
          <pc:docMk/>
          <pc:sldMk cId="0" sldId="265"/>
        </pc:sldMkLst>
      </pc:sldChg>
      <pc:sldChg chg="delSp modSp mod">
        <pc:chgData name="Syed Hussain" userId="2746bba315b6e413" providerId="LiveId" clId="{4EBEA89B-E272-4921-8336-E6EB1079E91F}" dt="2025-08-26T17:48:20.424" v="188" actId="208"/>
        <pc:sldMkLst>
          <pc:docMk/>
          <pc:sldMk cId="0" sldId="266"/>
        </pc:sldMkLst>
      </pc:sldChg>
      <pc:sldChg chg="modSp mod">
        <pc:chgData name="Syed Hussain" userId="2746bba315b6e413" providerId="LiveId" clId="{4EBEA89B-E272-4921-8336-E6EB1079E91F}" dt="2025-08-26T17:48:24.460" v="189" actId="208"/>
        <pc:sldMkLst>
          <pc:docMk/>
          <pc:sldMk cId="0" sldId="267"/>
        </pc:sldMkLst>
      </pc:sldChg>
      <pc:sldChg chg="modSp mod">
        <pc:chgData name="Syed Hussain" userId="2746bba315b6e413" providerId="LiveId" clId="{4EBEA89B-E272-4921-8336-E6EB1079E91F}" dt="2025-08-26T17:48:28.328" v="190" actId="208"/>
        <pc:sldMkLst>
          <pc:docMk/>
          <pc:sldMk cId="0" sldId="268"/>
        </pc:sldMkLst>
      </pc:sldChg>
      <pc:sldChg chg="modSp mod">
        <pc:chgData name="Syed Hussain" userId="2746bba315b6e413" providerId="LiveId" clId="{4EBEA89B-E272-4921-8336-E6EB1079E91F}" dt="2025-08-26T17:48:33.179" v="191" actId="208"/>
        <pc:sldMkLst>
          <pc:docMk/>
          <pc:sldMk cId="0" sldId="269"/>
        </pc:sldMkLst>
      </pc:sldChg>
      <pc:sldChg chg="modSp mod">
        <pc:chgData name="Syed Hussain" userId="2746bba315b6e413" providerId="LiveId" clId="{4EBEA89B-E272-4921-8336-E6EB1079E91F}" dt="2025-08-26T17:48:40.153" v="192" actId="208"/>
        <pc:sldMkLst>
          <pc:docMk/>
          <pc:sldMk cId="0" sldId="270"/>
        </pc:sldMkLst>
      </pc:sldChg>
      <pc:sldChg chg="modSp mod">
        <pc:chgData name="Syed Hussain" userId="2746bba315b6e413" providerId="LiveId" clId="{4EBEA89B-E272-4921-8336-E6EB1079E91F}" dt="2025-08-26T17:48:44.051" v="193" actId="208"/>
        <pc:sldMkLst>
          <pc:docMk/>
          <pc:sldMk cId="0" sldId="271"/>
        </pc:sldMkLst>
      </pc:sldChg>
      <pc:sldChg chg="modSp mod">
        <pc:chgData name="Syed Hussain" userId="2746bba315b6e413" providerId="LiveId" clId="{4EBEA89B-E272-4921-8336-E6EB1079E91F}" dt="2025-08-26T17:48:48.437" v="194" actId="208"/>
        <pc:sldMkLst>
          <pc:docMk/>
          <pc:sldMk cId="0" sldId="272"/>
        </pc:sldMkLst>
      </pc:sldChg>
      <pc:sldChg chg="modSp mod">
        <pc:chgData name="Syed Hussain" userId="2746bba315b6e413" providerId="LiveId" clId="{4EBEA89B-E272-4921-8336-E6EB1079E91F}" dt="2025-08-26T17:50:23.455" v="238" actId="1036"/>
        <pc:sldMkLst>
          <pc:docMk/>
          <pc:sldMk cId="0" sldId="273"/>
        </pc:sldMkLst>
      </pc:sldChg>
      <pc:sldMasterChg chg="modSp mod">
        <pc:chgData name="Syed Hussain" userId="2746bba315b6e413" providerId="LiveId" clId="{4EBEA89B-E272-4921-8336-E6EB1079E91F}" dt="2025-08-26T17:55:44.140" v="239" actId="255"/>
        <pc:sldMasterMkLst>
          <pc:docMk/>
          <pc:sldMasterMk cId="0" sldId="2147483650"/>
        </pc:sldMasterMkLst>
      </pc:sldMasterChg>
    </pc:docChg>
  </pc:docChgLst>
  <pc:docChgLst>
    <pc:chgData name="Syed Hussain" userId="2746bba315b6e413" providerId="LiveId" clId="{A9392211-1C10-4E0A-A06A-8AD60E1AE030}"/>
    <pc:docChg chg="undo custSel addSld modSld">
      <pc:chgData name="Syed Hussain" userId="2746bba315b6e413" providerId="LiveId" clId="{A9392211-1C10-4E0A-A06A-8AD60E1AE030}" dt="2025-10-04T03:44:36.048" v="34" actId="2711"/>
      <pc:docMkLst>
        <pc:docMk/>
      </pc:docMkLst>
      <pc:sldChg chg="addSp delSp modSp mod">
        <pc:chgData name="Syed Hussain" userId="2746bba315b6e413" providerId="LiveId" clId="{A9392211-1C10-4E0A-A06A-8AD60E1AE030}" dt="2025-10-04T03:39:50.958" v="18" actId="2711"/>
        <pc:sldMkLst>
          <pc:docMk/>
          <pc:sldMk cId="0" sldId="257"/>
        </pc:sldMkLst>
        <pc:spChg chg="mod">
          <ac:chgData name="Syed Hussain" userId="2746bba315b6e413" providerId="LiveId" clId="{A9392211-1C10-4E0A-A06A-8AD60E1AE030}" dt="2025-10-04T03:36:25.090" v="8" actId="207"/>
          <ac:spMkLst>
            <pc:docMk/>
            <pc:sldMk cId="0" sldId="257"/>
            <ac:spMk id="3" creationId="{77B50549-BAE2-3A16-A262-8F1247927E20}"/>
          </ac:spMkLst>
        </pc:spChg>
        <pc:spChg chg="mod">
          <ac:chgData name="Syed Hussain" userId="2746bba315b6e413" providerId="LiveId" clId="{A9392211-1C10-4E0A-A06A-8AD60E1AE030}" dt="2025-10-04T03:38:02.423" v="13" actId="207"/>
          <ac:spMkLst>
            <pc:docMk/>
            <pc:sldMk cId="0" sldId="257"/>
            <ac:spMk id="6" creationId="{DABFB3E0-1897-5A8C-6075-859B611B6274}"/>
          </ac:spMkLst>
        </pc:spChg>
        <pc:spChg chg="mod">
          <ac:chgData name="Syed Hussain" userId="2746bba315b6e413" providerId="LiveId" clId="{A9392211-1C10-4E0A-A06A-8AD60E1AE030}" dt="2025-10-04T03:39:50.958" v="18" actId="2711"/>
          <ac:spMkLst>
            <pc:docMk/>
            <pc:sldMk cId="0" sldId="257"/>
            <ac:spMk id="13" creationId="{48D74EAD-0E9B-68DC-6361-5F6298E72C19}"/>
          </ac:spMkLst>
        </pc:spChg>
        <pc:spChg chg="add mod">
          <ac:chgData name="Syed Hussain" userId="2746bba315b6e413" providerId="LiveId" clId="{A9392211-1C10-4E0A-A06A-8AD60E1AE030}" dt="2025-10-04T03:35:59.144" v="7"/>
          <ac:spMkLst>
            <pc:docMk/>
            <pc:sldMk cId="0" sldId="257"/>
            <ac:spMk id="15" creationId="{3BEA613B-106E-E9C2-4F96-6C8ABCD6FCBF}"/>
          </ac:spMkLst>
        </pc:spChg>
        <pc:spChg chg="mod">
          <ac:chgData name="Syed Hussain" userId="2746bba315b6e413" providerId="LiveId" clId="{A9392211-1C10-4E0A-A06A-8AD60E1AE030}" dt="2025-10-04T03:39:50.958" v="18" actId="2711"/>
          <ac:spMkLst>
            <pc:docMk/>
            <pc:sldMk cId="0" sldId="257"/>
            <ac:spMk id="16" creationId="{2F4F41F8-F707-F297-EC8F-D80764BD437C}"/>
          </ac:spMkLst>
        </pc:spChg>
        <pc:spChg chg="mod">
          <ac:chgData name="Syed Hussain" userId="2746bba315b6e413" providerId="LiveId" clId="{A9392211-1C10-4E0A-A06A-8AD60E1AE030}" dt="2025-10-04T03:39:50.958" v="18" actId="2711"/>
          <ac:spMkLst>
            <pc:docMk/>
            <pc:sldMk cId="0" sldId="257"/>
            <ac:spMk id="17" creationId="{B6A8547C-1D7F-477D-F3F6-2A86BDC606F4}"/>
          </ac:spMkLst>
        </pc:spChg>
        <pc:spChg chg="mod">
          <ac:chgData name="Syed Hussain" userId="2746bba315b6e413" providerId="LiveId" clId="{A9392211-1C10-4E0A-A06A-8AD60E1AE030}" dt="2025-10-04T03:39:50.958" v="18" actId="2711"/>
          <ac:spMkLst>
            <pc:docMk/>
            <pc:sldMk cId="0" sldId="257"/>
            <ac:spMk id="20" creationId="{891D5714-7051-14BD-B335-3983A8FDC403}"/>
          </ac:spMkLst>
        </pc:spChg>
        <pc:spChg chg="add mod">
          <ac:chgData name="Syed Hussain" userId="2746bba315b6e413" providerId="LiveId" clId="{A9392211-1C10-4E0A-A06A-8AD60E1AE030}" dt="2025-10-04T03:35:59.144" v="7"/>
          <ac:spMkLst>
            <pc:docMk/>
            <pc:sldMk cId="0" sldId="257"/>
            <ac:spMk id="21" creationId="{6CD92686-72E9-5377-9F0B-AEAA4ABC5378}"/>
          </ac:spMkLst>
        </pc:spChg>
        <pc:spChg chg="mod">
          <ac:chgData name="Syed Hussain" userId="2746bba315b6e413" providerId="LiveId" clId="{A9392211-1C10-4E0A-A06A-8AD60E1AE030}" dt="2025-10-04T03:39:50.958" v="18" actId="2711"/>
          <ac:spMkLst>
            <pc:docMk/>
            <pc:sldMk cId="0" sldId="257"/>
            <ac:spMk id="22" creationId="{DBA7ABA3-AEB9-D43B-58BA-2B656D7EC03C}"/>
          </ac:spMkLst>
        </pc:spChg>
        <pc:spChg chg="mod">
          <ac:chgData name="Syed Hussain" userId="2746bba315b6e413" providerId="LiveId" clId="{A9392211-1C10-4E0A-A06A-8AD60E1AE030}" dt="2025-10-04T03:39:50.958" v="18" actId="2711"/>
          <ac:spMkLst>
            <pc:docMk/>
            <pc:sldMk cId="0" sldId="257"/>
            <ac:spMk id="24" creationId="{51CE0C94-CD97-2E1E-C756-BAB427D882D9}"/>
          </ac:spMkLst>
        </pc:spChg>
        <pc:spChg chg="mod">
          <ac:chgData name="Syed Hussain" userId="2746bba315b6e413" providerId="LiveId" clId="{A9392211-1C10-4E0A-A06A-8AD60E1AE030}" dt="2025-10-04T03:38:25.348" v="14" actId="113"/>
          <ac:spMkLst>
            <pc:docMk/>
            <pc:sldMk cId="0" sldId="257"/>
            <ac:spMk id="25" creationId="{14566F0D-BF42-3B1F-81AA-58364E82CAD4}"/>
          </ac:spMkLst>
        </pc:spChg>
        <pc:spChg chg="mod">
          <ac:chgData name="Syed Hussain" userId="2746bba315b6e413" providerId="LiveId" clId="{A9392211-1C10-4E0A-A06A-8AD60E1AE030}" dt="2025-10-04T03:39:50.958" v="18" actId="2711"/>
          <ac:spMkLst>
            <pc:docMk/>
            <pc:sldMk cId="0" sldId="257"/>
            <ac:spMk id="30" creationId="{F7202691-CF95-9239-1C85-42817E3577F6}"/>
          </ac:spMkLst>
        </pc:spChg>
        <pc:spChg chg="mod">
          <ac:chgData name="Syed Hussain" userId="2746bba315b6e413" providerId="LiveId" clId="{A9392211-1C10-4E0A-A06A-8AD60E1AE030}" dt="2025-10-04T03:39:50.958" v="18" actId="2711"/>
          <ac:spMkLst>
            <pc:docMk/>
            <pc:sldMk cId="0" sldId="257"/>
            <ac:spMk id="41" creationId="{FB54320B-D6EE-DE52-5311-C4789D4D772E}"/>
          </ac:spMkLst>
        </pc:spChg>
        <pc:spChg chg="mod">
          <ac:chgData name="Syed Hussain" userId="2746bba315b6e413" providerId="LiveId" clId="{A9392211-1C10-4E0A-A06A-8AD60E1AE030}" dt="2025-10-04T03:39:50.958" v="18" actId="2711"/>
          <ac:spMkLst>
            <pc:docMk/>
            <pc:sldMk cId="0" sldId="257"/>
            <ac:spMk id="48" creationId="{5FD15893-2FF2-F406-582F-756468863592}"/>
          </ac:spMkLst>
        </pc:spChg>
        <pc:spChg chg="mod">
          <ac:chgData name="Syed Hussain" userId="2746bba315b6e413" providerId="LiveId" clId="{A9392211-1C10-4E0A-A06A-8AD60E1AE030}" dt="2025-10-04T03:39:38.317" v="17" actId="2711"/>
          <ac:spMkLst>
            <pc:docMk/>
            <pc:sldMk cId="0" sldId="257"/>
            <ac:spMk id="49" creationId="{EE1E37A3-7332-A958-292B-E88174D1B28C}"/>
          </ac:spMkLst>
        </pc:spChg>
        <pc:spChg chg="add mod">
          <ac:chgData name="Syed Hussain" userId="2746bba315b6e413" providerId="LiveId" clId="{A9392211-1C10-4E0A-A06A-8AD60E1AE030}" dt="2025-10-04T03:38:59.615" v="15" actId="2711"/>
          <ac:spMkLst>
            <pc:docMk/>
            <pc:sldMk cId="0" sldId="257"/>
            <ac:spMk id="52" creationId="{F2BAF85A-3038-6346-34CE-D2759FBFC49D}"/>
          </ac:spMkLst>
        </pc:spChg>
        <pc:spChg chg="mod">
          <ac:chgData name="Syed Hussain" userId="2746bba315b6e413" providerId="LiveId" clId="{A9392211-1C10-4E0A-A06A-8AD60E1AE030}" dt="2025-10-04T03:39:38.317" v="17" actId="2711"/>
          <ac:spMkLst>
            <pc:docMk/>
            <pc:sldMk cId="0" sldId="257"/>
            <ac:spMk id="54" creationId="{74471B19-5346-169A-11E1-0C4BFB57CFEA}"/>
          </ac:spMkLst>
        </pc:spChg>
        <pc:spChg chg="add mod">
          <ac:chgData name="Syed Hussain" userId="2746bba315b6e413" providerId="LiveId" clId="{A9392211-1C10-4E0A-A06A-8AD60E1AE030}" dt="2025-10-04T03:35:59.144" v="7"/>
          <ac:spMkLst>
            <pc:docMk/>
            <pc:sldMk cId="0" sldId="257"/>
            <ac:spMk id="55" creationId="{7350AC0C-B737-CD2C-523F-82A9B01D1628}"/>
          </ac:spMkLst>
        </pc:spChg>
        <pc:spChg chg="mod">
          <ac:chgData name="Syed Hussain" userId="2746bba315b6e413" providerId="LiveId" clId="{A9392211-1C10-4E0A-A06A-8AD60E1AE030}" dt="2025-10-04T03:38:59.615" v="15" actId="2711"/>
          <ac:spMkLst>
            <pc:docMk/>
            <pc:sldMk cId="0" sldId="257"/>
            <ac:spMk id="57" creationId="{284B1B75-4AC3-FFD6-6AAA-2DD4A1F0A645}"/>
          </ac:spMkLst>
        </pc:spChg>
        <pc:spChg chg="mod">
          <ac:chgData name="Syed Hussain" userId="2746bba315b6e413" providerId="LiveId" clId="{A9392211-1C10-4E0A-A06A-8AD60E1AE030}" dt="2025-10-04T03:39:38.317" v="17" actId="2711"/>
          <ac:spMkLst>
            <pc:docMk/>
            <pc:sldMk cId="0" sldId="257"/>
            <ac:spMk id="59" creationId="{47B2A43B-4919-A3D3-ED88-1025286DEAC6}"/>
          </ac:spMkLst>
        </pc:spChg>
        <pc:spChg chg="mod">
          <ac:chgData name="Syed Hussain" userId="2746bba315b6e413" providerId="LiveId" clId="{A9392211-1C10-4E0A-A06A-8AD60E1AE030}" dt="2025-10-04T03:38:59.615" v="15" actId="2711"/>
          <ac:spMkLst>
            <pc:docMk/>
            <pc:sldMk cId="0" sldId="257"/>
            <ac:spMk id="62" creationId="{13298BA7-53D5-2C13-24C1-14B67DBAFDE2}"/>
          </ac:spMkLst>
        </pc:spChg>
        <pc:spChg chg="add mod">
          <ac:chgData name="Syed Hussain" userId="2746bba315b6e413" providerId="LiveId" clId="{A9392211-1C10-4E0A-A06A-8AD60E1AE030}" dt="2025-10-04T03:37:35.882" v="11" actId="2711"/>
          <ac:spMkLst>
            <pc:docMk/>
            <pc:sldMk cId="0" sldId="257"/>
            <ac:spMk id="128" creationId="{47C73215-C2BE-4A59-8573-A4C56F8B9B8C}"/>
          </ac:spMkLst>
        </pc:spChg>
        <pc:spChg chg="add mod">
          <ac:chgData name="Syed Hussain" userId="2746bba315b6e413" providerId="LiveId" clId="{A9392211-1C10-4E0A-A06A-8AD60E1AE030}" dt="2025-10-04T03:39:38.317" v="17" actId="2711"/>
          <ac:spMkLst>
            <pc:docMk/>
            <pc:sldMk cId="0" sldId="257"/>
            <ac:spMk id="129" creationId="{4DE8633F-6488-0AD9-D548-2E309A90237D}"/>
          </ac:spMkLst>
        </pc:spChg>
        <pc:spChg chg="mod">
          <ac:chgData name="Syed Hussain" userId="2746bba315b6e413" providerId="LiveId" clId="{A9392211-1C10-4E0A-A06A-8AD60E1AE030}" dt="2025-10-04T03:39:11.381" v="16" actId="2711"/>
          <ac:spMkLst>
            <pc:docMk/>
            <pc:sldMk cId="0" sldId="257"/>
            <ac:spMk id="130" creationId="{B9D66297-39C3-053F-FA80-FF8C83455BF1}"/>
          </ac:spMkLst>
        </pc:spChg>
        <pc:spChg chg="mod">
          <ac:chgData name="Syed Hussain" userId="2746bba315b6e413" providerId="LiveId" clId="{A9392211-1C10-4E0A-A06A-8AD60E1AE030}" dt="2025-10-04T03:39:11.381" v="16" actId="2711"/>
          <ac:spMkLst>
            <pc:docMk/>
            <pc:sldMk cId="0" sldId="257"/>
            <ac:spMk id="134" creationId="{E9A58AEB-2DED-FD61-A173-960341DDCF71}"/>
          </ac:spMkLst>
        </pc:spChg>
        <pc:spChg chg="mod">
          <ac:chgData name="Syed Hussain" userId="2746bba315b6e413" providerId="LiveId" clId="{A9392211-1C10-4E0A-A06A-8AD60E1AE030}" dt="2025-10-04T03:39:38.317" v="17" actId="2711"/>
          <ac:spMkLst>
            <pc:docMk/>
            <pc:sldMk cId="0" sldId="257"/>
            <ac:spMk id="136" creationId="{916B9B2B-97D3-EC44-4345-56E275EB295D}"/>
          </ac:spMkLst>
        </pc:spChg>
        <pc:spChg chg="mod">
          <ac:chgData name="Syed Hussain" userId="2746bba315b6e413" providerId="LiveId" clId="{A9392211-1C10-4E0A-A06A-8AD60E1AE030}" dt="2025-10-04T03:39:11.381" v="16" actId="2711"/>
          <ac:spMkLst>
            <pc:docMk/>
            <pc:sldMk cId="0" sldId="257"/>
            <ac:spMk id="137" creationId="{4A0109B0-AA96-99D3-17DD-162520863BDD}"/>
          </ac:spMkLst>
        </pc:spChg>
        <pc:spChg chg="mod">
          <ac:chgData name="Syed Hussain" userId="2746bba315b6e413" providerId="LiveId" clId="{A9392211-1C10-4E0A-A06A-8AD60E1AE030}" dt="2025-10-04T03:39:38.317" v="17" actId="2711"/>
          <ac:spMkLst>
            <pc:docMk/>
            <pc:sldMk cId="0" sldId="257"/>
            <ac:spMk id="138" creationId="{6A864160-CCBF-BDBD-DCF9-5A617E569E73}"/>
          </ac:spMkLst>
        </pc:spChg>
        <pc:spChg chg="mod">
          <ac:chgData name="Syed Hussain" userId="2746bba315b6e413" providerId="LiveId" clId="{A9392211-1C10-4E0A-A06A-8AD60E1AE030}" dt="2025-10-04T03:39:11.381" v="16" actId="2711"/>
          <ac:spMkLst>
            <pc:docMk/>
            <pc:sldMk cId="0" sldId="257"/>
            <ac:spMk id="139" creationId="{5833A003-D361-8603-5F33-5F88E4E16972}"/>
          </ac:spMkLst>
        </pc:spChg>
        <pc:spChg chg="mod">
          <ac:chgData name="Syed Hussain" userId="2746bba315b6e413" providerId="LiveId" clId="{A9392211-1C10-4E0A-A06A-8AD60E1AE030}" dt="2025-10-04T03:39:38.317" v="17" actId="2711"/>
          <ac:spMkLst>
            <pc:docMk/>
            <pc:sldMk cId="0" sldId="257"/>
            <ac:spMk id="140" creationId="{83B96088-0AD0-301F-406A-DA0570E26CBB}"/>
          </ac:spMkLst>
        </pc:spChg>
        <pc:spChg chg="mod">
          <ac:chgData name="Syed Hussain" userId="2746bba315b6e413" providerId="LiveId" clId="{A9392211-1C10-4E0A-A06A-8AD60E1AE030}" dt="2025-10-04T03:39:11.381" v="16" actId="2711"/>
          <ac:spMkLst>
            <pc:docMk/>
            <pc:sldMk cId="0" sldId="257"/>
            <ac:spMk id="141" creationId="{A3392755-6C63-25D6-E0AC-DF85B62CCFDE}"/>
          </ac:spMkLst>
        </pc:spChg>
        <pc:spChg chg="add mod">
          <ac:chgData name="Syed Hussain" userId="2746bba315b6e413" providerId="LiveId" clId="{A9392211-1C10-4E0A-A06A-8AD60E1AE030}" dt="2025-10-04T03:35:59.144" v="7"/>
          <ac:spMkLst>
            <pc:docMk/>
            <pc:sldMk cId="0" sldId="257"/>
            <ac:spMk id="142" creationId="{B6417CD8-314B-6E60-B2B8-C72B119FF43C}"/>
          </ac:spMkLst>
        </pc:spChg>
        <pc:spChg chg="add mod">
          <ac:chgData name="Syed Hussain" userId="2746bba315b6e413" providerId="LiveId" clId="{A9392211-1C10-4E0A-A06A-8AD60E1AE030}" dt="2025-10-04T03:39:38.317" v="17" actId="2711"/>
          <ac:spMkLst>
            <pc:docMk/>
            <pc:sldMk cId="0" sldId="257"/>
            <ac:spMk id="143" creationId="{56551F88-6022-09C8-5D50-531790FE20C0}"/>
          </ac:spMkLst>
        </pc:spChg>
        <pc:spChg chg="mod">
          <ac:chgData name="Syed Hussain" userId="2746bba315b6e413" providerId="LiveId" clId="{A9392211-1C10-4E0A-A06A-8AD60E1AE030}" dt="2025-10-04T03:39:38.317" v="17" actId="2711"/>
          <ac:spMkLst>
            <pc:docMk/>
            <pc:sldMk cId="0" sldId="257"/>
            <ac:spMk id="144" creationId="{B1171DA2-73F6-EBDE-4C31-0273CAC16728}"/>
          </ac:spMkLst>
        </pc:spChg>
        <pc:spChg chg="mod">
          <ac:chgData name="Syed Hussain" userId="2746bba315b6e413" providerId="LiveId" clId="{A9392211-1C10-4E0A-A06A-8AD60E1AE030}" dt="2025-10-04T03:39:11.381" v="16" actId="2711"/>
          <ac:spMkLst>
            <pc:docMk/>
            <pc:sldMk cId="0" sldId="257"/>
            <ac:spMk id="145" creationId="{B49103BE-E28A-8A5A-BC08-DFC2A1D87708}"/>
          </ac:spMkLst>
        </pc:spChg>
        <pc:spChg chg="add mod">
          <ac:chgData name="Syed Hussain" userId="2746bba315b6e413" providerId="LiveId" clId="{A9392211-1C10-4E0A-A06A-8AD60E1AE030}" dt="2025-10-04T03:35:59.144" v="7"/>
          <ac:spMkLst>
            <pc:docMk/>
            <pc:sldMk cId="0" sldId="257"/>
            <ac:spMk id="147" creationId="{87EC654C-1C9C-42F2-FD01-BF64316BEA58}"/>
          </ac:spMkLst>
        </pc:spChg>
        <pc:spChg chg="mod">
          <ac:chgData name="Syed Hussain" userId="2746bba315b6e413" providerId="LiveId" clId="{A9392211-1C10-4E0A-A06A-8AD60E1AE030}" dt="2025-10-04T03:35:59.144" v="7"/>
          <ac:spMkLst>
            <pc:docMk/>
            <pc:sldMk cId="0" sldId="257"/>
            <ac:spMk id="154" creationId="{36A0791A-238F-8598-EFFC-ED71FB6E9E80}"/>
          </ac:spMkLst>
        </pc:spChg>
        <pc:spChg chg="add mod">
          <ac:chgData name="Syed Hussain" userId="2746bba315b6e413" providerId="LiveId" clId="{A9392211-1C10-4E0A-A06A-8AD60E1AE030}" dt="2025-10-04T03:39:50.958" v="18" actId="2711"/>
          <ac:spMkLst>
            <pc:docMk/>
            <pc:sldMk cId="0" sldId="257"/>
            <ac:spMk id="161" creationId="{1969C085-A516-4A77-F16D-0289F09B626E}"/>
          </ac:spMkLst>
        </pc:spChg>
        <pc:spChg chg="add mod">
          <ac:chgData name="Syed Hussain" userId="2746bba315b6e413" providerId="LiveId" clId="{A9392211-1C10-4E0A-A06A-8AD60E1AE030}" dt="2025-10-04T03:36:44.131" v="10"/>
          <ac:spMkLst>
            <pc:docMk/>
            <pc:sldMk cId="0" sldId="257"/>
            <ac:spMk id="162" creationId="{681F2FE9-0201-BD03-939E-91FCFE20BB95}"/>
          </ac:spMkLst>
        </pc:spChg>
        <pc:spChg chg="mod">
          <ac:chgData name="Syed Hussain" userId="2746bba315b6e413" providerId="LiveId" clId="{A9392211-1C10-4E0A-A06A-8AD60E1AE030}" dt="2025-10-04T03:35:12.439" v="4" actId="2711"/>
          <ac:spMkLst>
            <pc:docMk/>
            <pc:sldMk cId="0" sldId="257"/>
            <ac:spMk id="166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9.268" v="6" actId="478"/>
          <ac:spMkLst>
            <pc:docMk/>
            <pc:sldMk cId="0" sldId="257"/>
            <ac:spMk id="167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9.268" v="6" actId="478"/>
          <ac:spMkLst>
            <pc:docMk/>
            <pc:sldMk cId="0" sldId="257"/>
            <ac:spMk id="168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6.155" v="5" actId="478"/>
          <ac:spMkLst>
            <pc:docMk/>
            <pc:sldMk cId="0" sldId="257"/>
            <ac:spMk id="182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6.155" v="5" actId="478"/>
          <ac:spMkLst>
            <pc:docMk/>
            <pc:sldMk cId="0" sldId="257"/>
            <ac:spMk id="185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6.155" v="5" actId="478"/>
          <ac:spMkLst>
            <pc:docMk/>
            <pc:sldMk cId="0" sldId="257"/>
            <ac:spMk id="190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6.155" v="5" actId="478"/>
          <ac:spMkLst>
            <pc:docMk/>
            <pc:sldMk cId="0" sldId="257"/>
            <ac:spMk id="195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6.155" v="5" actId="478"/>
          <ac:spMkLst>
            <pc:docMk/>
            <pc:sldMk cId="0" sldId="257"/>
            <ac:spMk id="202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6.155" v="5" actId="478"/>
          <ac:spMkLst>
            <pc:docMk/>
            <pc:sldMk cId="0" sldId="257"/>
            <ac:spMk id="215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6.155" v="5" actId="478"/>
          <ac:spMkLst>
            <pc:docMk/>
            <pc:sldMk cId="0" sldId="257"/>
            <ac:spMk id="221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6.155" v="5" actId="478"/>
          <ac:spMkLst>
            <pc:docMk/>
            <pc:sldMk cId="0" sldId="257"/>
            <ac:spMk id="224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6.155" v="5" actId="478"/>
          <ac:spMkLst>
            <pc:docMk/>
            <pc:sldMk cId="0" sldId="257"/>
            <ac:spMk id="229" creationId="{00000000-0000-0000-0000-000000000000}"/>
          </ac:spMkLst>
        </pc:spChg>
        <pc:spChg chg="del">
          <ac:chgData name="Syed Hussain" userId="2746bba315b6e413" providerId="LiveId" clId="{A9392211-1C10-4E0A-A06A-8AD60E1AE030}" dt="2025-10-04T03:35:46.155" v="5" actId="478"/>
          <ac:spMkLst>
            <pc:docMk/>
            <pc:sldMk cId="0" sldId="257"/>
            <ac:spMk id="235" creationId="{00000000-0000-0000-0000-000000000000}"/>
          </ac:spMkLst>
        </pc:spChg>
      </pc:sldChg>
      <pc:sldChg chg="add setBg">
        <pc:chgData name="Syed Hussain" userId="2746bba315b6e413" providerId="LiveId" clId="{A9392211-1C10-4E0A-A06A-8AD60E1AE030}" dt="2025-10-04T03:43:52.623" v="25"/>
        <pc:sldMkLst>
          <pc:docMk/>
          <pc:sldMk cId="1074821766" sldId="284"/>
        </pc:sldMkLst>
      </pc:sldChg>
      <pc:sldChg chg="modSp add mod setBg">
        <pc:chgData name="Syed Hussain" userId="2746bba315b6e413" providerId="LiveId" clId="{A9392211-1C10-4E0A-A06A-8AD60E1AE030}" dt="2025-10-04T03:44:36.048" v="34" actId="2711"/>
        <pc:sldMkLst>
          <pc:docMk/>
          <pc:sldMk cId="4065553887" sldId="285"/>
        </pc:sldMkLst>
        <pc:spChg chg="mod">
          <ac:chgData name="Syed Hussain" userId="2746bba315b6e413" providerId="LiveId" clId="{A9392211-1C10-4E0A-A06A-8AD60E1AE030}" dt="2025-10-04T03:44:36.048" v="34" actId="2711"/>
          <ac:spMkLst>
            <pc:docMk/>
            <pc:sldMk cId="4065553887" sldId="28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1" name="Google Shape;122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7" name="Google Shape;136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>
            <a:spLocks noGrp="1"/>
          </p:cNvSpPr>
          <p:nvPr>
            <p:ph type="pic" idx="2"/>
          </p:nvPr>
        </p:nvSpPr>
        <p:spPr>
          <a:xfrm>
            <a:off x="6189192" y="332285"/>
            <a:ext cx="5755158" cy="2886703"/>
          </a:xfrm>
          <a:prstGeom prst="roundRect">
            <a:avLst>
              <a:gd name="adj" fmla="val 8748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POWER</a:t>
            </a:r>
            <a:r>
              <a:rPr lang="en-US" sz="900" b="1" i="0" u="none" strike="noStrike" cap="none" dirty="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SLIDES</a:t>
            </a:r>
            <a:r>
              <a:rPr lang="en-US" sz="900" b="1" i="0" u="none" strike="noStrike" cap="none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									</a:t>
            </a:r>
            <a:r>
              <a:rPr lang="en-US" sz="900" b="1" i="0" u="none" strike="noStrike" cap="none" dirty="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  	       </a:t>
            </a:r>
            <a:r>
              <a:rPr lang="en-US" sz="900" b="1" i="0" u="none" strike="noStrike" cap="none" dirty="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WWW.POWERSLIDES.COM </a:t>
            </a:r>
            <a:r>
              <a:rPr lang="en-US" sz="900" b="1" i="0" u="none" strike="noStrike" cap="none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						</a:t>
            </a:r>
            <a:endParaRPr sz="900" b="1" dirty="0">
              <a:solidFill>
                <a:srgbClr val="009999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7" name="Google Shape;7;p1"/>
          <p:cNvCxnSpPr/>
          <p:nvPr/>
        </p:nvCxnSpPr>
        <p:spPr>
          <a:xfrm rot="10800000">
            <a:off x="6431280" y="6472238"/>
            <a:ext cx="3308966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" name="Google Shape;8;p1"/>
          <p:cNvCxnSpPr/>
          <p:nvPr/>
        </p:nvCxnSpPr>
        <p:spPr>
          <a:xfrm rot="10800000">
            <a:off x="1575770" y="6472238"/>
            <a:ext cx="416463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" name="Google Shape;9;p1"/>
          <p:cNvSpPr/>
          <p:nvPr/>
        </p:nvSpPr>
        <p:spPr>
          <a:xfrm>
            <a:off x="5981846" y="6372976"/>
            <a:ext cx="216000" cy="216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0" u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5831722" y="6354379"/>
            <a:ext cx="516247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900" b="0" u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900" b="0" u="none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5117580" y="3783927"/>
            <a:ext cx="812800" cy="1407886"/>
          </a:xfrm>
          <a:custGeom>
            <a:avLst/>
            <a:gdLst/>
            <a:ahLst/>
            <a:cxnLst/>
            <a:rect l="l" t="t" r="r" b="b"/>
            <a:pathLst>
              <a:path w="812800" h="1407886" extrusionOk="0">
                <a:moveTo>
                  <a:pt x="0" y="1407886"/>
                </a:moveTo>
                <a:lnTo>
                  <a:pt x="0" y="812800"/>
                </a:lnTo>
                <a:lnTo>
                  <a:pt x="812800" y="0"/>
                </a:ln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3785788" y="3783927"/>
            <a:ext cx="812800" cy="1407886"/>
          </a:xfrm>
          <a:custGeom>
            <a:avLst/>
            <a:gdLst/>
            <a:ahLst/>
            <a:cxnLst/>
            <a:rect l="l" t="t" r="r" b="b"/>
            <a:pathLst>
              <a:path w="812800" h="1407886" extrusionOk="0">
                <a:moveTo>
                  <a:pt x="0" y="1407886"/>
                </a:moveTo>
                <a:lnTo>
                  <a:pt x="0" y="812800"/>
                </a:lnTo>
                <a:lnTo>
                  <a:pt x="812800" y="0"/>
                </a:ln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4466134" y="3783927"/>
            <a:ext cx="812800" cy="1407886"/>
          </a:xfrm>
          <a:custGeom>
            <a:avLst/>
            <a:gdLst/>
            <a:ahLst/>
            <a:cxnLst/>
            <a:rect l="l" t="t" r="r" b="b"/>
            <a:pathLst>
              <a:path w="812800" h="1407886" extrusionOk="0">
                <a:moveTo>
                  <a:pt x="0" y="1407886"/>
                </a:moveTo>
                <a:lnTo>
                  <a:pt x="0" y="812800"/>
                </a:lnTo>
                <a:lnTo>
                  <a:pt x="812800" y="0"/>
                </a:ln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3105441" y="3783927"/>
            <a:ext cx="812800" cy="1407886"/>
          </a:xfrm>
          <a:custGeom>
            <a:avLst/>
            <a:gdLst/>
            <a:ahLst/>
            <a:cxnLst/>
            <a:rect l="l" t="t" r="r" b="b"/>
            <a:pathLst>
              <a:path w="812800" h="1407886" extrusionOk="0">
                <a:moveTo>
                  <a:pt x="0" y="1407886"/>
                </a:moveTo>
                <a:lnTo>
                  <a:pt x="0" y="812800"/>
                </a:lnTo>
                <a:lnTo>
                  <a:pt x="812800" y="0"/>
                </a:ln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2425094" y="3783927"/>
            <a:ext cx="812800" cy="1407886"/>
          </a:xfrm>
          <a:custGeom>
            <a:avLst/>
            <a:gdLst/>
            <a:ahLst/>
            <a:cxnLst/>
            <a:rect l="l" t="t" r="r" b="b"/>
            <a:pathLst>
              <a:path w="812800" h="1407886" extrusionOk="0">
                <a:moveTo>
                  <a:pt x="0" y="1407886"/>
                </a:moveTo>
                <a:lnTo>
                  <a:pt x="0" y="812800"/>
                </a:lnTo>
                <a:lnTo>
                  <a:pt x="812800" y="0"/>
                </a:ln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1744747" y="3783927"/>
            <a:ext cx="812800" cy="1407886"/>
          </a:xfrm>
          <a:custGeom>
            <a:avLst/>
            <a:gdLst/>
            <a:ahLst/>
            <a:cxnLst/>
            <a:rect l="l" t="t" r="r" b="b"/>
            <a:pathLst>
              <a:path w="812800" h="1407886" extrusionOk="0">
                <a:moveTo>
                  <a:pt x="0" y="1407886"/>
                </a:moveTo>
                <a:lnTo>
                  <a:pt x="0" y="812800"/>
                </a:lnTo>
                <a:lnTo>
                  <a:pt x="812800" y="0"/>
                </a:ln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9058538" y="1036404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9647526" y="2042653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gradFill>
            <a:gsLst>
              <a:gs pos="0">
                <a:srgbClr val="BDBAFC"/>
              </a:gs>
              <a:gs pos="100000">
                <a:srgbClr val="9D9AFA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450435" y="2042653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gradFill>
            <a:gsLst>
              <a:gs pos="0">
                <a:srgbClr val="BDBAFC"/>
              </a:gs>
              <a:gs pos="100000">
                <a:srgbClr val="9D9AFA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0258978" y="3070172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9054994" y="3070172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7866202" y="3070172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463135" y="4110351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9667779" y="4110351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0246278" y="1042676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859410" y="2042653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11067" y="5544469"/>
            <a:ext cx="7982895" cy="224998"/>
          </a:xfrm>
          <a:prstGeom prst="rect">
            <a:avLst/>
          </a:prstGeom>
          <a:gradFill>
            <a:gsLst>
              <a:gs pos="0">
                <a:srgbClr val="DDDCFD"/>
              </a:gs>
              <a:gs pos="100000">
                <a:srgbClr val="BDBAFC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89970" y="0"/>
            <a:ext cx="7949566" cy="5761089"/>
          </a:xfrm>
          <a:custGeom>
            <a:avLst/>
            <a:gdLst/>
            <a:ahLst/>
            <a:cxnLst/>
            <a:rect l="l" t="t" r="r" b="b"/>
            <a:pathLst>
              <a:path w="7949566" h="5761089" extrusionOk="0">
                <a:moveTo>
                  <a:pt x="7256473" y="0"/>
                </a:moveTo>
                <a:lnTo>
                  <a:pt x="7949566" y="0"/>
                </a:lnTo>
                <a:lnTo>
                  <a:pt x="7946716" y="16023"/>
                </a:lnTo>
                <a:cubicBezTo>
                  <a:pt x="7774687" y="968638"/>
                  <a:pt x="7141311" y="4072673"/>
                  <a:pt x="6080407" y="4785221"/>
                </a:cubicBezTo>
                <a:cubicBezTo>
                  <a:pt x="4823039" y="5629722"/>
                  <a:pt x="0" y="5761089"/>
                  <a:pt x="0" y="5761089"/>
                </a:cubicBezTo>
                <a:lnTo>
                  <a:pt x="0" y="5104255"/>
                </a:lnTo>
                <a:cubicBezTo>
                  <a:pt x="0" y="5104255"/>
                  <a:pt x="5160839" y="4935355"/>
                  <a:pt x="5873973" y="4053320"/>
                </a:cubicBezTo>
                <a:cubicBezTo>
                  <a:pt x="6453395" y="3336667"/>
                  <a:pt x="7045205" y="922728"/>
                  <a:pt x="7246764" y="42696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162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6" name="Google Shape;36;p4" descr="A transparent robot head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5481861" y="3524811"/>
            <a:ext cx="3587807" cy="201814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/>
        </p:nvSpPr>
        <p:spPr>
          <a:xfrm>
            <a:off x="513532" y="1053734"/>
            <a:ext cx="4123781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The Exponential Linear Curve</a:t>
            </a:r>
            <a:endParaRPr sz="2000">
              <a:solidFill>
                <a:srgbClr val="75707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38" name="Google Shape;38;p4"/>
          <p:cNvGrpSpPr/>
          <p:nvPr/>
        </p:nvGrpSpPr>
        <p:grpSpPr>
          <a:xfrm>
            <a:off x="580588" y="1587937"/>
            <a:ext cx="5888792" cy="258148"/>
            <a:chOff x="580588" y="1486337"/>
            <a:chExt cx="5888792" cy="258148"/>
          </a:xfrm>
        </p:grpSpPr>
        <p:sp>
          <p:nvSpPr>
            <p:cNvPr id="39" name="Google Shape;39;p4"/>
            <p:cNvSpPr txBox="1"/>
            <p:nvPr/>
          </p:nvSpPr>
          <p:spPr>
            <a:xfrm>
              <a:off x="580588" y="1486337"/>
              <a:ext cx="577652" cy="258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1980</a:t>
              </a:r>
              <a:endParaRPr/>
            </a:p>
          </p:txBody>
        </p:sp>
        <p:sp>
          <p:nvSpPr>
            <p:cNvPr id="40" name="Google Shape;40;p4"/>
            <p:cNvSpPr txBox="1"/>
            <p:nvPr/>
          </p:nvSpPr>
          <p:spPr>
            <a:xfrm>
              <a:off x="2532017" y="1486337"/>
              <a:ext cx="577652" cy="258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2010</a:t>
              </a:r>
              <a:endParaRPr/>
            </a:p>
          </p:txBody>
        </p:sp>
        <p:sp>
          <p:nvSpPr>
            <p:cNvPr id="41" name="Google Shape;41;p4"/>
            <p:cNvSpPr txBox="1"/>
            <p:nvPr/>
          </p:nvSpPr>
          <p:spPr>
            <a:xfrm>
              <a:off x="4458215" y="1486337"/>
              <a:ext cx="577652" cy="258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2030</a:t>
              </a:r>
              <a:endParaRPr/>
            </a:p>
          </p:txBody>
        </p:sp>
        <p:grpSp>
          <p:nvGrpSpPr>
            <p:cNvPr id="42" name="Google Shape;42;p4"/>
            <p:cNvGrpSpPr/>
            <p:nvPr/>
          </p:nvGrpSpPr>
          <p:grpSpPr>
            <a:xfrm>
              <a:off x="1188720" y="1513086"/>
              <a:ext cx="1237488" cy="128451"/>
              <a:chOff x="1188720" y="1517469"/>
              <a:chExt cx="1237488" cy="171123"/>
            </a:xfrm>
          </p:grpSpPr>
          <p:cxnSp>
            <p:nvCxnSpPr>
              <p:cNvPr id="43" name="Google Shape;43;p4"/>
              <p:cNvCxnSpPr/>
              <p:nvPr/>
            </p:nvCxnSpPr>
            <p:spPr>
              <a:xfrm>
                <a:off x="1188720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44;p4"/>
              <p:cNvCxnSpPr/>
              <p:nvPr/>
            </p:nvCxnSpPr>
            <p:spPr>
              <a:xfrm>
                <a:off x="1408176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45;p4"/>
              <p:cNvCxnSpPr/>
              <p:nvPr/>
            </p:nvCxnSpPr>
            <p:spPr>
              <a:xfrm>
                <a:off x="1621536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46;p4"/>
              <p:cNvCxnSpPr/>
              <p:nvPr/>
            </p:nvCxnSpPr>
            <p:spPr>
              <a:xfrm>
                <a:off x="1816608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47;p4"/>
              <p:cNvCxnSpPr/>
              <p:nvPr/>
            </p:nvCxnSpPr>
            <p:spPr>
              <a:xfrm>
                <a:off x="2023872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" name="Google Shape;48;p4"/>
              <p:cNvCxnSpPr/>
              <p:nvPr/>
            </p:nvCxnSpPr>
            <p:spPr>
              <a:xfrm>
                <a:off x="2231136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9" name="Google Shape;49;p4"/>
              <p:cNvCxnSpPr/>
              <p:nvPr/>
            </p:nvCxnSpPr>
            <p:spPr>
              <a:xfrm>
                <a:off x="2426208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50" name="Google Shape;50;p4"/>
            <p:cNvGrpSpPr/>
            <p:nvPr/>
          </p:nvGrpSpPr>
          <p:grpSpPr>
            <a:xfrm>
              <a:off x="3152962" y="1513086"/>
              <a:ext cx="1237488" cy="128451"/>
              <a:chOff x="1188720" y="1517469"/>
              <a:chExt cx="1237488" cy="171123"/>
            </a:xfrm>
          </p:grpSpPr>
          <p:cxnSp>
            <p:nvCxnSpPr>
              <p:cNvPr id="51" name="Google Shape;51;p4"/>
              <p:cNvCxnSpPr/>
              <p:nvPr/>
            </p:nvCxnSpPr>
            <p:spPr>
              <a:xfrm>
                <a:off x="1188720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2;p4"/>
              <p:cNvCxnSpPr/>
              <p:nvPr/>
            </p:nvCxnSpPr>
            <p:spPr>
              <a:xfrm>
                <a:off x="1408176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3;p4"/>
              <p:cNvCxnSpPr/>
              <p:nvPr/>
            </p:nvCxnSpPr>
            <p:spPr>
              <a:xfrm>
                <a:off x="1621536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4;p4"/>
              <p:cNvCxnSpPr/>
              <p:nvPr/>
            </p:nvCxnSpPr>
            <p:spPr>
              <a:xfrm>
                <a:off x="1816608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5;p4"/>
              <p:cNvCxnSpPr/>
              <p:nvPr/>
            </p:nvCxnSpPr>
            <p:spPr>
              <a:xfrm>
                <a:off x="2023872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6;p4"/>
              <p:cNvCxnSpPr/>
              <p:nvPr/>
            </p:nvCxnSpPr>
            <p:spPr>
              <a:xfrm>
                <a:off x="2231136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2426208" y="1517469"/>
                <a:ext cx="0" cy="171123"/>
              </a:xfrm>
              <a:prstGeom prst="straightConnector1">
                <a:avLst/>
              </a:prstGeom>
              <a:noFill/>
              <a:ln w="9525" cap="flat" cmpd="sng">
                <a:solidFill>
                  <a:srgbClr val="BFBFB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cxnSp>
          <p:nvCxnSpPr>
            <p:cNvPr id="58" name="Google Shape;58;p4"/>
            <p:cNvCxnSpPr/>
            <p:nvPr/>
          </p:nvCxnSpPr>
          <p:spPr>
            <a:xfrm>
              <a:off x="5077967" y="1513086"/>
              <a:ext cx="0" cy="128451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59" name="Google Shape;59;p4"/>
            <p:cNvCxnSpPr/>
            <p:nvPr/>
          </p:nvCxnSpPr>
          <p:spPr>
            <a:xfrm>
              <a:off x="5297423" y="1513086"/>
              <a:ext cx="0" cy="128451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0" name="Google Shape;60;p4"/>
            <p:cNvCxnSpPr/>
            <p:nvPr/>
          </p:nvCxnSpPr>
          <p:spPr>
            <a:xfrm>
              <a:off x="5510783" y="1513086"/>
              <a:ext cx="0" cy="128451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1" name="Google Shape;61;p4"/>
            <p:cNvCxnSpPr/>
            <p:nvPr/>
          </p:nvCxnSpPr>
          <p:spPr>
            <a:xfrm>
              <a:off x="5705855" y="1513086"/>
              <a:ext cx="0" cy="128451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62;p4"/>
            <p:cNvCxnSpPr/>
            <p:nvPr/>
          </p:nvCxnSpPr>
          <p:spPr>
            <a:xfrm>
              <a:off x="5913119" y="1513086"/>
              <a:ext cx="0" cy="128451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63;p4"/>
            <p:cNvCxnSpPr/>
            <p:nvPr/>
          </p:nvCxnSpPr>
          <p:spPr>
            <a:xfrm>
              <a:off x="6120383" y="1513086"/>
              <a:ext cx="0" cy="128451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4" name="Google Shape;64;p4"/>
            <p:cNvCxnSpPr/>
            <p:nvPr/>
          </p:nvCxnSpPr>
          <p:spPr>
            <a:xfrm>
              <a:off x="6315455" y="1513086"/>
              <a:ext cx="0" cy="128451"/>
            </a:xfrm>
            <a:prstGeom prst="straightConnector1">
              <a:avLst/>
            </a:prstGeom>
            <a:noFill/>
            <a:ln w="9525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611068" y="1513086"/>
              <a:ext cx="0" cy="128451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6" name="Google Shape;66;p4"/>
            <p:cNvCxnSpPr/>
            <p:nvPr/>
          </p:nvCxnSpPr>
          <p:spPr>
            <a:xfrm rot="10800000">
              <a:off x="611068" y="1513086"/>
              <a:ext cx="5858312" cy="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7" name="Google Shape;67;p4"/>
          <p:cNvSpPr txBox="1"/>
          <p:nvPr/>
        </p:nvSpPr>
        <p:spPr>
          <a:xfrm>
            <a:off x="611067" y="1908703"/>
            <a:ext cx="2761351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PARADIGM SHIFT IN THE ORGANIZATION</a:t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611068" y="2170811"/>
            <a:ext cx="1836000" cy="53206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1181100" y="2164540"/>
            <a:ext cx="141280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COMPUTERIZATION</a:t>
            </a:r>
            <a:endParaRPr/>
          </a:p>
        </p:txBody>
      </p:sp>
      <p:sp>
        <p:nvSpPr>
          <p:cNvPr id="70" name="Google Shape;70;p4"/>
          <p:cNvSpPr txBox="1"/>
          <p:nvPr/>
        </p:nvSpPr>
        <p:spPr>
          <a:xfrm>
            <a:off x="1181100" y="2320241"/>
            <a:ext cx="1299206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Organizations adopt PCs and networks at scale</a:t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2631184" y="2170811"/>
            <a:ext cx="1836000" cy="53206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3201218" y="2164540"/>
            <a:ext cx="1002366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DIGITALIZATION</a:t>
            </a:r>
            <a:endParaRPr/>
          </a:p>
        </p:txBody>
      </p:sp>
      <p:sp>
        <p:nvSpPr>
          <p:cNvPr id="73" name="Google Shape;73;p4"/>
          <p:cNvSpPr txBox="1"/>
          <p:nvPr/>
        </p:nvSpPr>
        <p:spPr>
          <a:xfrm>
            <a:off x="3201217" y="2320241"/>
            <a:ext cx="124285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internet allows ubiquitous connectivity</a:t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637312" y="2170811"/>
            <a:ext cx="1836000" cy="53206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5207346" y="2164540"/>
            <a:ext cx="1222410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AUTONOMIZATION</a:t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5207347" y="2320241"/>
            <a:ext cx="1351500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AI renders organizational capabilities autonomous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611067" y="2723578"/>
            <a:ext cx="2761351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PARADIGM SHIFT IN THE ROLE OF IT</a:t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611067" y="2994389"/>
            <a:ext cx="1836000" cy="69605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701773" y="2998483"/>
            <a:ext cx="141280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TRUSTED OPERATION</a:t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701773" y="3175128"/>
            <a:ext cx="1789439" cy="52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 helps the organization automate the back office and create efficiencies</a:t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2631184" y="2994389"/>
            <a:ext cx="1836000" cy="69605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2732051" y="2998483"/>
            <a:ext cx="1648400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ORGANIZATIONAL PARTNER</a:t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2732051" y="3175128"/>
            <a:ext cx="1701737" cy="52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 enables the transformation of business and service models and the creation of digital value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646452" y="2994389"/>
            <a:ext cx="1836000" cy="69605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4711028" y="2998483"/>
            <a:ext cx="1718727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ORGANIZATIONAL PARTNER</a:t>
            </a:r>
            <a:endParaRPr/>
          </a:p>
        </p:txBody>
      </p:sp>
      <p:sp>
        <p:nvSpPr>
          <p:cNvPr id="86" name="Google Shape;86;p4"/>
          <p:cNvSpPr txBox="1"/>
          <p:nvPr/>
        </p:nvSpPr>
        <p:spPr>
          <a:xfrm>
            <a:off x="4711029" y="3175128"/>
            <a:ext cx="1718726" cy="52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IT accelerates value creation by embracing exponential technologies</a:t>
            </a:r>
            <a:endParaRPr/>
          </a:p>
        </p:txBody>
      </p:sp>
      <p:sp>
        <p:nvSpPr>
          <p:cNvPr id="87" name="Google Shape;87;p4"/>
          <p:cNvSpPr txBox="1"/>
          <p:nvPr/>
        </p:nvSpPr>
        <p:spPr>
          <a:xfrm>
            <a:off x="580588" y="5911018"/>
            <a:ext cx="577652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1980</a:t>
            </a:r>
            <a:endParaRPr/>
          </a:p>
        </p:txBody>
      </p:sp>
      <p:sp>
        <p:nvSpPr>
          <p:cNvPr id="88" name="Google Shape;88;p4"/>
          <p:cNvSpPr txBox="1"/>
          <p:nvPr/>
        </p:nvSpPr>
        <p:spPr>
          <a:xfrm>
            <a:off x="2532017" y="5911018"/>
            <a:ext cx="577652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2010</a:t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4458215" y="5911018"/>
            <a:ext cx="577652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2030</a:t>
            </a: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1188720" y="6019772"/>
            <a:ext cx="1237488" cy="128451"/>
            <a:chOff x="1188720" y="1517469"/>
            <a:chExt cx="1237488" cy="171123"/>
          </a:xfrm>
        </p:grpSpPr>
        <p:cxnSp>
          <p:nvCxnSpPr>
            <p:cNvPr id="91" name="Google Shape;91;p4"/>
            <p:cNvCxnSpPr/>
            <p:nvPr/>
          </p:nvCxnSpPr>
          <p:spPr>
            <a:xfrm>
              <a:off x="1188720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2" name="Google Shape;92;p4"/>
            <p:cNvCxnSpPr/>
            <p:nvPr/>
          </p:nvCxnSpPr>
          <p:spPr>
            <a:xfrm>
              <a:off x="1408176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3" name="Google Shape;93;p4"/>
            <p:cNvCxnSpPr/>
            <p:nvPr/>
          </p:nvCxnSpPr>
          <p:spPr>
            <a:xfrm>
              <a:off x="1621536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4" name="Google Shape;94;p4"/>
            <p:cNvCxnSpPr/>
            <p:nvPr/>
          </p:nvCxnSpPr>
          <p:spPr>
            <a:xfrm>
              <a:off x="1816608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5" name="Google Shape;95;p4"/>
            <p:cNvCxnSpPr/>
            <p:nvPr/>
          </p:nvCxnSpPr>
          <p:spPr>
            <a:xfrm>
              <a:off x="2023872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6" name="Google Shape;96;p4"/>
            <p:cNvCxnSpPr/>
            <p:nvPr/>
          </p:nvCxnSpPr>
          <p:spPr>
            <a:xfrm>
              <a:off x="2231136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97" name="Google Shape;97;p4"/>
            <p:cNvCxnSpPr/>
            <p:nvPr/>
          </p:nvCxnSpPr>
          <p:spPr>
            <a:xfrm>
              <a:off x="2426208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8" name="Google Shape;98;p4"/>
          <p:cNvGrpSpPr/>
          <p:nvPr/>
        </p:nvGrpSpPr>
        <p:grpSpPr>
          <a:xfrm>
            <a:off x="3152962" y="6019772"/>
            <a:ext cx="1237488" cy="128451"/>
            <a:chOff x="1188720" y="1517469"/>
            <a:chExt cx="1237488" cy="171123"/>
          </a:xfrm>
        </p:grpSpPr>
        <p:cxnSp>
          <p:nvCxnSpPr>
            <p:cNvPr id="99" name="Google Shape;99;p4"/>
            <p:cNvCxnSpPr/>
            <p:nvPr/>
          </p:nvCxnSpPr>
          <p:spPr>
            <a:xfrm>
              <a:off x="1188720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0" name="Google Shape;100;p4"/>
            <p:cNvCxnSpPr/>
            <p:nvPr/>
          </p:nvCxnSpPr>
          <p:spPr>
            <a:xfrm>
              <a:off x="1408176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1" name="Google Shape;101;p4"/>
            <p:cNvCxnSpPr/>
            <p:nvPr/>
          </p:nvCxnSpPr>
          <p:spPr>
            <a:xfrm>
              <a:off x="1621536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2" name="Google Shape;102;p4"/>
            <p:cNvCxnSpPr/>
            <p:nvPr/>
          </p:nvCxnSpPr>
          <p:spPr>
            <a:xfrm>
              <a:off x="1816608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3" name="Google Shape;103;p4"/>
            <p:cNvCxnSpPr/>
            <p:nvPr/>
          </p:nvCxnSpPr>
          <p:spPr>
            <a:xfrm>
              <a:off x="2023872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4" name="Google Shape;104;p4"/>
            <p:cNvCxnSpPr/>
            <p:nvPr/>
          </p:nvCxnSpPr>
          <p:spPr>
            <a:xfrm>
              <a:off x="2231136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5" name="Google Shape;105;p4"/>
            <p:cNvCxnSpPr/>
            <p:nvPr/>
          </p:nvCxnSpPr>
          <p:spPr>
            <a:xfrm>
              <a:off x="2426208" y="1517469"/>
              <a:ext cx="0" cy="171123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106" name="Google Shape;106;p4"/>
          <p:cNvCxnSpPr/>
          <p:nvPr/>
        </p:nvCxnSpPr>
        <p:spPr>
          <a:xfrm>
            <a:off x="5077967" y="6019772"/>
            <a:ext cx="0" cy="128451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7" name="Google Shape;107;p4"/>
          <p:cNvCxnSpPr/>
          <p:nvPr/>
        </p:nvCxnSpPr>
        <p:spPr>
          <a:xfrm>
            <a:off x="5297423" y="6019772"/>
            <a:ext cx="0" cy="128451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8" name="Google Shape;108;p4"/>
          <p:cNvCxnSpPr/>
          <p:nvPr/>
        </p:nvCxnSpPr>
        <p:spPr>
          <a:xfrm>
            <a:off x="5510783" y="6019772"/>
            <a:ext cx="0" cy="128451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" name="Google Shape;109;p4"/>
          <p:cNvCxnSpPr/>
          <p:nvPr/>
        </p:nvCxnSpPr>
        <p:spPr>
          <a:xfrm>
            <a:off x="5705855" y="6019772"/>
            <a:ext cx="0" cy="128451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4"/>
          <p:cNvCxnSpPr/>
          <p:nvPr/>
        </p:nvCxnSpPr>
        <p:spPr>
          <a:xfrm>
            <a:off x="5913119" y="6019772"/>
            <a:ext cx="0" cy="128451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1" name="Google Shape;111;p4"/>
          <p:cNvCxnSpPr/>
          <p:nvPr/>
        </p:nvCxnSpPr>
        <p:spPr>
          <a:xfrm>
            <a:off x="6120383" y="6019772"/>
            <a:ext cx="0" cy="128451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2" name="Google Shape;112;p4"/>
          <p:cNvCxnSpPr/>
          <p:nvPr/>
        </p:nvCxnSpPr>
        <p:spPr>
          <a:xfrm>
            <a:off x="6315455" y="6019772"/>
            <a:ext cx="0" cy="128451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3" name="Google Shape;113;p4"/>
          <p:cNvCxnSpPr/>
          <p:nvPr/>
        </p:nvCxnSpPr>
        <p:spPr>
          <a:xfrm>
            <a:off x="611068" y="6019772"/>
            <a:ext cx="0" cy="128451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" name="Google Shape;114;p4"/>
          <p:cNvCxnSpPr/>
          <p:nvPr/>
        </p:nvCxnSpPr>
        <p:spPr>
          <a:xfrm rot="10800000">
            <a:off x="611068" y="6148223"/>
            <a:ext cx="5858312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5" name="Google Shape;115;p4"/>
          <p:cNvSpPr txBox="1"/>
          <p:nvPr/>
        </p:nvSpPr>
        <p:spPr>
          <a:xfrm>
            <a:off x="4761880" y="859476"/>
            <a:ext cx="2334659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Strategic and actionable principles to enable IT leaders to extract the value from accelerating technology advancements.</a:t>
            </a:r>
            <a:endParaRPr/>
          </a:p>
        </p:txBody>
      </p:sp>
      <p:pic>
        <p:nvPicPr>
          <p:cNvPr id="116" name="Google Shape;116;p4" descr="Monitor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2991" y="2199357"/>
            <a:ext cx="469232" cy="469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4" descr="Cloud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14474" y="218491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4" descr="Single gear with solid fil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37119" y="2207098"/>
            <a:ext cx="461860" cy="46186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9671830" y="2270285"/>
            <a:ext cx="1042828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ENTERPRISE ARCHITECTURE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9617921" y="4377647"/>
            <a:ext cx="1218719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INFRASTRUCTURE &amp; OPERATIONS</a:t>
            </a:r>
            <a:endParaRPr/>
          </a:p>
        </p:txBody>
      </p:sp>
      <p:sp>
        <p:nvSpPr>
          <p:cNvPr id="121" name="Google Shape;121;p4"/>
          <p:cNvSpPr txBox="1"/>
          <p:nvPr/>
        </p:nvSpPr>
        <p:spPr>
          <a:xfrm>
            <a:off x="8420924" y="4377647"/>
            <a:ext cx="1218719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APPLICATIONS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7820657" y="3276165"/>
            <a:ext cx="1218719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PEOPLE &amp; LEADERSHIP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9006292" y="3242565"/>
            <a:ext cx="1218719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DATA &amp; ARTIFICIAL INTELLIGANCE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10214175" y="3322683"/>
            <a:ext cx="1218719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SECURITY 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&amp; PRIVACY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0807569" y="2230239"/>
            <a:ext cx="1218719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IT FINANCIAL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&amp; VENDOR MANAGEMENT</a:t>
            </a:r>
            <a:endParaRPr sz="9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8488871" y="2233709"/>
            <a:ext cx="1042828" cy="74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PROJECT &amp; PORTOFOLIO MANAGEMENT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10170147" y="1283994"/>
            <a:ext cx="1269789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GOVERNANCE RISK &amp; COMPLIANCE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9100751" y="1264114"/>
            <a:ext cx="1042828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STRATEGY &amp; INNOVATION</a:t>
            </a:r>
            <a:endParaRPr/>
          </a:p>
        </p:txBody>
      </p:sp>
      <p:sp>
        <p:nvSpPr>
          <p:cNvPr id="129" name="Google Shape;129;p4"/>
          <p:cNvSpPr txBox="1"/>
          <p:nvPr/>
        </p:nvSpPr>
        <p:spPr>
          <a:xfrm>
            <a:off x="8450435" y="4601723"/>
            <a:ext cx="1127736" cy="668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Move from applications to organizational capabilities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9723055" y="4717458"/>
            <a:ext cx="1004732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Focus on value over assets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9029940" y="3760881"/>
            <a:ext cx="1199228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Make data capabilities a differentiator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0302864" y="3717339"/>
            <a:ext cx="1041340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Shift from reactive to predictive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7816732" y="3636669"/>
            <a:ext cx="1200228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Lead transformation in a Tech-first Enterprise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8405429" y="2734130"/>
            <a:ext cx="1183218" cy="52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Automate and focus on high value activities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9617312" y="2676074"/>
            <a:ext cx="1186294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Deliver organizational capabilities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10805914" y="2734130"/>
            <a:ext cx="1213539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Shift from Technology in capabilities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9033410" y="1640322"/>
            <a:ext cx="116284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Capitalize on the commoditization of IT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10221379" y="1634136"/>
            <a:ext cx="1162710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Drive dynamic risk informed decisions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10192101" y="5431536"/>
            <a:ext cx="1500593" cy="445027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DDDCFD"/>
              </a:gs>
              <a:gs pos="100000">
                <a:srgbClr val="BDBAFC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8471612" y="5519958"/>
            <a:ext cx="179875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LINEAR IT TRAJECTORY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 rot="-844535">
            <a:off x="4848414" y="4577851"/>
            <a:ext cx="1336968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EXPONENTIAL TECHNOLOGY ADVANCEMENTS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 rot="-4450910">
            <a:off x="6974380" y="1918473"/>
            <a:ext cx="1336968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EXPONENTIAL IT TRAJECTORY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9121064" y="5155821"/>
            <a:ext cx="1003822" cy="258148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9655079" y="19015"/>
            <a:ext cx="1115036" cy="1287466"/>
          </a:xfrm>
          <a:custGeom>
            <a:avLst/>
            <a:gdLst/>
            <a:ahLst/>
            <a:cxnLst/>
            <a:rect l="l" t="t" r="r" b="b"/>
            <a:pathLst>
              <a:path w="1115036" h="1287466" extrusionOk="0">
                <a:moveTo>
                  <a:pt x="1115037" y="965615"/>
                </a:moveTo>
                <a:lnTo>
                  <a:pt x="1115037" y="321851"/>
                </a:lnTo>
                <a:lnTo>
                  <a:pt x="557518" y="0"/>
                </a:lnTo>
                <a:lnTo>
                  <a:pt x="0" y="321851"/>
                </a:lnTo>
                <a:lnTo>
                  <a:pt x="0" y="965615"/>
                </a:lnTo>
                <a:lnTo>
                  <a:pt x="557518" y="1287466"/>
                </a:lnTo>
                <a:lnTo>
                  <a:pt x="1115037" y="965615"/>
                </a:lnTo>
                <a:close/>
              </a:path>
            </a:pathLst>
          </a:custGeom>
          <a:solidFill>
            <a:srgbClr val="E1C4F4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8365926" y="270043"/>
            <a:ext cx="1303314" cy="74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Lean Into the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Curve by Applying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Experimental IT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Principles</a:t>
            </a:r>
            <a:endParaRPr sz="900" b="0" i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" name="Google Shape;146;p4"/>
          <p:cNvSpPr/>
          <p:nvPr/>
        </p:nvSpPr>
        <p:spPr>
          <a:xfrm rot="-5400000">
            <a:off x="9977641" y="443051"/>
            <a:ext cx="472668" cy="666751"/>
          </a:xfrm>
          <a:custGeom>
            <a:avLst/>
            <a:gdLst/>
            <a:ahLst/>
            <a:cxnLst/>
            <a:rect l="l" t="t" r="r" b="b"/>
            <a:pathLst>
              <a:path w="472668" h="666751" extrusionOk="0">
                <a:moveTo>
                  <a:pt x="472668" y="0"/>
                </a:moveTo>
                <a:lnTo>
                  <a:pt x="472667" y="666751"/>
                </a:lnTo>
                <a:lnTo>
                  <a:pt x="329049" y="666751"/>
                </a:lnTo>
                <a:lnTo>
                  <a:pt x="329050" y="490223"/>
                </a:lnTo>
                <a:lnTo>
                  <a:pt x="0" y="490223"/>
                </a:lnTo>
                <a:lnTo>
                  <a:pt x="0" y="342968"/>
                </a:lnTo>
                <a:lnTo>
                  <a:pt x="329050" y="342968"/>
                </a:lnTo>
                <a:lnTo>
                  <a:pt x="32905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98000">
                <a:schemeClr val="accent4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4"/>
          <p:cNvSpPr/>
          <p:nvPr/>
        </p:nvSpPr>
        <p:spPr>
          <a:xfrm rot="10800000">
            <a:off x="9987392" y="753626"/>
            <a:ext cx="163589" cy="250610"/>
          </a:xfrm>
          <a:prstGeom prst="rect">
            <a:avLst/>
          </a:prstGeom>
          <a:gradFill>
            <a:gsLst>
              <a:gs pos="0">
                <a:schemeClr val="accent3"/>
              </a:gs>
              <a:gs pos="98000">
                <a:schemeClr val="accent4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9565472" y="266154"/>
            <a:ext cx="1303314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EXPONENTIAL</a:t>
            </a:r>
            <a:endParaRPr sz="900" b="0" i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4"/>
          <p:cNvSpPr txBox="1"/>
          <p:nvPr/>
        </p:nvSpPr>
        <p:spPr>
          <a:xfrm rot="-2700000">
            <a:off x="888264" y="4042562"/>
            <a:ext cx="944102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ALGORITHMS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 rot="-2700000">
            <a:off x="1531895" y="4042562"/>
            <a:ext cx="944102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INTERNET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 rot="-2700000">
            <a:off x="2155277" y="4042563"/>
            <a:ext cx="1058030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VIRTUALIZATION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 rot="-2700000">
            <a:off x="2827771" y="4042563"/>
            <a:ext cx="1058030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CLOUD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 rot="-2700000">
            <a:off x="4135100" y="3968696"/>
            <a:ext cx="1058030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NLP &amp; IMAGE RECOGNITION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 rot="-2700000">
            <a:off x="3544287" y="4042563"/>
            <a:ext cx="1058030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BIG DATA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 rot="-2700000">
            <a:off x="4829071" y="4042561"/>
            <a:ext cx="1058030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GENERATIVE </a:t>
            </a:r>
            <a:r>
              <a:rPr lang="en-US" sz="800" b="0" i="0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AI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27131" y="3783927"/>
            <a:ext cx="1289050" cy="817336"/>
          </a:xfrm>
          <a:custGeom>
            <a:avLst/>
            <a:gdLst/>
            <a:ahLst/>
            <a:cxnLst/>
            <a:rect l="l" t="t" r="r" b="b"/>
            <a:pathLst>
              <a:path w="1289050" h="817336" extrusionOk="0">
                <a:moveTo>
                  <a:pt x="0" y="817336"/>
                </a:moveTo>
                <a:lnTo>
                  <a:pt x="476250" y="812800"/>
                </a:lnTo>
                <a:lnTo>
                  <a:pt x="1289050" y="0"/>
                </a:lnTo>
              </a:path>
            </a:pathLst>
          </a:custGeom>
          <a:noFill/>
          <a:ln w="12700" cap="flat" cmpd="sng">
            <a:solidFill>
              <a:schemeClr val="accent4"/>
            </a:solidFill>
            <a:prstDash val="solid"/>
            <a:miter lim="800000"/>
            <a:headEnd type="triangle" w="med" len="med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506746" y="601983"/>
            <a:ext cx="666930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 dirty="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 dirty="0"/>
          </a:p>
        </p:txBody>
      </p:sp>
      <p:cxnSp>
        <p:nvCxnSpPr>
          <p:cNvPr id="158" name="Google Shape;158;p4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"/>
          <p:cNvSpPr txBox="1"/>
          <p:nvPr/>
        </p:nvSpPr>
        <p:spPr>
          <a:xfrm>
            <a:off x="506746" y="601983"/>
            <a:ext cx="1085367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261" name="Google Shape;261;p5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Freeform: Shape 110">
            <a:extLst>
              <a:ext uri="{FF2B5EF4-FFF2-40B4-BE49-F238E27FC236}">
                <a16:creationId xmlns:a16="http://schemas.microsoft.com/office/drawing/2014/main" id="{4A465A1E-986D-BB4D-C8F1-2C90E3A0621D}"/>
              </a:ext>
            </a:extLst>
          </p:cNvPr>
          <p:cNvSpPr/>
          <p:nvPr/>
        </p:nvSpPr>
        <p:spPr>
          <a:xfrm>
            <a:off x="5853945" y="1047750"/>
            <a:ext cx="4495250" cy="4419600"/>
          </a:xfrm>
          <a:custGeom>
            <a:avLst/>
            <a:gdLst>
              <a:gd name="connsiteX0" fmla="*/ 0 w 4171950"/>
              <a:gd name="connsiteY0" fmla="*/ 247650 h 4419600"/>
              <a:gd name="connsiteX1" fmla="*/ 0 w 4171950"/>
              <a:gd name="connsiteY1" fmla="*/ 0 h 4419600"/>
              <a:gd name="connsiteX2" fmla="*/ 1762125 w 4171950"/>
              <a:gd name="connsiteY2" fmla="*/ 0 h 4419600"/>
              <a:gd name="connsiteX3" fmla="*/ 2752725 w 4171950"/>
              <a:gd name="connsiteY3" fmla="*/ 295275 h 4419600"/>
              <a:gd name="connsiteX4" fmla="*/ 2752725 w 4171950"/>
              <a:gd name="connsiteY4" fmla="*/ 3848100 h 4419600"/>
              <a:gd name="connsiteX5" fmla="*/ 4171950 w 4171950"/>
              <a:gd name="connsiteY5" fmla="*/ 3848100 h 4419600"/>
              <a:gd name="connsiteX6" fmla="*/ 4171950 w 4171950"/>
              <a:gd name="connsiteY6" fmla="*/ 4419600 h 441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71950" h="4419600">
                <a:moveTo>
                  <a:pt x="0" y="247650"/>
                </a:moveTo>
                <a:lnTo>
                  <a:pt x="0" y="0"/>
                </a:lnTo>
                <a:lnTo>
                  <a:pt x="1762125" y="0"/>
                </a:lnTo>
                <a:lnTo>
                  <a:pt x="2752725" y="295275"/>
                </a:lnTo>
                <a:lnTo>
                  <a:pt x="2752725" y="3848100"/>
                </a:lnTo>
                <a:lnTo>
                  <a:pt x="4171950" y="3848100"/>
                </a:lnTo>
                <a:lnTo>
                  <a:pt x="4171950" y="4419600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headEnd type="oval" w="sm" len="sm"/>
            <a:tailEnd type="non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B50549-BAE2-3A16-A262-8F1247927E20}"/>
              </a:ext>
            </a:extLst>
          </p:cNvPr>
          <p:cNvSpPr/>
          <p:nvPr/>
        </p:nvSpPr>
        <p:spPr>
          <a:xfrm>
            <a:off x="3415543" y="1442937"/>
            <a:ext cx="4876802" cy="4876802"/>
          </a:xfrm>
          <a:prstGeom prst="ellipse">
            <a:avLst/>
          </a:prstGeom>
          <a:solidFill>
            <a:schemeClr val="tx2"/>
          </a:solidFill>
          <a:ln>
            <a:noFill/>
          </a:ln>
          <a:effectLst>
            <a:outerShdw blurRad="292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147D1-D29B-758C-A7FA-50BA248D551F}"/>
              </a:ext>
            </a:extLst>
          </p:cNvPr>
          <p:cNvSpPr txBox="1"/>
          <p:nvPr/>
        </p:nvSpPr>
        <p:spPr>
          <a:xfrm rot="18256601">
            <a:off x="3323176" y="2189633"/>
            <a:ext cx="2731748" cy="1715229"/>
          </a:xfrm>
          <a:prstGeom prst="rect">
            <a:avLst/>
          </a:prstGeom>
          <a:noFill/>
        </p:spPr>
        <p:txBody>
          <a:bodyPr wrap="square" rtlCol="0" anchor="t">
            <a:prstTxWarp prst="textArchUp">
              <a:avLst>
                <a:gd name="adj" fmla="val 11097387"/>
              </a:avLst>
            </a:prstTxWarp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b="0" i="0" dirty="0">
                <a:solidFill>
                  <a:schemeClr val="accent4"/>
                </a:solidFill>
                <a:effectLst/>
                <a:latin typeface="+mj-lt"/>
              </a:rPr>
              <a:t>Scalable capabilities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EB8655-73E6-4D86-83E4-32B24FECE080}"/>
              </a:ext>
            </a:extLst>
          </p:cNvPr>
          <p:cNvSpPr txBox="1"/>
          <p:nvPr/>
        </p:nvSpPr>
        <p:spPr>
          <a:xfrm rot="3393292">
            <a:off x="5699819" y="2234453"/>
            <a:ext cx="2731748" cy="1715229"/>
          </a:xfrm>
          <a:prstGeom prst="rect">
            <a:avLst/>
          </a:prstGeom>
          <a:noFill/>
        </p:spPr>
        <p:txBody>
          <a:bodyPr wrap="square" rtlCol="0" anchor="t">
            <a:prstTxWarp prst="textArchUp">
              <a:avLst>
                <a:gd name="adj" fmla="val 11097387"/>
              </a:avLst>
            </a:prstTxWarp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b="0" i="0" dirty="0">
                <a:solidFill>
                  <a:schemeClr val="accent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Strategic alignment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FB3E0-1897-5A8C-6075-859B611B6274}"/>
              </a:ext>
            </a:extLst>
          </p:cNvPr>
          <p:cNvSpPr txBox="1"/>
          <p:nvPr/>
        </p:nvSpPr>
        <p:spPr>
          <a:xfrm>
            <a:off x="513532" y="1053734"/>
            <a:ext cx="5118011" cy="4239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b="0" i="0" dirty="0">
                <a:solidFill>
                  <a:schemeClr val="tx2">
                    <a:lumMod val="50000"/>
                  </a:schemeClr>
                </a:solidFill>
                <a:effectLst/>
                <a:latin typeface="Lato Black (Headings)"/>
              </a:rPr>
              <a:t>Lead Your Ai Transformation</a:t>
            </a:r>
            <a:endParaRPr lang="en-US" sz="2000" dirty="0">
              <a:solidFill>
                <a:schemeClr val="tx2">
                  <a:lumMod val="50000"/>
                </a:schemeClr>
              </a:solidFill>
              <a:latin typeface="Lato Black (Headings)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D404CC-33E7-BBF1-6D8E-34C87C44DB43}"/>
              </a:ext>
            </a:extLst>
          </p:cNvPr>
          <p:cNvSpPr/>
          <p:nvPr/>
        </p:nvSpPr>
        <p:spPr>
          <a:xfrm>
            <a:off x="3669545" y="1696938"/>
            <a:ext cx="4368800" cy="4368800"/>
          </a:xfrm>
          <a:prstGeom prst="ellipse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>
            <a:solidFill>
              <a:schemeClr val="accent4"/>
            </a:solidFill>
          </a:ln>
          <a:effectLst>
            <a:outerShdw blurRad="292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A0399-D7C4-AE62-A78D-CFBEE024CEC3}"/>
              </a:ext>
            </a:extLst>
          </p:cNvPr>
          <p:cNvCxnSpPr/>
          <p:nvPr/>
        </p:nvCxnSpPr>
        <p:spPr>
          <a:xfrm>
            <a:off x="7525445" y="3881338"/>
            <a:ext cx="67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DB4B03-D9D1-1A63-9243-24F2A7D3132E}"/>
              </a:ext>
            </a:extLst>
          </p:cNvPr>
          <p:cNvCxnSpPr/>
          <p:nvPr/>
        </p:nvCxnSpPr>
        <p:spPr>
          <a:xfrm>
            <a:off x="3511801" y="3881338"/>
            <a:ext cx="67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DCFBC1-A4A2-6DA2-B07F-38334C2F2285}"/>
              </a:ext>
            </a:extLst>
          </p:cNvPr>
          <p:cNvCxnSpPr>
            <a:cxnSpLocks/>
          </p:cNvCxnSpPr>
          <p:nvPr/>
        </p:nvCxnSpPr>
        <p:spPr>
          <a:xfrm rot="16200000">
            <a:off x="5514945" y="5890672"/>
            <a:ext cx="67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764559F-A513-508B-10C7-CFF39A4E4FAE}"/>
              </a:ext>
            </a:extLst>
          </p:cNvPr>
          <p:cNvGrpSpPr/>
          <p:nvPr/>
        </p:nvGrpSpPr>
        <p:grpSpPr>
          <a:xfrm>
            <a:off x="4310042" y="2360295"/>
            <a:ext cx="3087806" cy="3087806"/>
            <a:chOff x="4801002" y="2672065"/>
            <a:chExt cx="2589995" cy="258999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3D8EE04-AB76-EABB-A908-D36B0D00E861}"/>
                </a:ext>
              </a:extLst>
            </p:cNvPr>
            <p:cNvSpPr/>
            <p:nvPr/>
          </p:nvSpPr>
          <p:spPr>
            <a:xfrm>
              <a:off x="4801002" y="2672065"/>
              <a:ext cx="2589995" cy="2589995"/>
            </a:xfrm>
            <a:prstGeom prst="ellipse">
              <a:avLst/>
            </a:prstGeom>
            <a:gradFill flip="none" rotWithShape="1"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0">
                  <a:schemeClr val="accent4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ln>
              <a:solidFill>
                <a:schemeClr val="accent4"/>
              </a:solidFill>
            </a:ln>
            <a:effectLst>
              <a:outerShdw blurRad="292100" sx="102000" sy="102000" algn="ctr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D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8D74EAD-0E9B-68DC-6361-5F6298E72C19}"/>
                </a:ext>
              </a:extLst>
            </p:cNvPr>
            <p:cNvSpPr/>
            <p:nvPr/>
          </p:nvSpPr>
          <p:spPr>
            <a:xfrm rot="10800000">
              <a:off x="5334000" y="3205062"/>
              <a:ext cx="1524000" cy="1524000"/>
            </a:xfrm>
            <a:prstGeom prst="ellipse">
              <a:avLst/>
            </a:prstGeom>
            <a:noFill/>
            <a:ln w="44450">
              <a:gradFill>
                <a:gsLst>
                  <a:gs pos="0">
                    <a:schemeClr val="accent4">
                      <a:lumMod val="20000"/>
                      <a:lumOff val="80000"/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  <a:effectLst>
              <a:outerShdw blurRad="292100" sx="102000" sy="102000" algn="ctr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057696B-E6B6-74C4-4618-9EA7D0E7A412}"/>
                </a:ext>
              </a:extLst>
            </p:cNvPr>
            <p:cNvSpPr/>
            <p:nvPr/>
          </p:nvSpPr>
          <p:spPr>
            <a:xfrm rot="10800000">
              <a:off x="5081778" y="2929980"/>
              <a:ext cx="2028444" cy="2028444"/>
            </a:xfrm>
            <a:prstGeom prst="ellipse">
              <a:avLst/>
            </a:prstGeom>
            <a:noFill/>
            <a:ln w="44450">
              <a:gradFill>
                <a:gsLst>
                  <a:gs pos="0">
                    <a:schemeClr val="accent4">
                      <a:lumMod val="20000"/>
                      <a:lumOff val="80000"/>
                      <a:alpha val="0"/>
                    </a:schemeClr>
                  </a:gs>
                  <a:gs pos="100000">
                    <a:schemeClr val="accent4"/>
                  </a:gs>
                </a:gsLst>
                <a:lin ang="5400000" scaled="1"/>
              </a:gradFill>
            </a:ln>
            <a:effectLst>
              <a:outerShdw blurRad="292100" sx="102000" sy="102000" algn="ctr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3BEA613B-106E-E9C2-4F96-6C8ABCD6FCBF}"/>
              </a:ext>
            </a:extLst>
          </p:cNvPr>
          <p:cNvSpPr/>
          <p:nvPr/>
        </p:nvSpPr>
        <p:spPr>
          <a:xfrm rot="16200000">
            <a:off x="4449007" y="2045485"/>
            <a:ext cx="2809875" cy="1081104"/>
          </a:xfrm>
          <a:prstGeom prst="homePlate">
            <a:avLst>
              <a:gd name="adj" fmla="val 22511"/>
            </a:avLst>
          </a:prstGeom>
          <a:gradFill flip="none" rotWithShape="1">
            <a:gsLst>
              <a:gs pos="0">
                <a:schemeClr val="accent4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  <a:effectLst>
            <a:outerShdw blurRad="292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4F41F8-F707-F297-EC8F-D80764BD437C}"/>
              </a:ext>
            </a:extLst>
          </p:cNvPr>
          <p:cNvSpPr/>
          <p:nvPr/>
        </p:nvSpPr>
        <p:spPr>
          <a:xfrm>
            <a:off x="5290064" y="3317457"/>
            <a:ext cx="1127760" cy="1127760"/>
          </a:xfrm>
          <a:prstGeom prst="ellipse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  <a:tileRect/>
          </a:gradFill>
          <a:ln>
            <a:noFill/>
          </a:ln>
          <a:effectLst>
            <a:outerShdw blurRad="292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B6A8547C-1D7F-477D-F3F6-2A86BDC606F4}"/>
              </a:ext>
            </a:extLst>
          </p:cNvPr>
          <p:cNvSpPr/>
          <p:nvPr/>
        </p:nvSpPr>
        <p:spPr>
          <a:xfrm>
            <a:off x="5290064" y="3317457"/>
            <a:ext cx="1127760" cy="1127760"/>
          </a:xfrm>
          <a:prstGeom prst="arc">
            <a:avLst>
              <a:gd name="adj1" fmla="val 11533507"/>
              <a:gd name="adj2" fmla="val 2079645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86020619-D057-13DD-4CC1-C9C10AD94EFA}"/>
              </a:ext>
            </a:extLst>
          </p:cNvPr>
          <p:cNvSpPr/>
          <p:nvPr/>
        </p:nvSpPr>
        <p:spPr>
          <a:xfrm>
            <a:off x="5290064" y="1984360"/>
            <a:ext cx="1127760" cy="1127760"/>
          </a:xfrm>
          <a:prstGeom prst="arc">
            <a:avLst>
              <a:gd name="adj1" fmla="val 11533507"/>
              <a:gd name="adj2" fmla="val 2079645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12B1ECFC-657A-50CF-5BF1-F68DAA7C3BC0}"/>
              </a:ext>
            </a:extLst>
          </p:cNvPr>
          <p:cNvSpPr/>
          <p:nvPr/>
        </p:nvSpPr>
        <p:spPr>
          <a:xfrm>
            <a:off x="5290064" y="2720690"/>
            <a:ext cx="1127760" cy="1127760"/>
          </a:xfrm>
          <a:prstGeom prst="arc">
            <a:avLst>
              <a:gd name="adj1" fmla="val 11533507"/>
              <a:gd name="adj2" fmla="val 2079645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0" name="Freeform: Shape 20">
            <a:extLst>
              <a:ext uri="{FF2B5EF4-FFF2-40B4-BE49-F238E27FC236}">
                <a16:creationId xmlns:a16="http://schemas.microsoft.com/office/drawing/2014/main" id="{891D5714-7051-14BD-B335-3983A8FDC403}"/>
              </a:ext>
            </a:extLst>
          </p:cNvPr>
          <p:cNvSpPr/>
          <p:nvPr/>
        </p:nvSpPr>
        <p:spPr>
          <a:xfrm>
            <a:off x="5349167" y="3920176"/>
            <a:ext cx="1009558" cy="448535"/>
          </a:xfrm>
          <a:custGeom>
            <a:avLst/>
            <a:gdLst>
              <a:gd name="connsiteX0" fmla="*/ 0 w 1113847"/>
              <a:gd name="connsiteY0" fmla="*/ 0 h 494871"/>
              <a:gd name="connsiteX1" fmla="*/ 1113847 w 1113847"/>
              <a:gd name="connsiteY1" fmla="*/ 0 h 494871"/>
              <a:gd name="connsiteX2" fmla="*/ 1109347 w 1113847"/>
              <a:gd name="connsiteY2" fmla="*/ 44633 h 494871"/>
              <a:gd name="connsiteX3" fmla="*/ 556923 w 1113847"/>
              <a:gd name="connsiteY3" fmla="*/ 494871 h 494871"/>
              <a:gd name="connsiteX4" fmla="*/ 4499 w 1113847"/>
              <a:gd name="connsiteY4" fmla="*/ 44633 h 49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847" h="494871">
                <a:moveTo>
                  <a:pt x="0" y="0"/>
                </a:moveTo>
                <a:lnTo>
                  <a:pt x="1113847" y="0"/>
                </a:lnTo>
                <a:lnTo>
                  <a:pt x="1109347" y="44633"/>
                </a:lnTo>
                <a:cubicBezTo>
                  <a:pt x="1056767" y="301583"/>
                  <a:pt x="829418" y="494871"/>
                  <a:pt x="556923" y="494871"/>
                </a:cubicBezTo>
                <a:cubicBezTo>
                  <a:pt x="284429" y="494871"/>
                  <a:pt x="57079" y="301583"/>
                  <a:pt x="4499" y="44633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0">
                <a:schemeClr val="accent3"/>
              </a:gs>
            </a:gsLst>
            <a:lin ang="2700000" scaled="1"/>
            <a:tileRect/>
          </a:gradFill>
          <a:ln>
            <a:noFill/>
          </a:ln>
          <a:effectLst>
            <a:outerShdw blurRad="292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D92686-72E9-5377-9F0B-AEAA4ABC5378}"/>
              </a:ext>
            </a:extLst>
          </p:cNvPr>
          <p:cNvSpPr txBox="1"/>
          <p:nvPr/>
        </p:nvSpPr>
        <p:spPr>
          <a:xfrm>
            <a:off x="5313393" y="2845409"/>
            <a:ext cx="1081104" cy="4669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Stay up to date with evolving AI tech and vendor landscape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A7ABA3-AEB9-D43B-58BA-2B656D7EC03C}"/>
              </a:ext>
            </a:extLst>
          </p:cNvPr>
          <p:cNvSpPr txBox="1"/>
          <p:nvPr/>
        </p:nvSpPr>
        <p:spPr>
          <a:xfrm>
            <a:off x="5268364" y="2169746"/>
            <a:ext cx="1184777" cy="5961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Deeply understand your core business operating model and the disruption to everything you 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D13C20-0512-0994-9374-2313551BA989}"/>
              </a:ext>
            </a:extLst>
          </p:cNvPr>
          <p:cNvSpPr txBox="1"/>
          <p:nvPr/>
        </p:nvSpPr>
        <p:spPr>
          <a:xfrm>
            <a:off x="5290607" y="3409001"/>
            <a:ext cx="1139750" cy="4669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Harness your proprietary data and augment its value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CE0C94-CD97-2E1E-C756-BAB427D882D9}"/>
              </a:ext>
            </a:extLst>
          </p:cNvPr>
          <p:cNvSpPr txBox="1"/>
          <p:nvPr/>
        </p:nvSpPr>
        <p:spPr>
          <a:xfrm>
            <a:off x="5349165" y="1475153"/>
            <a:ext cx="1009560" cy="407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Demonstrate the right to lead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566F0D-BF42-3B1F-81AA-58364E82CAD4}"/>
              </a:ext>
            </a:extLst>
          </p:cNvPr>
          <p:cNvSpPr txBox="1"/>
          <p:nvPr/>
        </p:nvSpPr>
        <p:spPr>
          <a:xfrm>
            <a:off x="5414865" y="3893785"/>
            <a:ext cx="878160" cy="407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b="1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Earn the right to play</a:t>
            </a:r>
          </a:p>
        </p:txBody>
      </p:sp>
      <p:pic>
        <p:nvPicPr>
          <p:cNvPr id="26" name="Graphic 25" descr="Gauge with solid fill">
            <a:extLst>
              <a:ext uri="{FF2B5EF4-FFF2-40B4-BE49-F238E27FC236}">
                <a16:creationId xmlns:a16="http://schemas.microsoft.com/office/drawing/2014/main" id="{1ABDF42C-CCA6-0B99-E249-AF3D8BAB03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5695" y="4471336"/>
            <a:ext cx="192568" cy="19256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B89CA2-D171-4937-286E-BAF02ABCC78B}"/>
              </a:ext>
            </a:extLst>
          </p:cNvPr>
          <p:cNvSpPr txBox="1"/>
          <p:nvPr/>
        </p:nvSpPr>
        <p:spPr>
          <a:xfrm>
            <a:off x="5327200" y="4607729"/>
            <a:ext cx="1009560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Unprecedented rate and pace of change</a:t>
            </a:r>
          </a:p>
        </p:txBody>
      </p:sp>
      <p:pic>
        <p:nvPicPr>
          <p:cNvPr id="28" name="Graphic 27" descr="Dress with solid fill">
            <a:extLst>
              <a:ext uri="{FF2B5EF4-FFF2-40B4-BE49-F238E27FC236}">
                <a16:creationId xmlns:a16="http://schemas.microsoft.com/office/drawing/2014/main" id="{85401CCF-97CF-B67C-149B-572DD4D9B4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9727" y="4447250"/>
            <a:ext cx="175062" cy="19760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885BC0B-35FF-85A5-48AD-513E590BC410}"/>
              </a:ext>
            </a:extLst>
          </p:cNvPr>
          <p:cNvSpPr txBox="1"/>
          <p:nvPr/>
        </p:nvSpPr>
        <p:spPr>
          <a:xfrm>
            <a:off x="4485264" y="4607729"/>
            <a:ext cx="1009560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Evolving maturity of AI vendors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202691-CF95-9239-1C85-42817E3577F6}"/>
              </a:ext>
            </a:extLst>
          </p:cNvPr>
          <p:cNvSpPr txBox="1"/>
          <p:nvPr/>
        </p:nvSpPr>
        <p:spPr>
          <a:xfrm>
            <a:off x="6161649" y="4607729"/>
            <a:ext cx="1009560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Massive human impact of AI change</a:t>
            </a:r>
          </a:p>
        </p:txBody>
      </p:sp>
      <p:pic>
        <p:nvPicPr>
          <p:cNvPr id="31" name="Graphic 30" descr="Target with solid fill">
            <a:extLst>
              <a:ext uri="{FF2B5EF4-FFF2-40B4-BE49-F238E27FC236}">
                <a16:creationId xmlns:a16="http://schemas.microsoft.com/office/drawing/2014/main" id="{03D56D97-35FE-2E39-0ACD-1F275B669C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7292" y="4469463"/>
            <a:ext cx="180109" cy="18010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0B29DEC-3697-E8E3-A94F-AA46D5A84E62}"/>
              </a:ext>
            </a:extLst>
          </p:cNvPr>
          <p:cNvSpPr txBox="1"/>
          <p:nvPr/>
        </p:nvSpPr>
        <p:spPr>
          <a:xfrm>
            <a:off x="5157493" y="4965118"/>
            <a:ext cx="1392904" cy="3727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8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Unique characteristics of an AI transformation</a:t>
            </a:r>
          </a:p>
        </p:txBody>
      </p:sp>
      <p:pic>
        <p:nvPicPr>
          <p:cNvPr id="33" name="Graphic 32" descr="Puzzle pieces with solid fill">
            <a:extLst>
              <a:ext uri="{FF2B5EF4-FFF2-40B4-BE49-F238E27FC236}">
                <a16:creationId xmlns:a16="http://schemas.microsoft.com/office/drawing/2014/main" id="{FF381FEC-1FA3-C37F-9B0A-69EB951F5A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43498" y="3391869"/>
            <a:ext cx="348886" cy="348886"/>
          </a:xfrm>
          <a:prstGeom prst="rect">
            <a:avLst/>
          </a:prstGeom>
        </p:spPr>
      </p:pic>
      <p:pic>
        <p:nvPicPr>
          <p:cNvPr id="34" name="Graphic 33" descr="Document with solid fill">
            <a:extLst>
              <a:ext uri="{FF2B5EF4-FFF2-40B4-BE49-F238E27FC236}">
                <a16:creationId xmlns:a16="http://schemas.microsoft.com/office/drawing/2014/main" id="{E1A178FB-C8AA-2884-6617-E221728F12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65809" y="4080376"/>
            <a:ext cx="288335" cy="288335"/>
          </a:xfrm>
          <a:prstGeom prst="rect">
            <a:avLst/>
          </a:prstGeom>
        </p:spPr>
      </p:pic>
      <p:pic>
        <p:nvPicPr>
          <p:cNvPr id="35" name="Graphic 34" descr="Bank with solid fill">
            <a:extLst>
              <a:ext uri="{FF2B5EF4-FFF2-40B4-BE49-F238E27FC236}">
                <a16:creationId xmlns:a16="http://schemas.microsoft.com/office/drawing/2014/main" id="{D0215BE8-7515-08E1-A920-10201ABECF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52963" y="3973158"/>
            <a:ext cx="317169" cy="317169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ED49E96-B8A6-4F6E-860F-25874C3B4D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84985" y="3517418"/>
            <a:ext cx="201889" cy="25548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B829B4F-A085-9343-5C2C-11EC3A2074C6}"/>
              </a:ext>
            </a:extLst>
          </p:cNvPr>
          <p:cNvSpPr txBox="1"/>
          <p:nvPr/>
        </p:nvSpPr>
        <p:spPr>
          <a:xfrm>
            <a:off x="6487647" y="2228269"/>
            <a:ext cx="792738" cy="208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Strategy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C4959C-BFB1-BCDA-6966-259FD20D58EF}"/>
              </a:ext>
            </a:extLst>
          </p:cNvPr>
          <p:cNvSpPr txBox="1"/>
          <p:nvPr/>
        </p:nvSpPr>
        <p:spPr>
          <a:xfrm>
            <a:off x="6948263" y="2539138"/>
            <a:ext cx="664245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Value cases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6BA7DA-76A3-796C-8E37-21726D679B82}"/>
              </a:ext>
            </a:extLst>
          </p:cNvPr>
          <p:cNvSpPr txBox="1"/>
          <p:nvPr/>
        </p:nvSpPr>
        <p:spPr>
          <a:xfrm>
            <a:off x="7252095" y="2961186"/>
            <a:ext cx="664245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Measure of success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3B7948-688E-6FCC-0B22-26AA0E8166F7}"/>
              </a:ext>
            </a:extLst>
          </p:cNvPr>
          <p:cNvSpPr txBox="1"/>
          <p:nvPr/>
        </p:nvSpPr>
        <p:spPr>
          <a:xfrm>
            <a:off x="4337261" y="2220649"/>
            <a:ext cx="792738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ML &amp; AI operations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54320B-D6EE-DE52-5311-C4789D4D772E}"/>
              </a:ext>
            </a:extLst>
          </p:cNvPr>
          <p:cNvSpPr txBox="1"/>
          <p:nvPr/>
        </p:nvSpPr>
        <p:spPr>
          <a:xfrm>
            <a:off x="3992679" y="2549918"/>
            <a:ext cx="792738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operations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78641E-65A7-7807-1925-8BF5B050FE08}"/>
              </a:ext>
            </a:extLst>
          </p:cNvPr>
          <p:cNvSpPr txBox="1"/>
          <p:nvPr/>
        </p:nvSpPr>
        <p:spPr>
          <a:xfrm>
            <a:off x="3764693" y="2938163"/>
            <a:ext cx="792738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&amp; data platforms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3E7FFC-092D-28F2-BB40-798016C3D78D}"/>
              </a:ext>
            </a:extLst>
          </p:cNvPr>
          <p:cNvSpPr txBox="1"/>
          <p:nvPr/>
        </p:nvSpPr>
        <p:spPr>
          <a:xfrm>
            <a:off x="7084029" y="4653271"/>
            <a:ext cx="792738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Executive priority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E25061-F3E3-FA38-2B64-24CC29213F19}"/>
              </a:ext>
            </a:extLst>
          </p:cNvPr>
          <p:cNvSpPr txBox="1"/>
          <p:nvPr/>
        </p:nvSpPr>
        <p:spPr>
          <a:xfrm>
            <a:off x="6727071" y="5110444"/>
            <a:ext cx="792738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literacy &amp; skills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EA05AF-CEF1-BC5A-8803-0D6E290595D2}"/>
              </a:ext>
            </a:extLst>
          </p:cNvPr>
          <p:cNvSpPr txBox="1"/>
          <p:nvPr/>
        </p:nvSpPr>
        <p:spPr>
          <a:xfrm>
            <a:off x="6128670" y="5496820"/>
            <a:ext cx="792738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Change planning</a:t>
            </a:r>
            <a:endParaRPr lang="en-US" sz="700" b="0" i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0E54AF-08CC-51B0-70BF-2853AFD59E52}"/>
              </a:ext>
            </a:extLst>
          </p:cNvPr>
          <p:cNvSpPr txBox="1"/>
          <p:nvPr/>
        </p:nvSpPr>
        <p:spPr>
          <a:xfrm>
            <a:off x="4802201" y="5496820"/>
            <a:ext cx="792738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Responsible principles</a:t>
            </a:r>
            <a:endParaRPr lang="en-US" sz="700" b="0" i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4DA563-4F06-0A7A-D6AB-2A58FC207189}"/>
              </a:ext>
            </a:extLst>
          </p:cNvPr>
          <p:cNvSpPr txBox="1"/>
          <p:nvPr/>
        </p:nvSpPr>
        <p:spPr>
          <a:xfrm>
            <a:off x="4277877" y="5110444"/>
            <a:ext cx="638870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governance</a:t>
            </a:r>
            <a:endParaRPr lang="en-US" sz="700" b="0" i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D15893-2FF2-F406-582F-756468863592}"/>
              </a:ext>
            </a:extLst>
          </p:cNvPr>
          <p:cNvSpPr txBox="1"/>
          <p:nvPr/>
        </p:nvSpPr>
        <p:spPr>
          <a:xfrm>
            <a:off x="3885869" y="4653271"/>
            <a:ext cx="638870" cy="208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 risk</a:t>
            </a:r>
            <a:endParaRPr lang="en-US" sz="700" b="0" i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1E37A3-7332-A958-292B-E88174D1B28C}"/>
              </a:ext>
            </a:extLst>
          </p:cNvPr>
          <p:cNvSpPr txBox="1"/>
          <p:nvPr/>
        </p:nvSpPr>
        <p:spPr>
          <a:xfrm>
            <a:off x="548266" y="1773457"/>
            <a:ext cx="1522913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1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Unprecedented</a:t>
            </a:r>
          </a:p>
          <a:p>
            <a:r>
              <a:rPr lang="en-US" sz="11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levels of investment</a:t>
            </a:r>
            <a:endParaRPr lang="en-US" sz="1100" b="0" i="0" dirty="0">
              <a:solidFill>
                <a:schemeClr val="accent4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A396196-06D3-8BB2-95EA-719AA1A70CE9}"/>
              </a:ext>
            </a:extLst>
          </p:cNvPr>
          <p:cNvSpPr/>
          <p:nvPr/>
        </p:nvSpPr>
        <p:spPr>
          <a:xfrm>
            <a:off x="596365" y="2196585"/>
            <a:ext cx="2160000" cy="532063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  <a:tileRect/>
          </a:gradFill>
          <a:ln>
            <a:noFill/>
          </a:ln>
          <a:effectLst>
            <a:outerShdw blurRad="292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88F6684-F353-9E21-960B-D6904F947D6B}"/>
              </a:ext>
            </a:extLst>
          </p:cNvPr>
          <p:cNvSpPr txBox="1"/>
          <p:nvPr/>
        </p:nvSpPr>
        <p:spPr>
          <a:xfrm>
            <a:off x="480974" y="2298715"/>
            <a:ext cx="870650" cy="274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latin typeface="+mj-lt"/>
              </a:rPr>
              <a:t>$200B</a:t>
            </a:r>
            <a:endParaRPr lang="en-US" sz="1100" b="0" i="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BAF85A-3038-6346-34CE-D2759FBFC49D}"/>
              </a:ext>
            </a:extLst>
          </p:cNvPr>
          <p:cNvSpPr txBox="1"/>
          <p:nvPr/>
        </p:nvSpPr>
        <p:spPr>
          <a:xfrm>
            <a:off x="1194972" y="2229154"/>
            <a:ext cx="1574250" cy="4669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Invested globally by 2025 in implementing new AI technologies and reshaping business models</a:t>
            </a:r>
          </a:p>
        </p:txBody>
      </p:sp>
      <p:sp>
        <p:nvSpPr>
          <p:cNvPr id="53" name="Freeform: Shape 78">
            <a:extLst>
              <a:ext uri="{FF2B5EF4-FFF2-40B4-BE49-F238E27FC236}">
                <a16:creationId xmlns:a16="http://schemas.microsoft.com/office/drawing/2014/main" id="{E3BD72B1-C5ED-B28C-36DA-5AECAEEC78CF}"/>
              </a:ext>
            </a:extLst>
          </p:cNvPr>
          <p:cNvSpPr/>
          <p:nvPr/>
        </p:nvSpPr>
        <p:spPr>
          <a:xfrm>
            <a:off x="2033172" y="1939912"/>
            <a:ext cx="342900" cy="133350"/>
          </a:xfrm>
          <a:custGeom>
            <a:avLst/>
            <a:gdLst>
              <a:gd name="connsiteX0" fmla="*/ 0 w 342900"/>
              <a:gd name="connsiteY0" fmla="*/ 0 h 133350"/>
              <a:gd name="connsiteX1" fmla="*/ 342900 w 342900"/>
              <a:gd name="connsiteY1" fmla="*/ 0 h 133350"/>
              <a:gd name="connsiteX2" fmla="*/ 342900 w 342900"/>
              <a:gd name="connsiteY2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133350">
                <a:moveTo>
                  <a:pt x="0" y="0"/>
                </a:moveTo>
                <a:lnTo>
                  <a:pt x="342900" y="0"/>
                </a:lnTo>
                <a:lnTo>
                  <a:pt x="342900" y="13335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471B19-5346-169A-11E1-0C4BFB57CFEA}"/>
              </a:ext>
            </a:extLst>
          </p:cNvPr>
          <p:cNvSpPr txBox="1"/>
          <p:nvPr/>
        </p:nvSpPr>
        <p:spPr>
          <a:xfrm>
            <a:off x="548266" y="2861447"/>
            <a:ext cx="1522913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1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Unprecedented</a:t>
            </a:r>
          </a:p>
          <a:p>
            <a:r>
              <a:rPr lang="en-US" sz="11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Speed of change</a:t>
            </a:r>
            <a:endParaRPr lang="en-US" sz="1100" b="0" i="0" dirty="0">
              <a:solidFill>
                <a:schemeClr val="accent4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7350AC0C-B737-CD2C-523F-82A9B01D1628}"/>
              </a:ext>
            </a:extLst>
          </p:cNvPr>
          <p:cNvSpPr/>
          <p:nvPr/>
        </p:nvSpPr>
        <p:spPr>
          <a:xfrm>
            <a:off x="596365" y="3284575"/>
            <a:ext cx="2160000" cy="532063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  <a:tileRect/>
          </a:gradFill>
          <a:ln>
            <a:noFill/>
          </a:ln>
          <a:effectLst>
            <a:outerShdw blurRad="292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86F991-ACC0-2F4B-BE4A-55A3825AB159}"/>
              </a:ext>
            </a:extLst>
          </p:cNvPr>
          <p:cNvSpPr txBox="1"/>
          <p:nvPr/>
        </p:nvSpPr>
        <p:spPr>
          <a:xfrm>
            <a:off x="480974" y="3386705"/>
            <a:ext cx="870650" cy="274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latin typeface="+mj-lt"/>
              </a:rPr>
              <a:t>5 days</a:t>
            </a:r>
            <a:endParaRPr lang="en-US" sz="1100" b="0" i="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4B1B75-4AC3-FFD6-6AAA-2DD4A1F0A645}"/>
              </a:ext>
            </a:extLst>
          </p:cNvPr>
          <p:cNvSpPr txBox="1"/>
          <p:nvPr/>
        </p:nvSpPr>
        <p:spPr>
          <a:xfrm>
            <a:off x="1194972" y="3317144"/>
            <a:ext cx="1584721" cy="4669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time it took OpenAI to achieve one million customers for ChatGPT. Facebook took 10 months</a:t>
            </a:r>
          </a:p>
        </p:txBody>
      </p:sp>
      <p:sp>
        <p:nvSpPr>
          <p:cNvPr id="58" name="Freeform: Shape 83">
            <a:extLst>
              <a:ext uri="{FF2B5EF4-FFF2-40B4-BE49-F238E27FC236}">
                <a16:creationId xmlns:a16="http://schemas.microsoft.com/office/drawing/2014/main" id="{04F016CE-D607-A09E-F5C2-0B622DD230F9}"/>
              </a:ext>
            </a:extLst>
          </p:cNvPr>
          <p:cNvSpPr/>
          <p:nvPr/>
        </p:nvSpPr>
        <p:spPr>
          <a:xfrm>
            <a:off x="1810602" y="3027902"/>
            <a:ext cx="565470" cy="133350"/>
          </a:xfrm>
          <a:custGeom>
            <a:avLst/>
            <a:gdLst>
              <a:gd name="connsiteX0" fmla="*/ 0 w 342900"/>
              <a:gd name="connsiteY0" fmla="*/ 0 h 133350"/>
              <a:gd name="connsiteX1" fmla="*/ 342900 w 342900"/>
              <a:gd name="connsiteY1" fmla="*/ 0 h 133350"/>
              <a:gd name="connsiteX2" fmla="*/ 342900 w 342900"/>
              <a:gd name="connsiteY2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133350">
                <a:moveTo>
                  <a:pt x="0" y="0"/>
                </a:moveTo>
                <a:lnTo>
                  <a:pt x="342900" y="0"/>
                </a:lnTo>
                <a:lnTo>
                  <a:pt x="342900" y="13335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B2A43B-4919-A3D3-ED88-1025286DEAC6}"/>
              </a:ext>
            </a:extLst>
          </p:cNvPr>
          <p:cNvSpPr txBox="1"/>
          <p:nvPr/>
        </p:nvSpPr>
        <p:spPr>
          <a:xfrm>
            <a:off x="548266" y="3939041"/>
            <a:ext cx="1522913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1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Unprecedented</a:t>
            </a:r>
          </a:p>
          <a:p>
            <a:r>
              <a:rPr lang="en-US" sz="11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Depth of impact</a:t>
            </a:r>
            <a:endParaRPr lang="en-US" sz="1100" b="0" i="0" dirty="0">
              <a:solidFill>
                <a:schemeClr val="accent4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C38890D-490C-357D-D17C-A0B3D35ACFC5}"/>
              </a:ext>
            </a:extLst>
          </p:cNvPr>
          <p:cNvSpPr/>
          <p:nvPr/>
        </p:nvSpPr>
        <p:spPr>
          <a:xfrm>
            <a:off x="596365" y="4362169"/>
            <a:ext cx="2160000" cy="532063"/>
          </a:xfrm>
          <a:prstGeom prst="roundRect">
            <a:avLst/>
          </a:prstGeom>
          <a:gradFill flip="none" rotWithShape="1">
            <a:gsLst>
              <a:gs pos="100000">
                <a:schemeClr val="accent1"/>
              </a:gs>
              <a:gs pos="0">
                <a:schemeClr val="accent3"/>
              </a:gs>
            </a:gsLst>
            <a:lin ang="2700000" scaled="1"/>
            <a:tileRect/>
          </a:gradFill>
          <a:ln>
            <a:noFill/>
          </a:ln>
          <a:effectLst>
            <a:outerShdw blurRad="292100" sx="102000" sy="102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038B7B-1A35-E8C0-54BA-8CD899BA0E96}"/>
              </a:ext>
            </a:extLst>
          </p:cNvPr>
          <p:cNvSpPr txBox="1"/>
          <p:nvPr/>
        </p:nvSpPr>
        <p:spPr>
          <a:xfrm>
            <a:off x="480974" y="4464299"/>
            <a:ext cx="870650" cy="274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100" dirty="0">
                <a:solidFill>
                  <a:schemeClr val="bg1"/>
                </a:solidFill>
                <a:latin typeface="+mj-lt"/>
              </a:rPr>
              <a:t>70%</a:t>
            </a:r>
            <a:endParaRPr lang="en-US" sz="1100" b="0" i="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298BA7-53D5-2C13-24C1-14B67DBAFDE2}"/>
              </a:ext>
            </a:extLst>
          </p:cNvPr>
          <p:cNvSpPr txBox="1"/>
          <p:nvPr/>
        </p:nvSpPr>
        <p:spPr>
          <a:xfrm>
            <a:off x="1194972" y="4394738"/>
            <a:ext cx="1605672" cy="4669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number of people McKinsey has estimated AI could displace from their jobs by 2030</a:t>
            </a:r>
          </a:p>
        </p:txBody>
      </p:sp>
      <p:sp>
        <p:nvSpPr>
          <p:cNvPr id="63" name="Freeform: Shape 88">
            <a:extLst>
              <a:ext uri="{FF2B5EF4-FFF2-40B4-BE49-F238E27FC236}">
                <a16:creationId xmlns:a16="http://schemas.microsoft.com/office/drawing/2014/main" id="{C0D5AEE8-162B-E128-8381-5B3BFD41EF2E}"/>
              </a:ext>
            </a:extLst>
          </p:cNvPr>
          <p:cNvSpPr/>
          <p:nvPr/>
        </p:nvSpPr>
        <p:spPr>
          <a:xfrm>
            <a:off x="1810602" y="4105496"/>
            <a:ext cx="565470" cy="133350"/>
          </a:xfrm>
          <a:custGeom>
            <a:avLst/>
            <a:gdLst>
              <a:gd name="connsiteX0" fmla="*/ 0 w 342900"/>
              <a:gd name="connsiteY0" fmla="*/ 0 h 133350"/>
              <a:gd name="connsiteX1" fmla="*/ 342900 w 342900"/>
              <a:gd name="connsiteY1" fmla="*/ 0 h 133350"/>
              <a:gd name="connsiteX2" fmla="*/ 342900 w 342900"/>
              <a:gd name="connsiteY2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900" h="133350">
                <a:moveTo>
                  <a:pt x="0" y="0"/>
                </a:moveTo>
                <a:lnTo>
                  <a:pt x="342900" y="0"/>
                </a:lnTo>
                <a:lnTo>
                  <a:pt x="342900" y="133350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7C73215-C2BE-4A59-8573-A4C56F8B9B8C}"/>
              </a:ext>
            </a:extLst>
          </p:cNvPr>
          <p:cNvSpPr txBox="1"/>
          <p:nvPr/>
        </p:nvSpPr>
        <p:spPr>
          <a:xfrm>
            <a:off x="512443" y="1443256"/>
            <a:ext cx="3369641" cy="2415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00" b="0" i="0" dirty="0">
                <a:effectLst/>
                <a:latin typeface="Lato (Body)"/>
              </a:rPr>
              <a:t>AI is an existential transformation – transform or be left behind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DE8633F-6488-0AD9-D548-2E309A90237D}"/>
              </a:ext>
            </a:extLst>
          </p:cNvPr>
          <p:cNvSpPr txBox="1"/>
          <p:nvPr/>
        </p:nvSpPr>
        <p:spPr>
          <a:xfrm>
            <a:off x="548266" y="5155943"/>
            <a:ext cx="1522913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Which one do you want to be?</a:t>
            </a:r>
            <a:endParaRPr lang="en-US" sz="1100" b="0" i="0" dirty="0"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9D66297-39C3-053F-FA80-FF8C83455BF1}"/>
              </a:ext>
            </a:extLst>
          </p:cNvPr>
          <p:cNvSpPr txBox="1"/>
          <p:nvPr/>
        </p:nvSpPr>
        <p:spPr>
          <a:xfrm>
            <a:off x="540979" y="5728081"/>
            <a:ext cx="1400261" cy="3376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Unlimited opportunities for accelerating growth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7824250E-82FF-C7D5-F64D-1BEFCC9EF79C}"/>
              </a:ext>
            </a:extLst>
          </p:cNvPr>
          <p:cNvSpPr txBox="1"/>
          <p:nvPr/>
        </p:nvSpPr>
        <p:spPr>
          <a:xfrm>
            <a:off x="548266" y="5552001"/>
            <a:ext cx="737220" cy="224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0" i="0" dirty="0">
                <a:solidFill>
                  <a:schemeClr val="accent4"/>
                </a:solidFill>
                <a:effectLst/>
                <a:latin typeface="+mj-lt"/>
              </a:rPr>
              <a:t>Disruptor</a:t>
            </a:r>
          </a:p>
        </p:txBody>
      </p:sp>
      <p:sp>
        <p:nvSpPr>
          <p:cNvPr id="132" name="Freeform: Shape 93">
            <a:extLst>
              <a:ext uri="{FF2B5EF4-FFF2-40B4-BE49-F238E27FC236}">
                <a16:creationId xmlns:a16="http://schemas.microsoft.com/office/drawing/2014/main" id="{EE3F47E6-9565-B542-F005-28CBE59C3E6C}"/>
              </a:ext>
            </a:extLst>
          </p:cNvPr>
          <p:cNvSpPr/>
          <p:nvPr/>
        </p:nvSpPr>
        <p:spPr>
          <a:xfrm>
            <a:off x="1685794" y="5669280"/>
            <a:ext cx="480060" cy="441960"/>
          </a:xfrm>
          <a:custGeom>
            <a:avLst/>
            <a:gdLst>
              <a:gd name="connsiteX0" fmla="*/ 0 w 480060"/>
              <a:gd name="connsiteY0" fmla="*/ 0 h 441960"/>
              <a:gd name="connsiteX1" fmla="*/ 259080 w 480060"/>
              <a:gd name="connsiteY1" fmla="*/ 0 h 441960"/>
              <a:gd name="connsiteX2" fmla="*/ 259080 w 480060"/>
              <a:gd name="connsiteY2" fmla="*/ 441960 h 441960"/>
              <a:gd name="connsiteX3" fmla="*/ 480060 w 480060"/>
              <a:gd name="connsiteY3" fmla="*/ 441960 h 44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0060" h="441960">
                <a:moveTo>
                  <a:pt x="0" y="0"/>
                </a:moveTo>
                <a:lnTo>
                  <a:pt x="259080" y="0"/>
                </a:lnTo>
                <a:lnTo>
                  <a:pt x="259080" y="441960"/>
                </a:lnTo>
                <a:lnTo>
                  <a:pt x="480060" y="441960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185EA7D-30C5-F821-3C49-254841F25D66}"/>
              </a:ext>
            </a:extLst>
          </p:cNvPr>
          <p:cNvSpPr txBox="1"/>
          <p:nvPr/>
        </p:nvSpPr>
        <p:spPr>
          <a:xfrm>
            <a:off x="9165325" y="3921854"/>
            <a:ext cx="659826" cy="189445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+mj-lt"/>
              </a:rPr>
              <a:t>PRIORITY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9A58AEB-2DED-FD61-A173-960341DDCF71}"/>
              </a:ext>
            </a:extLst>
          </p:cNvPr>
          <p:cNvSpPr txBox="1"/>
          <p:nvPr/>
        </p:nvSpPr>
        <p:spPr>
          <a:xfrm>
            <a:off x="2264135" y="5728081"/>
            <a:ext cx="1012880" cy="4669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Digital Darwinism –bleak future for those left behind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6420F43-DFFB-FB7F-C3E6-91BC5AF8FA92}"/>
              </a:ext>
            </a:extLst>
          </p:cNvPr>
          <p:cNvSpPr txBox="1"/>
          <p:nvPr/>
        </p:nvSpPr>
        <p:spPr>
          <a:xfrm>
            <a:off x="2271421" y="5552001"/>
            <a:ext cx="737220" cy="224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0" i="0" dirty="0">
                <a:solidFill>
                  <a:schemeClr val="accent4"/>
                </a:solidFill>
                <a:effectLst/>
                <a:latin typeface="+mj-lt"/>
              </a:rPr>
              <a:t>Disrupted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16B9B2B-97D3-EC44-4345-56E275EB295D}"/>
              </a:ext>
            </a:extLst>
          </p:cNvPr>
          <p:cNvSpPr txBox="1"/>
          <p:nvPr/>
        </p:nvSpPr>
        <p:spPr>
          <a:xfrm>
            <a:off x="9064089" y="1369890"/>
            <a:ext cx="2256656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Move from Al-enhanced</a:t>
            </a:r>
          </a:p>
          <a:p>
            <a:r>
              <a:rPr lang="en-US" sz="12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productivity to Al-driven product and service development</a:t>
            </a:r>
            <a:endParaRPr lang="en-US" sz="1200" b="0" i="0" dirty="0">
              <a:solidFill>
                <a:schemeClr val="accent4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A0109B0-AA96-99D3-17DD-162520863BDD}"/>
              </a:ext>
            </a:extLst>
          </p:cNvPr>
          <p:cNvSpPr txBox="1"/>
          <p:nvPr/>
        </p:nvSpPr>
        <p:spPr>
          <a:xfrm>
            <a:off x="9064089" y="2134285"/>
            <a:ext cx="2325100" cy="8547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While most organizations view an AI transformation as a productivity play, true success will come to those who manage to transform their offerings by providing hyper-personalized products and services to customers. Transformative AI is about products and services, not productivity.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A864160-CCBF-BDBD-DCF9-5A617E569E73}"/>
              </a:ext>
            </a:extLst>
          </p:cNvPr>
          <p:cNvSpPr txBox="1"/>
          <p:nvPr/>
        </p:nvSpPr>
        <p:spPr>
          <a:xfrm>
            <a:off x="9064089" y="3138562"/>
            <a:ext cx="1631412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50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Personalization of</a:t>
            </a:r>
          </a:p>
          <a:p>
            <a:r>
              <a:rPr lang="en-US" sz="1050" dirty="0">
                <a:solidFill>
                  <a:schemeClr val="accent3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products and services</a:t>
            </a:r>
            <a:endParaRPr lang="en-US" sz="1050" b="0" i="0" dirty="0">
              <a:solidFill>
                <a:schemeClr val="accent3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833A003-D361-8603-5F33-5F88E4E16972}"/>
              </a:ext>
            </a:extLst>
          </p:cNvPr>
          <p:cNvSpPr txBox="1"/>
          <p:nvPr/>
        </p:nvSpPr>
        <p:spPr>
          <a:xfrm>
            <a:off x="9064089" y="3510281"/>
            <a:ext cx="2325100" cy="208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Whoever leads with AI wins.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83B96088-0AD0-301F-406A-DA0570E26CBB}"/>
              </a:ext>
            </a:extLst>
          </p:cNvPr>
          <p:cNvSpPr txBox="1"/>
          <p:nvPr/>
        </p:nvSpPr>
        <p:spPr>
          <a:xfrm>
            <a:off x="9064089" y="4110389"/>
            <a:ext cx="225665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 and service strategy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3392755-6C63-25D6-E0AC-DF85B62CCFDE}"/>
              </a:ext>
            </a:extLst>
          </p:cNvPr>
          <p:cNvSpPr txBox="1"/>
          <p:nvPr/>
        </p:nvSpPr>
        <p:spPr>
          <a:xfrm>
            <a:off x="9064089" y="4375835"/>
            <a:ext cx="2325100" cy="4669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True personalization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7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Hyper-loyalty and hyper-adoption</a:t>
            </a: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Empathic products and services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6417CD8-314B-6E60-B2B8-C72B119FF43C}"/>
              </a:ext>
            </a:extLst>
          </p:cNvPr>
          <p:cNvSpPr txBox="1"/>
          <p:nvPr/>
        </p:nvSpPr>
        <p:spPr>
          <a:xfrm>
            <a:off x="9165324" y="5003099"/>
            <a:ext cx="819557" cy="208390"/>
          </a:xfrm>
          <a:prstGeom prst="rect">
            <a:avLst/>
          </a:prstGeom>
          <a:solidFill>
            <a:schemeClr val="accent4"/>
          </a:solidFill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700" b="0" i="0" dirty="0">
                <a:solidFill>
                  <a:schemeClr val="bg1"/>
                </a:solidFill>
                <a:effectLst/>
                <a:latin typeface="+mj-lt"/>
              </a:rPr>
              <a:t>BYPRODUCTS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56551F88-6022-09C8-5D50-531790FE20C0}"/>
              </a:ext>
            </a:extLst>
          </p:cNvPr>
          <p:cNvSpPr txBox="1"/>
          <p:nvPr/>
        </p:nvSpPr>
        <p:spPr>
          <a:xfrm>
            <a:off x="9064089" y="5211111"/>
            <a:ext cx="1264151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Productivity strategy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1171DA2-73F6-EBDE-4C31-0273CAC16728}"/>
              </a:ext>
            </a:extLst>
          </p:cNvPr>
          <p:cNvSpPr txBox="1"/>
          <p:nvPr/>
        </p:nvSpPr>
        <p:spPr>
          <a:xfrm>
            <a:off x="10584756" y="5211111"/>
            <a:ext cx="1264151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Optimized operations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49103BE-E28A-8A5A-BC08-DFC2A1D87708}"/>
              </a:ext>
            </a:extLst>
          </p:cNvPr>
          <p:cNvSpPr txBox="1"/>
          <p:nvPr/>
        </p:nvSpPr>
        <p:spPr>
          <a:xfrm>
            <a:off x="9064089" y="5656798"/>
            <a:ext cx="1285106" cy="4669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Self evolving design</a:t>
            </a:r>
            <a:endParaRPr lang="en-US" sz="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Autonomous &amp; optimal</a:t>
            </a:r>
            <a:endParaRPr lang="en-US" sz="7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171450" indent="-171450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sz="700" b="0" i="0" dirty="0"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Proactive self healing</a:t>
            </a: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6952C4B-F427-A5D9-AE7D-637ACE922505}"/>
              </a:ext>
            </a:extLst>
          </p:cNvPr>
          <p:cNvCxnSpPr>
            <a:cxnSpLocks/>
          </p:cNvCxnSpPr>
          <p:nvPr/>
        </p:nvCxnSpPr>
        <p:spPr>
          <a:xfrm flipV="1">
            <a:off x="10136785" y="5464139"/>
            <a:ext cx="424156" cy="6157"/>
          </a:xfrm>
          <a:prstGeom prst="line">
            <a:avLst/>
          </a:prstGeom>
          <a:noFill/>
          <a:ln>
            <a:solidFill>
              <a:schemeClr val="bg1">
                <a:lumMod val="75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7" name="Oval 146">
            <a:extLst>
              <a:ext uri="{FF2B5EF4-FFF2-40B4-BE49-F238E27FC236}">
                <a16:creationId xmlns:a16="http://schemas.microsoft.com/office/drawing/2014/main" id="{87EC654C-1C9C-42F2-FD01-BF64316BEA58}"/>
              </a:ext>
            </a:extLst>
          </p:cNvPr>
          <p:cNvSpPr/>
          <p:nvPr/>
        </p:nvSpPr>
        <p:spPr>
          <a:xfrm>
            <a:off x="8853237" y="1501790"/>
            <a:ext cx="97324" cy="9732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C61AC65B-B68E-5F3B-2214-426FB2F96E5C}"/>
              </a:ext>
            </a:extLst>
          </p:cNvPr>
          <p:cNvSpPr/>
          <p:nvPr/>
        </p:nvSpPr>
        <p:spPr>
          <a:xfrm>
            <a:off x="8853237" y="4190184"/>
            <a:ext cx="97324" cy="9732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BB8A4BD1-4933-DFFA-171E-B378EDDCC5B4}"/>
              </a:ext>
            </a:extLst>
          </p:cNvPr>
          <p:cNvGrpSpPr/>
          <p:nvPr/>
        </p:nvGrpSpPr>
        <p:grpSpPr>
          <a:xfrm>
            <a:off x="8841981" y="3216991"/>
            <a:ext cx="133648" cy="397485"/>
            <a:chOff x="8797156" y="3203243"/>
            <a:chExt cx="133648" cy="397485"/>
          </a:xfrm>
        </p:grpSpPr>
        <p:sp>
          <p:nvSpPr>
            <p:cNvPr id="150" name="Isosceles Triangle 149">
              <a:extLst>
                <a:ext uri="{FF2B5EF4-FFF2-40B4-BE49-F238E27FC236}">
                  <a16:creationId xmlns:a16="http://schemas.microsoft.com/office/drawing/2014/main" id="{CD932E98-1AE7-B77A-D0D6-36B9DAE8B7A5}"/>
                </a:ext>
              </a:extLst>
            </p:cNvPr>
            <p:cNvSpPr/>
            <p:nvPr/>
          </p:nvSpPr>
          <p:spPr>
            <a:xfrm rot="10800000">
              <a:off x="8797156" y="3203243"/>
              <a:ext cx="133648" cy="108614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1" name="Isosceles Triangle 150">
              <a:extLst>
                <a:ext uri="{FF2B5EF4-FFF2-40B4-BE49-F238E27FC236}">
                  <a16:creationId xmlns:a16="http://schemas.microsoft.com/office/drawing/2014/main" id="{F8338327-8DAD-1FB1-C653-274DF069AF8B}"/>
                </a:ext>
              </a:extLst>
            </p:cNvPr>
            <p:cNvSpPr/>
            <p:nvPr/>
          </p:nvSpPr>
          <p:spPr>
            <a:xfrm rot="10800000">
              <a:off x="8797156" y="3337549"/>
              <a:ext cx="133648" cy="108614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2" name="Isosceles Triangle 151">
              <a:extLst>
                <a:ext uri="{FF2B5EF4-FFF2-40B4-BE49-F238E27FC236}">
                  <a16:creationId xmlns:a16="http://schemas.microsoft.com/office/drawing/2014/main" id="{1C04E830-9B13-FCB3-FEB7-9B0684B007ED}"/>
                </a:ext>
              </a:extLst>
            </p:cNvPr>
            <p:cNvSpPr/>
            <p:nvPr/>
          </p:nvSpPr>
          <p:spPr>
            <a:xfrm rot="10800000">
              <a:off x="8797156" y="3492114"/>
              <a:ext cx="133648" cy="108614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0F791757-9EAB-EA57-5447-81E9FF760A85}"/>
              </a:ext>
            </a:extLst>
          </p:cNvPr>
          <p:cNvGrpSpPr/>
          <p:nvPr/>
        </p:nvGrpSpPr>
        <p:grpSpPr>
          <a:xfrm>
            <a:off x="8841981" y="4400021"/>
            <a:ext cx="133648" cy="397485"/>
            <a:chOff x="8797156" y="3203243"/>
            <a:chExt cx="133648" cy="397485"/>
          </a:xfrm>
        </p:grpSpPr>
        <p:sp>
          <p:nvSpPr>
            <p:cNvPr id="154" name="Isosceles Triangle 153">
              <a:extLst>
                <a:ext uri="{FF2B5EF4-FFF2-40B4-BE49-F238E27FC236}">
                  <a16:creationId xmlns:a16="http://schemas.microsoft.com/office/drawing/2014/main" id="{36A0791A-238F-8598-EFFC-ED71FB6E9E80}"/>
                </a:ext>
              </a:extLst>
            </p:cNvPr>
            <p:cNvSpPr/>
            <p:nvPr/>
          </p:nvSpPr>
          <p:spPr>
            <a:xfrm rot="10800000">
              <a:off x="8797156" y="3203243"/>
              <a:ext cx="133648" cy="108614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5" name="Isosceles Triangle 154">
              <a:extLst>
                <a:ext uri="{FF2B5EF4-FFF2-40B4-BE49-F238E27FC236}">
                  <a16:creationId xmlns:a16="http://schemas.microsoft.com/office/drawing/2014/main" id="{63EC6B18-7DA1-E36A-84E8-F6B5E0C9EA44}"/>
                </a:ext>
              </a:extLst>
            </p:cNvPr>
            <p:cNvSpPr/>
            <p:nvPr/>
          </p:nvSpPr>
          <p:spPr>
            <a:xfrm rot="10800000">
              <a:off x="8797156" y="3337549"/>
              <a:ext cx="133648" cy="108614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6" name="Isosceles Triangle 155">
              <a:extLst>
                <a:ext uri="{FF2B5EF4-FFF2-40B4-BE49-F238E27FC236}">
                  <a16:creationId xmlns:a16="http://schemas.microsoft.com/office/drawing/2014/main" id="{0EDEE79A-3E68-A15B-227F-D790B31EAC5D}"/>
                </a:ext>
              </a:extLst>
            </p:cNvPr>
            <p:cNvSpPr/>
            <p:nvPr/>
          </p:nvSpPr>
          <p:spPr>
            <a:xfrm rot="10800000">
              <a:off x="8797156" y="3492114"/>
              <a:ext cx="133648" cy="108614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44B4DA3-EE0B-1B82-1E21-7782D885C9F6}"/>
              </a:ext>
            </a:extLst>
          </p:cNvPr>
          <p:cNvGrpSpPr/>
          <p:nvPr/>
        </p:nvGrpSpPr>
        <p:grpSpPr>
          <a:xfrm rot="16200000">
            <a:off x="6498311" y="848858"/>
            <a:ext cx="133648" cy="397485"/>
            <a:chOff x="8797156" y="3203243"/>
            <a:chExt cx="133648" cy="397485"/>
          </a:xfrm>
        </p:grpSpPr>
        <p:sp>
          <p:nvSpPr>
            <p:cNvPr id="158" name="Isosceles Triangle 157">
              <a:extLst>
                <a:ext uri="{FF2B5EF4-FFF2-40B4-BE49-F238E27FC236}">
                  <a16:creationId xmlns:a16="http://schemas.microsoft.com/office/drawing/2014/main" id="{7DDBD787-B14F-E164-6E07-C494B9EBCAF8}"/>
                </a:ext>
              </a:extLst>
            </p:cNvPr>
            <p:cNvSpPr/>
            <p:nvPr/>
          </p:nvSpPr>
          <p:spPr>
            <a:xfrm rot="10800000">
              <a:off x="8797156" y="3203243"/>
              <a:ext cx="133648" cy="108614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9" name="Isosceles Triangle 158">
              <a:extLst>
                <a:ext uri="{FF2B5EF4-FFF2-40B4-BE49-F238E27FC236}">
                  <a16:creationId xmlns:a16="http://schemas.microsoft.com/office/drawing/2014/main" id="{94E6E0A6-8483-2344-CFFC-7725A70B1CC2}"/>
                </a:ext>
              </a:extLst>
            </p:cNvPr>
            <p:cNvSpPr/>
            <p:nvPr/>
          </p:nvSpPr>
          <p:spPr>
            <a:xfrm rot="10800000">
              <a:off x="8797156" y="3337549"/>
              <a:ext cx="133648" cy="108614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60" name="Isosceles Triangle 159">
              <a:extLst>
                <a:ext uri="{FF2B5EF4-FFF2-40B4-BE49-F238E27FC236}">
                  <a16:creationId xmlns:a16="http://schemas.microsoft.com/office/drawing/2014/main" id="{93CF78F4-EE2C-3081-5861-0FA7ECACA420}"/>
                </a:ext>
              </a:extLst>
            </p:cNvPr>
            <p:cNvSpPr/>
            <p:nvPr/>
          </p:nvSpPr>
          <p:spPr>
            <a:xfrm rot="10800000">
              <a:off x="8797156" y="3492114"/>
              <a:ext cx="133648" cy="108614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1969C085-A516-4A77-F16D-0289F09B626E}"/>
              </a:ext>
            </a:extLst>
          </p:cNvPr>
          <p:cNvSpPr txBox="1"/>
          <p:nvPr/>
        </p:nvSpPr>
        <p:spPr>
          <a:xfrm rot="18811391">
            <a:off x="5542006" y="4064892"/>
            <a:ext cx="2731748" cy="1715229"/>
          </a:xfrm>
          <a:prstGeom prst="rect">
            <a:avLst/>
          </a:prstGeom>
          <a:noFill/>
        </p:spPr>
        <p:txBody>
          <a:bodyPr wrap="square" rtlCol="0" anchor="t">
            <a:prstTxWarp prst="textArchDown">
              <a:avLst/>
            </a:prstTxWarp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b="0" i="0" dirty="0">
                <a:solidFill>
                  <a:schemeClr val="accent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Change adoption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81F2FE9-0201-BD03-939E-91FCFE20BB95}"/>
              </a:ext>
            </a:extLst>
          </p:cNvPr>
          <p:cNvSpPr txBox="1"/>
          <p:nvPr/>
        </p:nvSpPr>
        <p:spPr>
          <a:xfrm rot="2827004">
            <a:off x="3430132" y="4034578"/>
            <a:ext cx="2731748" cy="1715229"/>
          </a:xfrm>
          <a:prstGeom prst="rect">
            <a:avLst/>
          </a:prstGeom>
          <a:noFill/>
        </p:spPr>
        <p:txBody>
          <a:bodyPr wrap="square" rtlCol="0" anchor="t">
            <a:prstTxWarp prst="textArchDown">
              <a:avLst/>
            </a:prstTxWarp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900" dirty="0">
                <a:solidFill>
                  <a:schemeClr val="accent4"/>
                </a:solidFill>
                <a:latin typeface="+mj-lt"/>
              </a:rPr>
              <a:t>G</a:t>
            </a:r>
            <a:r>
              <a:rPr lang="en-US" sz="900" b="0" i="0" dirty="0">
                <a:solidFill>
                  <a:schemeClr val="accent4"/>
                </a:solidFill>
                <a:effectLst/>
                <a:latin typeface="+mj-lt"/>
              </a:rPr>
              <a:t>overned foundations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"/>
          <p:cNvSpPr/>
          <p:nvPr/>
        </p:nvSpPr>
        <p:spPr>
          <a:xfrm rot="10800000" flipH="1">
            <a:off x="624114" y="1744942"/>
            <a:ext cx="10919279" cy="1336585"/>
          </a:xfrm>
          <a:prstGeom prst="round2SameRect">
            <a:avLst>
              <a:gd name="adj1" fmla="val 12680"/>
              <a:gd name="adj2" fmla="val 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513532" y="1081894"/>
            <a:ext cx="5582468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Evaluation of Current Strategic Plan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8" name="Google Shape;268;p6"/>
          <p:cNvSpPr/>
          <p:nvPr/>
        </p:nvSpPr>
        <p:spPr>
          <a:xfrm flipH="1">
            <a:off x="624114" y="1497101"/>
            <a:ext cx="10919279" cy="306795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6"/>
          <p:cNvSpPr/>
          <p:nvPr/>
        </p:nvSpPr>
        <p:spPr>
          <a:xfrm flipH="1">
            <a:off x="619579" y="1497101"/>
            <a:ext cx="1891392" cy="306795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GOAL 1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0" name="Google Shape;270;p6"/>
          <p:cNvCxnSpPr/>
          <p:nvPr/>
        </p:nvCxnSpPr>
        <p:spPr>
          <a:xfrm>
            <a:off x="771979" y="2052828"/>
            <a:ext cx="10581821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1" name="Google Shape;271;p6"/>
          <p:cNvSpPr txBox="1"/>
          <p:nvPr/>
        </p:nvSpPr>
        <p:spPr>
          <a:xfrm>
            <a:off x="803818" y="1801462"/>
            <a:ext cx="152291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INTIATIVES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8654139" y="1801462"/>
            <a:ext cx="81280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Retain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9546927" y="1801462"/>
            <a:ext cx="81280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Modify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10353675" y="1801462"/>
            <a:ext cx="100012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Discontinue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75" name="Google Shape;275;p6"/>
          <p:cNvSpPr/>
          <p:nvPr/>
        </p:nvSpPr>
        <p:spPr>
          <a:xfrm flipH="1">
            <a:off x="8769332" y="2140915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CF99F9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6"/>
          <p:cNvSpPr/>
          <p:nvPr/>
        </p:nvSpPr>
        <p:spPr>
          <a:xfrm flipH="1">
            <a:off x="9669741" y="2140915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6"/>
          <p:cNvSpPr/>
          <p:nvPr/>
        </p:nvSpPr>
        <p:spPr>
          <a:xfrm flipH="1">
            <a:off x="10570149" y="2140915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6"/>
          <p:cNvSpPr/>
          <p:nvPr/>
        </p:nvSpPr>
        <p:spPr>
          <a:xfrm flipH="1">
            <a:off x="8769332" y="2461172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CF99F9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6"/>
          <p:cNvSpPr/>
          <p:nvPr/>
        </p:nvSpPr>
        <p:spPr>
          <a:xfrm flipH="1">
            <a:off x="9669741" y="2461172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0" name="Google Shape;280;p6"/>
          <p:cNvSpPr/>
          <p:nvPr/>
        </p:nvSpPr>
        <p:spPr>
          <a:xfrm flipH="1">
            <a:off x="10570149" y="2461172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6"/>
          <p:cNvSpPr/>
          <p:nvPr/>
        </p:nvSpPr>
        <p:spPr>
          <a:xfrm flipH="1">
            <a:off x="8769332" y="2781429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2" name="Google Shape;282;p6"/>
          <p:cNvSpPr/>
          <p:nvPr/>
        </p:nvSpPr>
        <p:spPr>
          <a:xfrm flipH="1">
            <a:off x="9669741" y="2781429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3" name="Google Shape;283;p6"/>
          <p:cNvSpPr/>
          <p:nvPr/>
        </p:nvSpPr>
        <p:spPr>
          <a:xfrm flipH="1">
            <a:off x="10570149" y="2781429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4" name="Google Shape;284;p6"/>
          <p:cNvSpPr/>
          <p:nvPr/>
        </p:nvSpPr>
        <p:spPr>
          <a:xfrm flipH="1">
            <a:off x="6963338" y="2781429"/>
            <a:ext cx="1260000" cy="18392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Completed</a:t>
            </a:r>
            <a:endParaRPr sz="10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5" name="Google Shape;285;p6"/>
          <p:cNvSpPr/>
          <p:nvPr/>
        </p:nvSpPr>
        <p:spPr>
          <a:xfrm flipH="1">
            <a:off x="6966921" y="2461171"/>
            <a:ext cx="1260000" cy="183921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 Complete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6" name="Google Shape;286;p6"/>
          <p:cNvSpPr/>
          <p:nvPr/>
        </p:nvSpPr>
        <p:spPr>
          <a:xfrm flipH="1">
            <a:off x="6963338" y="2146127"/>
            <a:ext cx="1260000" cy="18392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Completed</a:t>
            </a:r>
            <a:endParaRPr sz="10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6"/>
          <p:cNvSpPr/>
          <p:nvPr/>
        </p:nvSpPr>
        <p:spPr>
          <a:xfrm flipH="1">
            <a:off x="895258" y="2140915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EACC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1-A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8" name="Google Shape;288;p6"/>
          <p:cNvSpPr/>
          <p:nvPr/>
        </p:nvSpPr>
        <p:spPr>
          <a:xfrm flipH="1">
            <a:off x="895258" y="2461172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EACC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1-B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9" name="Google Shape;289;p6"/>
          <p:cNvSpPr/>
          <p:nvPr/>
        </p:nvSpPr>
        <p:spPr>
          <a:xfrm flipH="1">
            <a:off x="895258" y="2781429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EACC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1-C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1564740" y="2113241"/>
            <a:ext cx="528564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Develop and deploy advanced generative AI models for product innovation.</a:t>
            </a:r>
            <a:endParaRPr dirty="0"/>
          </a:p>
        </p:txBody>
      </p:sp>
      <p:sp>
        <p:nvSpPr>
          <p:cNvPr id="291" name="Google Shape;291;p6"/>
          <p:cNvSpPr txBox="1"/>
          <p:nvPr/>
        </p:nvSpPr>
        <p:spPr>
          <a:xfrm>
            <a:off x="1564740" y="2421582"/>
            <a:ext cx="528564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1-B : Implement AI-powered customer segmentation to personalize marketing strategies.</a:t>
            </a:r>
            <a:endParaRPr dirty="0"/>
          </a:p>
        </p:txBody>
      </p:sp>
      <p:sp>
        <p:nvSpPr>
          <p:cNvPr id="292" name="Google Shape;292;p6"/>
          <p:cNvSpPr txBox="1"/>
          <p:nvPr/>
        </p:nvSpPr>
        <p:spPr>
          <a:xfrm>
            <a:off x="1564740" y="2735408"/>
            <a:ext cx="528564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Establish an AI-driven supply chain optimization platform.</a:t>
            </a:r>
            <a:endParaRPr/>
          </a:p>
        </p:txBody>
      </p:sp>
      <p:sp>
        <p:nvSpPr>
          <p:cNvPr id="293" name="Google Shape;293;p6"/>
          <p:cNvSpPr txBox="1"/>
          <p:nvPr/>
        </p:nvSpPr>
        <p:spPr>
          <a:xfrm>
            <a:off x="2631539" y="1533732"/>
            <a:ext cx="4218841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Enhance Competitive Advantage Through AI Innovation</a:t>
            </a:r>
            <a:endParaRPr/>
          </a:p>
        </p:txBody>
      </p:sp>
      <p:sp>
        <p:nvSpPr>
          <p:cNvPr id="294" name="Google Shape;294;p6"/>
          <p:cNvSpPr txBox="1"/>
          <p:nvPr/>
        </p:nvSpPr>
        <p:spPr>
          <a:xfrm>
            <a:off x="6850380" y="1546784"/>
            <a:ext cx="130170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COMPLETION</a:t>
            </a:r>
            <a:endParaRPr sz="11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9047236" y="1546784"/>
            <a:ext cx="160100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RECOMENDATON</a:t>
            </a:r>
            <a:endParaRPr sz="11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96" name="Google Shape;296;p6"/>
          <p:cNvSpPr/>
          <p:nvPr/>
        </p:nvSpPr>
        <p:spPr>
          <a:xfrm rot="10800000" flipH="1">
            <a:off x="624114" y="3394340"/>
            <a:ext cx="10919279" cy="1336585"/>
          </a:xfrm>
          <a:prstGeom prst="round2SameRect">
            <a:avLst>
              <a:gd name="adj1" fmla="val 12680"/>
              <a:gd name="adj2" fmla="val 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6"/>
          <p:cNvSpPr/>
          <p:nvPr/>
        </p:nvSpPr>
        <p:spPr>
          <a:xfrm flipH="1">
            <a:off x="624114" y="3146499"/>
            <a:ext cx="10919279" cy="306795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8" name="Google Shape;298;p6"/>
          <p:cNvSpPr/>
          <p:nvPr/>
        </p:nvSpPr>
        <p:spPr>
          <a:xfrm flipH="1">
            <a:off x="619579" y="3146499"/>
            <a:ext cx="1891392" cy="306795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GOAL 2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99" name="Google Shape;299;p6"/>
          <p:cNvCxnSpPr/>
          <p:nvPr/>
        </p:nvCxnSpPr>
        <p:spPr>
          <a:xfrm>
            <a:off x="771979" y="3702226"/>
            <a:ext cx="10581821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0" name="Google Shape;300;p6"/>
          <p:cNvSpPr txBox="1"/>
          <p:nvPr/>
        </p:nvSpPr>
        <p:spPr>
          <a:xfrm>
            <a:off x="803818" y="3450860"/>
            <a:ext cx="152291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INTIATIVES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8654139" y="3450860"/>
            <a:ext cx="81280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Retain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9546927" y="3450860"/>
            <a:ext cx="81280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Modify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10353675" y="3450860"/>
            <a:ext cx="100012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Discontinue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04" name="Google Shape;304;p6"/>
          <p:cNvSpPr/>
          <p:nvPr/>
        </p:nvSpPr>
        <p:spPr>
          <a:xfrm flipH="1">
            <a:off x="8769332" y="3790313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CF99F9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6"/>
          <p:cNvSpPr/>
          <p:nvPr/>
        </p:nvSpPr>
        <p:spPr>
          <a:xfrm flipH="1">
            <a:off x="9669741" y="3790313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6" name="Google Shape;306;p6"/>
          <p:cNvSpPr/>
          <p:nvPr/>
        </p:nvSpPr>
        <p:spPr>
          <a:xfrm flipH="1">
            <a:off x="10570149" y="3790313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7" name="Google Shape;307;p6"/>
          <p:cNvSpPr/>
          <p:nvPr/>
        </p:nvSpPr>
        <p:spPr>
          <a:xfrm flipH="1">
            <a:off x="8769332" y="4110570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6"/>
          <p:cNvSpPr/>
          <p:nvPr/>
        </p:nvSpPr>
        <p:spPr>
          <a:xfrm flipH="1">
            <a:off x="9669741" y="4110570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9" name="Google Shape;309;p6"/>
          <p:cNvSpPr/>
          <p:nvPr/>
        </p:nvSpPr>
        <p:spPr>
          <a:xfrm flipH="1">
            <a:off x="10570149" y="4110570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D9AFA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6"/>
          <p:cNvSpPr/>
          <p:nvPr/>
        </p:nvSpPr>
        <p:spPr>
          <a:xfrm flipH="1">
            <a:off x="8769332" y="4430827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6"/>
          <p:cNvSpPr/>
          <p:nvPr/>
        </p:nvSpPr>
        <p:spPr>
          <a:xfrm flipH="1">
            <a:off x="9669741" y="4430827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6"/>
          <p:cNvSpPr/>
          <p:nvPr/>
        </p:nvSpPr>
        <p:spPr>
          <a:xfrm flipH="1">
            <a:off x="10570149" y="4430827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6"/>
          <p:cNvSpPr/>
          <p:nvPr/>
        </p:nvSpPr>
        <p:spPr>
          <a:xfrm flipH="1">
            <a:off x="6958356" y="4110570"/>
            <a:ext cx="1260000" cy="183921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 Complete</a:t>
            </a:r>
            <a:endParaRPr sz="105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p6"/>
          <p:cNvSpPr/>
          <p:nvPr/>
        </p:nvSpPr>
        <p:spPr>
          <a:xfrm flipH="1">
            <a:off x="6963338" y="3795525"/>
            <a:ext cx="1260000" cy="18392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Completed</a:t>
            </a:r>
            <a:endParaRPr sz="10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5" name="Google Shape;315;p6"/>
          <p:cNvSpPr/>
          <p:nvPr/>
        </p:nvSpPr>
        <p:spPr>
          <a:xfrm flipH="1">
            <a:off x="895258" y="3790313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EACC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2-A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6" name="Google Shape;316;p6"/>
          <p:cNvSpPr/>
          <p:nvPr/>
        </p:nvSpPr>
        <p:spPr>
          <a:xfrm flipH="1">
            <a:off x="895258" y="4110570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EACC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2-B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p6"/>
          <p:cNvSpPr/>
          <p:nvPr/>
        </p:nvSpPr>
        <p:spPr>
          <a:xfrm flipH="1">
            <a:off x="895258" y="4430827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EACC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2-C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8" name="Google Shape;318;p6"/>
          <p:cNvSpPr txBox="1"/>
          <p:nvPr/>
        </p:nvSpPr>
        <p:spPr>
          <a:xfrm>
            <a:off x="1564740" y="3762639"/>
            <a:ext cx="528564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Integrate AI chatbots for customer support automation.</a:t>
            </a:r>
            <a:endParaRPr dirty="0"/>
          </a:p>
        </p:txBody>
      </p:sp>
      <p:sp>
        <p:nvSpPr>
          <p:cNvPr id="319" name="Google Shape;319;p6"/>
          <p:cNvSpPr txBox="1"/>
          <p:nvPr/>
        </p:nvSpPr>
        <p:spPr>
          <a:xfrm>
            <a:off x="1564740" y="4070980"/>
            <a:ext cx="528564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Deploy AI-driven predictive maintenance for equipment.</a:t>
            </a:r>
            <a:endParaRPr/>
          </a:p>
        </p:txBody>
      </p:sp>
      <p:sp>
        <p:nvSpPr>
          <p:cNvPr id="320" name="Google Shape;320;p6"/>
          <p:cNvSpPr txBox="1"/>
          <p:nvPr/>
        </p:nvSpPr>
        <p:spPr>
          <a:xfrm>
            <a:off x="1564740" y="4384806"/>
            <a:ext cx="528564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Implement AI-based workforce management tools.</a:t>
            </a:r>
            <a:endParaRPr/>
          </a:p>
        </p:txBody>
      </p:sp>
      <p:sp>
        <p:nvSpPr>
          <p:cNvPr id="321" name="Google Shape;321;p6"/>
          <p:cNvSpPr txBox="1"/>
          <p:nvPr/>
        </p:nvSpPr>
        <p:spPr>
          <a:xfrm>
            <a:off x="2631539" y="3183130"/>
            <a:ext cx="4218841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Improve Operational Efficiency With AI Automation</a:t>
            </a:r>
            <a:endParaRPr/>
          </a:p>
        </p:txBody>
      </p:sp>
      <p:sp>
        <p:nvSpPr>
          <p:cNvPr id="322" name="Google Shape;322;p6"/>
          <p:cNvSpPr txBox="1"/>
          <p:nvPr/>
        </p:nvSpPr>
        <p:spPr>
          <a:xfrm>
            <a:off x="6850380" y="3196182"/>
            <a:ext cx="130170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COMPLETION</a:t>
            </a:r>
            <a:endParaRPr sz="11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23" name="Google Shape;323;p6"/>
          <p:cNvSpPr txBox="1"/>
          <p:nvPr/>
        </p:nvSpPr>
        <p:spPr>
          <a:xfrm>
            <a:off x="9047236" y="3196182"/>
            <a:ext cx="160100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RECOMENDATON</a:t>
            </a:r>
            <a:endParaRPr sz="11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24" name="Google Shape;324;p6"/>
          <p:cNvSpPr/>
          <p:nvPr/>
        </p:nvSpPr>
        <p:spPr>
          <a:xfrm flipH="1">
            <a:off x="6958356" y="4430827"/>
            <a:ext cx="1260000" cy="183921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 Complete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6"/>
          <p:cNvSpPr/>
          <p:nvPr/>
        </p:nvSpPr>
        <p:spPr>
          <a:xfrm rot="10800000" flipH="1">
            <a:off x="624114" y="5005114"/>
            <a:ext cx="10919279" cy="1336585"/>
          </a:xfrm>
          <a:prstGeom prst="round2SameRect">
            <a:avLst>
              <a:gd name="adj1" fmla="val 12680"/>
              <a:gd name="adj2" fmla="val 0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6" name="Google Shape;326;p6"/>
          <p:cNvSpPr/>
          <p:nvPr/>
        </p:nvSpPr>
        <p:spPr>
          <a:xfrm flipH="1">
            <a:off x="624114" y="4757273"/>
            <a:ext cx="10919279" cy="306795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7" name="Google Shape;327;p6"/>
          <p:cNvSpPr/>
          <p:nvPr/>
        </p:nvSpPr>
        <p:spPr>
          <a:xfrm flipH="1">
            <a:off x="619579" y="4757273"/>
            <a:ext cx="1891392" cy="306795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GOAL 3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8" name="Google Shape;328;p6"/>
          <p:cNvCxnSpPr/>
          <p:nvPr/>
        </p:nvCxnSpPr>
        <p:spPr>
          <a:xfrm>
            <a:off x="771979" y="5313000"/>
            <a:ext cx="10581821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9" name="Google Shape;329;p6"/>
          <p:cNvSpPr txBox="1"/>
          <p:nvPr/>
        </p:nvSpPr>
        <p:spPr>
          <a:xfrm>
            <a:off x="803818" y="5061634"/>
            <a:ext cx="152291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INTIATIVES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30" name="Google Shape;330;p6"/>
          <p:cNvSpPr txBox="1"/>
          <p:nvPr/>
        </p:nvSpPr>
        <p:spPr>
          <a:xfrm>
            <a:off x="8654139" y="5061634"/>
            <a:ext cx="81280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Retain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31" name="Google Shape;331;p6"/>
          <p:cNvSpPr txBox="1"/>
          <p:nvPr/>
        </p:nvSpPr>
        <p:spPr>
          <a:xfrm>
            <a:off x="9546927" y="5061634"/>
            <a:ext cx="81280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Modify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10353675" y="5061634"/>
            <a:ext cx="100012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Discontinue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33" name="Google Shape;333;p6"/>
          <p:cNvSpPr/>
          <p:nvPr/>
        </p:nvSpPr>
        <p:spPr>
          <a:xfrm flipH="1">
            <a:off x="8769332" y="5401087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CF99F9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4" name="Google Shape;334;p6"/>
          <p:cNvSpPr/>
          <p:nvPr/>
        </p:nvSpPr>
        <p:spPr>
          <a:xfrm flipH="1">
            <a:off x="9669741" y="5401087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6"/>
          <p:cNvSpPr/>
          <p:nvPr/>
        </p:nvSpPr>
        <p:spPr>
          <a:xfrm flipH="1">
            <a:off x="10570149" y="5401087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6" name="Google Shape;336;p6"/>
          <p:cNvSpPr/>
          <p:nvPr/>
        </p:nvSpPr>
        <p:spPr>
          <a:xfrm flipH="1">
            <a:off x="8769332" y="5721344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7" name="Google Shape;337;p6"/>
          <p:cNvSpPr/>
          <p:nvPr/>
        </p:nvSpPr>
        <p:spPr>
          <a:xfrm flipH="1">
            <a:off x="9669741" y="5721344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8" name="Google Shape;338;p6"/>
          <p:cNvSpPr/>
          <p:nvPr/>
        </p:nvSpPr>
        <p:spPr>
          <a:xfrm flipH="1">
            <a:off x="10570149" y="5721344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9" name="Google Shape;339;p6"/>
          <p:cNvSpPr/>
          <p:nvPr/>
        </p:nvSpPr>
        <p:spPr>
          <a:xfrm flipH="1">
            <a:off x="8769332" y="6041601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0" name="Google Shape;340;p6"/>
          <p:cNvSpPr/>
          <p:nvPr/>
        </p:nvSpPr>
        <p:spPr>
          <a:xfrm flipH="1">
            <a:off x="9669741" y="6041601"/>
            <a:ext cx="567175" cy="18392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1" name="Google Shape;341;p6"/>
          <p:cNvSpPr/>
          <p:nvPr/>
        </p:nvSpPr>
        <p:spPr>
          <a:xfrm flipH="1">
            <a:off x="10570149" y="6041601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D9AFA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2" name="Google Shape;342;p6"/>
          <p:cNvSpPr/>
          <p:nvPr/>
        </p:nvSpPr>
        <p:spPr>
          <a:xfrm flipH="1">
            <a:off x="6963338" y="5406299"/>
            <a:ext cx="1260000" cy="18392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Completed</a:t>
            </a:r>
            <a:endParaRPr sz="10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3" name="Google Shape;343;p6"/>
          <p:cNvSpPr/>
          <p:nvPr/>
        </p:nvSpPr>
        <p:spPr>
          <a:xfrm flipH="1">
            <a:off x="895258" y="5401087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EACC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2-A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4" name="Google Shape;344;p6"/>
          <p:cNvSpPr/>
          <p:nvPr/>
        </p:nvSpPr>
        <p:spPr>
          <a:xfrm flipH="1">
            <a:off x="895258" y="5721344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EACC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2-B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5" name="Google Shape;345;p6"/>
          <p:cNvSpPr/>
          <p:nvPr/>
        </p:nvSpPr>
        <p:spPr>
          <a:xfrm flipH="1">
            <a:off x="895258" y="6041601"/>
            <a:ext cx="567175" cy="183921"/>
          </a:xfrm>
          <a:prstGeom prst="roundRect">
            <a:avLst>
              <a:gd name="adj" fmla="val 50000"/>
            </a:avLst>
          </a:prstGeom>
          <a:solidFill>
            <a:srgbClr val="9EACC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2-C</a:t>
            </a:r>
            <a:endParaRPr sz="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6" name="Google Shape;346;p6"/>
          <p:cNvSpPr txBox="1"/>
          <p:nvPr/>
        </p:nvSpPr>
        <p:spPr>
          <a:xfrm>
            <a:off x="1564740" y="5373413"/>
            <a:ext cx="528564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Launch an internal AI training program for employees.</a:t>
            </a:r>
            <a:endParaRPr/>
          </a:p>
        </p:txBody>
      </p:sp>
      <p:sp>
        <p:nvSpPr>
          <p:cNvPr id="347" name="Google Shape;347;p6"/>
          <p:cNvSpPr txBox="1"/>
          <p:nvPr/>
        </p:nvSpPr>
        <p:spPr>
          <a:xfrm>
            <a:off x="1564740" y="5681754"/>
            <a:ext cx="528564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Develop an AI ethics framework to guide responsible AI usage.</a:t>
            </a:r>
            <a:endParaRPr/>
          </a:p>
        </p:txBody>
      </p:sp>
      <p:sp>
        <p:nvSpPr>
          <p:cNvPr id="348" name="Google Shape;348;p6"/>
          <p:cNvSpPr txBox="1"/>
          <p:nvPr/>
        </p:nvSpPr>
        <p:spPr>
          <a:xfrm>
            <a:off x="1564740" y="5995580"/>
            <a:ext cx="528564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an AI Center of Excellence to centralize expertise.</a:t>
            </a:r>
            <a:endParaRPr/>
          </a:p>
        </p:txBody>
      </p:sp>
      <p:sp>
        <p:nvSpPr>
          <p:cNvPr id="349" name="Google Shape;349;p6"/>
          <p:cNvSpPr txBox="1"/>
          <p:nvPr/>
        </p:nvSpPr>
        <p:spPr>
          <a:xfrm>
            <a:off x="2631539" y="4793904"/>
            <a:ext cx="4218841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Build AI Capabilities Across the Organization</a:t>
            </a:r>
            <a:endParaRPr/>
          </a:p>
        </p:txBody>
      </p:sp>
      <p:sp>
        <p:nvSpPr>
          <p:cNvPr id="350" name="Google Shape;350;p6"/>
          <p:cNvSpPr txBox="1"/>
          <p:nvPr/>
        </p:nvSpPr>
        <p:spPr>
          <a:xfrm>
            <a:off x="6850380" y="4806956"/>
            <a:ext cx="130170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COMPLETION</a:t>
            </a:r>
            <a:endParaRPr sz="11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51" name="Google Shape;351;p6"/>
          <p:cNvSpPr txBox="1"/>
          <p:nvPr/>
        </p:nvSpPr>
        <p:spPr>
          <a:xfrm>
            <a:off x="9047236" y="4806956"/>
            <a:ext cx="160100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RECOMENDATON</a:t>
            </a:r>
            <a:endParaRPr sz="11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52" name="Google Shape;352;p6"/>
          <p:cNvSpPr/>
          <p:nvPr/>
        </p:nvSpPr>
        <p:spPr>
          <a:xfrm flipH="1">
            <a:off x="6957960" y="6041600"/>
            <a:ext cx="1260000" cy="183921"/>
          </a:xfrm>
          <a:prstGeom prst="roundRect">
            <a:avLst>
              <a:gd name="adj" fmla="val 50000"/>
            </a:avLst>
          </a:prstGeom>
          <a:solidFill>
            <a:srgbClr val="D8D8D8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 Complete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3" name="Google Shape;353;p6"/>
          <p:cNvSpPr/>
          <p:nvPr/>
        </p:nvSpPr>
        <p:spPr>
          <a:xfrm flipH="1">
            <a:off x="6963338" y="5721343"/>
            <a:ext cx="1260000" cy="183921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Completed</a:t>
            </a:r>
            <a:endParaRPr sz="10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" name="Google Shape;354;p6"/>
          <p:cNvSpPr/>
          <p:nvPr/>
        </p:nvSpPr>
        <p:spPr>
          <a:xfrm flipH="1">
            <a:off x="7652882" y="859942"/>
            <a:ext cx="3628117" cy="278070"/>
          </a:xfrm>
          <a:prstGeom prst="round2SameRect">
            <a:avLst>
              <a:gd name="adj1" fmla="val 44036"/>
              <a:gd name="adj2" fmla="val 0"/>
            </a:avLst>
          </a:prstGeom>
          <a:solidFill>
            <a:srgbClr val="D8D8D8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5" name="Google Shape;355;p6"/>
          <p:cNvSpPr/>
          <p:nvPr/>
        </p:nvSpPr>
        <p:spPr>
          <a:xfrm flipH="1">
            <a:off x="7652881" y="859941"/>
            <a:ext cx="3628117" cy="540003"/>
          </a:xfrm>
          <a:prstGeom prst="round2SameRect">
            <a:avLst>
              <a:gd name="adj1" fmla="val 21106"/>
              <a:gd name="adj2" fmla="val 22930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6" name="Google Shape;356;p6"/>
          <p:cNvCxnSpPr/>
          <p:nvPr/>
        </p:nvCxnSpPr>
        <p:spPr>
          <a:xfrm>
            <a:off x="8534400" y="868680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</p:cxnSp>
      <p:cxnSp>
        <p:nvCxnSpPr>
          <p:cNvPr id="357" name="Google Shape;357;p6"/>
          <p:cNvCxnSpPr/>
          <p:nvPr/>
        </p:nvCxnSpPr>
        <p:spPr>
          <a:xfrm>
            <a:off x="9451701" y="868680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</p:cxnSp>
      <p:cxnSp>
        <p:nvCxnSpPr>
          <p:cNvPr id="358" name="Google Shape;358;p6"/>
          <p:cNvCxnSpPr/>
          <p:nvPr/>
        </p:nvCxnSpPr>
        <p:spPr>
          <a:xfrm>
            <a:off x="10372171" y="868680"/>
            <a:ext cx="0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</p:cxnSp>
      <p:sp>
        <p:nvSpPr>
          <p:cNvPr id="359" name="Google Shape;359;p6"/>
          <p:cNvSpPr txBox="1"/>
          <p:nvPr/>
        </p:nvSpPr>
        <p:spPr>
          <a:xfrm>
            <a:off x="7693685" y="886744"/>
            <a:ext cx="81280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Completed</a:t>
            </a:r>
            <a:endParaRPr sz="900" b="0" i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0" name="Google Shape;360;p6"/>
          <p:cNvSpPr txBox="1"/>
          <p:nvPr/>
        </p:nvSpPr>
        <p:spPr>
          <a:xfrm>
            <a:off x="8640835" y="886744"/>
            <a:ext cx="81280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Retain</a:t>
            </a:r>
            <a:endParaRPr sz="900" b="0" i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1" name="Google Shape;361;p6"/>
          <p:cNvSpPr txBox="1"/>
          <p:nvPr/>
        </p:nvSpPr>
        <p:spPr>
          <a:xfrm>
            <a:off x="9540873" y="886744"/>
            <a:ext cx="81280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Modify</a:t>
            </a:r>
            <a:endParaRPr sz="900" b="0" i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2" name="Google Shape;362;p6"/>
          <p:cNvSpPr txBox="1"/>
          <p:nvPr/>
        </p:nvSpPr>
        <p:spPr>
          <a:xfrm>
            <a:off x="10431780" y="886744"/>
            <a:ext cx="84391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Discontinue</a:t>
            </a:r>
            <a:endParaRPr sz="900" b="0" i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3" name="Google Shape;363;p6"/>
          <p:cNvSpPr txBox="1"/>
          <p:nvPr/>
        </p:nvSpPr>
        <p:spPr>
          <a:xfrm>
            <a:off x="7693685" y="1153538"/>
            <a:ext cx="81280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5/9</a:t>
            </a:r>
            <a:endParaRPr sz="9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64" name="Google Shape;364;p6"/>
          <p:cNvSpPr txBox="1"/>
          <p:nvPr/>
        </p:nvSpPr>
        <p:spPr>
          <a:xfrm>
            <a:off x="8640835" y="1153538"/>
            <a:ext cx="81280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5</a:t>
            </a:r>
            <a:endParaRPr sz="9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65" name="Google Shape;365;p6"/>
          <p:cNvSpPr txBox="1"/>
          <p:nvPr/>
        </p:nvSpPr>
        <p:spPr>
          <a:xfrm>
            <a:off x="9540873" y="1153538"/>
            <a:ext cx="81280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2</a:t>
            </a:r>
            <a:endParaRPr sz="9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66" name="Google Shape;366;p6"/>
          <p:cNvSpPr txBox="1"/>
          <p:nvPr/>
        </p:nvSpPr>
        <p:spPr>
          <a:xfrm>
            <a:off x="10431780" y="1153538"/>
            <a:ext cx="84391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2</a:t>
            </a:r>
            <a:endParaRPr sz="9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67" name="Google Shape;367;p6"/>
          <p:cNvSpPr txBox="1"/>
          <p:nvPr/>
        </p:nvSpPr>
        <p:spPr>
          <a:xfrm>
            <a:off x="506747" y="601983"/>
            <a:ext cx="704699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368" name="Google Shape;368;p6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"/>
          <p:cNvSpPr/>
          <p:nvPr/>
        </p:nvSpPr>
        <p:spPr>
          <a:xfrm>
            <a:off x="624112" y="4832200"/>
            <a:ext cx="432483" cy="343501"/>
          </a:xfrm>
          <a:prstGeom prst="roundRect">
            <a:avLst>
              <a:gd name="adj" fmla="val 16667"/>
            </a:avLst>
          </a:prstGeom>
          <a:solidFill>
            <a:srgbClr val="9D9A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624112" y="5315244"/>
            <a:ext cx="432483" cy="343501"/>
          </a:xfrm>
          <a:prstGeom prst="roundRect">
            <a:avLst>
              <a:gd name="adj" fmla="val 16667"/>
            </a:avLst>
          </a:prstGeom>
          <a:solidFill>
            <a:srgbClr val="9D9A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624112" y="5793366"/>
            <a:ext cx="432483" cy="343501"/>
          </a:xfrm>
          <a:prstGeom prst="roundRect">
            <a:avLst>
              <a:gd name="adj" fmla="val 16667"/>
            </a:avLst>
          </a:prstGeom>
          <a:solidFill>
            <a:srgbClr val="9D9A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" name="Google Shape;376;p7"/>
          <p:cNvSpPr/>
          <p:nvPr/>
        </p:nvSpPr>
        <p:spPr>
          <a:xfrm rot="10800000" flipH="1">
            <a:off x="624112" y="2359151"/>
            <a:ext cx="10919279" cy="1700783"/>
          </a:xfrm>
          <a:prstGeom prst="round2SameRect">
            <a:avLst>
              <a:gd name="adj1" fmla="val 15971"/>
              <a:gd name="adj2" fmla="val 0"/>
            </a:avLst>
          </a:prstGeom>
          <a:solidFill>
            <a:srgbClr val="F2F2F2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" name="Google Shape;377;p7"/>
          <p:cNvSpPr/>
          <p:nvPr/>
        </p:nvSpPr>
        <p:spPr>
          <a:xfrm flipH="1">
            <a:off x="624112" y="1625117"/>
            <a:ext cx="10919279" cy="953491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8" name="Google Shape;378;p7"/>
          <p:cNvSpPr txBox="1"/>
          <p:nvPr/>
        </p:nvSpPr>
        <p:spPr>
          <a:xfrm>
            <a:off x="513532" y="1091834"/>
            <a:ext cx="7243216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Core Competency to Leverage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79" name="Google Shape;379;p7"/>
          <p:cNvCxnSpPr/>
          <p:nvPr/>
        </p:nvCxnSpPr>
        <p:spPr>
          <a:xfrm>
            <a:off x="9631680" y="1625117"/>
            <a:ext cx="0" cy="2434818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29803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</p:cxnSp>
      <p:cxnSp>
        <p:nvCxnSpPr>
          <p:cNvPr id="380" name="Google Shape;380;p7"/>
          <p:cNvCxnSpPr/>
          <p:nvPr/>
        </p:nvCxnSpPr>
        <p:spPr>
          <a:xfrm>
            <a:off x="5741561" y="1625117"/>
            <a:ext cx="0" cy="2434818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29803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</p:cxnSp>
      <p:cxnSp>
        <p:nvCxnSpPr>
          <p:cNvPr id="381" name="Google Shape;381;p7"/>
          <p:cNvCxnSpPr/>
          <p:nvPr/>
        </p:nvCxnSpPr>
        <p:spPr>
          <a:xfrm>
            <a:off x="2522873" y="1625117"/>
            <a:ext cx="0" cy="2434818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29803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</p:cxnSp>
      <p:sp>
        <p:nvSpPr>
          <p:cNvPr id="382" name="Google Shape;382;p7"/>
          <p:cNvSpPr txBox="1"/>
          <p:nvPr/>
        </p:nvSpPr>
        <p:spPr>
          <a:xfrm>
            <a:off x="9892889" y="1855111"/>
            <a:ext cx="138929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Competitive Advantage</a:t>
            </a:r>
            <a:endParaRPr sz="14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83" name="Google Shape;383;p7"/>
          <p:cNvSpPr txBox="1"/>
          <p:nvPr/>
        </p:nvSpPr>
        <p:spPr>
          <a:xfrm>
            <a:off x="865018" y="1942303"/>
            <a:ext cx="166978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Core Competency</a:t>
            </a:r>
            <a:endParaRPr sz="1400" b="0" i="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84" name="Google Shape;384;p7"/>
          <p:cNvSpPr txBox="1"/>
          <p:nvPr/>
        </p:nvSpPr>
        <p:spPr>
          <a:xfrm>
            <a:off x="7756748" y="1773792"/>
            <a:ext cx="17443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ORGANIZATION</a:t>
            </a:r>
            <a:endParaRPr sz="14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85" name="Google Shape;385;p7"/>
          <p:cNvSpPr txBox="1"/>
          <p:nvPr/>
        </p:nvSpPr>
        <p:spPr>
          <a:xfrm>
            <a:off x="5975642" y="1773792"/>
            <a:ext cx="17443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IMITABILITY</a:t>
            </a:r>
            <a:endParaRPr sz="14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86" name="Google Shape;386;p7"/>
          <p:cNvSpPr txBox="1"/>
          <p:nvPr/>
        </p:nvSpPr>
        <p:spPr>
          <a:xfrm>
            <a:off x="3890811" y="1773792"/>
            <a:ext cx="17443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RARITY</a:t>
            </a:r>
            <a:endParaRPr sz="14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87" name="Google Shape;387;p7"/>
          <p:cNvSpPr txBox="1"/>
          <p:nvPr/>
        </p:nvSpPr>
        <p:spPr>
          <a:xfrm>
            <a:off x="2543242" y="1773792"/>
            <a:ext cx="174432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VALUE</a:t>
            </a:r>
            <a:endParaRPr sz="14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88" name="Google Shape;388;p7"/>
          <p:cNvSpPr txBox="1"/>
          <p:nvPr/>
        </p:nvSpPr>
        <p:spPr>
          <a:xfrm>
            <a:off x="2715275" y="2008999"/>
            <a:ext cx="1400261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D8AAFA"/>
                </a:solidFill>
                <a:latin typeface="Lato"/>
                <a:ea typeface="Lato"/>
                <a:cs typeface="Lato"/>
                <a:sym typeface="Lato"/>
              </a:rPr>
              <a:t>Does it benefit customers?</a:t>
            </a:r>
            <a:endParaRPr/>
          </a:p>
        </p:txBody>
      </p:sp>
      <p:sp>
        <p:nvSpPr>
          <p:cNvPr id="389" name="Google Shape;389;p7"/>
          <p:cNvSpPr txBox="1"/>
          <p:nvPr/>
        </p:nvSpPr>
        <p:spPr>
          <a:xfrm>
            <a:off x="4062844" y="2008999"/>
            <a:ext cx="1400261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D8AAFA"/>
                </a:solidFill>
                <a:latin typeface="Lato"/>
                <a:ea typeface="Lato"/>
                <a:cs typeface="Lato"/>
                <a:sym typeface="Lato"/>
              </a:rPr>
              <a:t>Is it </a:t>
            </a:r>
            <a:r>
              <a:rPr lang="en-US" sz="900">
                <a:solidFill>
                  <a:srgbClr val="D8AAFA"/>
                </a:solidFill>
                <a:latin typeface="Lato"/>
                <a:ea typeface="Lato"/>
                <a:cs typeface="Lato"/>
                <a:sym typeface="Lato"/>
              </a:rPr>
              <a:t>distinctive</a:t>
            </a:r>
            <a:r>
              <a:rPr lang="en-US" sz="900" b="0" i="0">
                <a:solidFill>
                  <a:srgbClr val="D8AAFA"/>
                </a:solidFill>
                <a:latin typeface="Lato"/>
                <a:ea typeface="Lato"/>
                <a:cs typeface="Lato"/>
                <a:sym typeface="Lato"/>
              </a:rPr>
              <a:t> in the market?</a:t>
            </a:r>
            <a:endParaRPr/>
          </a:p>
        </p:txBody>
      </p:sp>
      <p:sp>
        <p:nvSpPr>
          <p:cNvPr id="390" name="Google Shape;390;p7"/>
          <p:cNvSpPr txBox="1"/>
          <p:nvPr/>
        </p:nvSpPr>
        <p:spPr>
          <a:xfrm>
            <a:off x="6146588" y="2008999"/>
            <a:ext cx="1400261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D8AAFA"/>
                </a:solidFill>
                <a:latin typeface="Lato"/>
                <a:ea typeface="Lato"/>
                <a:cs typeface="Lato"/>
                <a:sym typeface="Lato"/>
              </a:rPr>
              <a:t>Is it hard to </a:t>
            </a:r>
            <a:r>
              <a:rPr lang="en-US" sz="900">
                <a:solidFill>
                  <a:srgbClr val="D8AAFA"/>
                </a:solidFill>
                <a:latin typeface="Lato"/>
                <a:ea typeface="Lato"/>
                <a:cs typeface="Lato"/>
                <a:sym typeface="Lato"/>
              </a:rPr>
              <a:t>duplicate</a:t>
            </a:r>
            <a:r>
              <a:rPr lang="en-US" sz="900" b="0" i="0">
                <a:solidFill>
                  <a:srgbClr val="D8AAFA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/>
          </a:p>
        </p:txBody>
      </p:sp>
      <p:sp>
        <p:nvSpPr>
          <p:cNvPr id="391" name="Google Shape;391;p7"/>
          <p:cNvSpPr txBox="1"/>
          <p:nvPr/>
        </p:nvSpPr>
        <p:spPr>
          <a:xfrm>
            <a:off x="7928781" y="2008999"/>
            <a:ext cx="1400261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D8AAFA"/>
                </a:solidFill>
                <a:latin typeface="Lato"/>
                <a:ea typeface="Lato"/>
                <a:cs typeface="Lato"/>
                <a:sym typeface="Lato"/>
              </a:rPr>
              <a:t>Can we equipped to use it effectively?</a:t>
            </a:r>
            <a:endParaRPr/>
          </a:p>
        </p:txBody>
      </p:sp>
      <p:sp>
        <p:nvSpPr>
          <p:cNvPr id="392" name="Google Shape;392;p7"/>
          <p:cNvSpPr txBox="1"/>
          <p:nvPr/>
        </p:nvSpPr>
        <p:spPr>
          <a:xfrm>
            <a:off x="872371" y="2648897"/>
            <a:ext cx="151127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Personalized AI solutions</a:t>
            </a:r>
            <a:endParaRPr sz="1100" b="0" i="0" dirty="0">
              <a:solidFill>
                <a:srgbClr val="75707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93" name="Google Shape;393;p7"/>
          <p:cNvSpPr txBox="1"/>
          <p:nvPr/>
        </p:nvSpPr>
        <p:spPr>
          <a:xfrm>
            <a:off x="872371" y="3129588"/>
            <a:ext cx="151127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Exclusive data insights</a:t>
            </a:r>
            <a:endParaRPr sz="1100" b="0" i="0">
              <a:solidFill>
                <a:srgbClr val="75707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872371" y="3591992"/>
            <a:ext cx="151127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Agile product innovation</a:t>
            </a:r>
            <a:endParaRPr sz="1100" b="0" i="0">
              <a:solidFill>
                <a:srgbClr val="757070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395" name="Google Shape;395;p7"/>
          <p:cNvCxnSpPr/>
          <p:nvPr/>
        </p:nvCxnSpPr>
        <p:spPr>
          <a:xfrm>
            <a:off x="624112" y="3079784"/>
            <a:ext cx="10919279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29803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</p:cxnSp>
      <p:cxnSp>
        <p:nvCxnSpPr>
          <p:cNvPr id="396" name="Google Shape;396;p7"/>
          <p:cNvCxnSpPr/>
          <p:nvPr/>
        </p:nvCxnSpPr>
        <p:spPr>
          <a:xfrm>
            <a:off x="624112" y="3595766"/>
            <a:ext cx="10919279" cy="0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29803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</p:cxnSp>
      <p:grpSp>
        <p:nvGrpSpPr>
          <p:cNvPr id="397" name="Google Shape;397;p7"/>
          <p:cNvGrpSpPr/>
          <p:nvPr/>
        </p:nvGrpSpPr>
        <p:grpSpPr>
          <a:xfrm>
            <a:off x="2687030" y="2672466"/>
            <a:ext cx="1409164" cy="343501"/>
            <a:chOff x="2687030" y="2672466"/>
            <a:chExt cx="1409164" cy="343501"/>
          </a:xfrm>
        </p:grpSpPr>
        <p:sp>
          <p:nvSpPr>
            <p:cNvPr id="398" name="Google Shape;398;p7"/>
            <p:cNvSpPr/>
            <p:nvPr/>
          </p:nvSpPr>
          <p:spPr>
            <a:xfrm>
              <a:off x="2728252" y="2672466"/>
              <a:ext cx="1367942" cy="343501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High</a:t>
              </a:r>
              <a:endPara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399" name="Google Shape;399;p7"/>
            <p:cNvGrpSpPr/>
            <p:nvPr/>
          </p:nvGrpSpPr>
          <p:grpSpPr>
            <a:xfrm>
              <a:off x="2687030" y="2722298"/>
              <a:ext cx="114300" cy="114300"/>
              <a:chOff x="2933700" y="4695825"/>
              <a:chExt cx="371475" cy="371475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2933700" y="4695825"/>
                <a:ext cx="371475" cy="37147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01" name="Google Shape;401;p7" descr="Checkmark with solid fi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998361" y="4757737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02" name="Google Shape;402;p7"/>
          <p:cNvGrpSpPr/>
          <p:nvPr/>
        </p:nvGrpSpPr>
        <p:grpSpPr>
          <a:xfrm>
            <a:off x="2687030" y="3140890"/>
            <a:ext cx="1409164" cy="343501"/>
            <a:chOff x="2687030" y="2672466"/>
            <a:chExt cx="1409164" cy="343501"/>
          </a:xfrm>
        </p:grpSpPr>
        <p:sp>
          <p:nvSpPr>
            <p:cNvPr id="403" name="Google Shape;403;p7"/>
            <p:cNvSpPr/>
            <p:nvPr/>
          </p:nvSpPr>
          <p:spPr>
            <a:xfrm>
              <a:off x="2728252" y="2672466"/>
              <a:ext cx="1367942" cy="343501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High</a:t>
              </a:r>
              <a:endPara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04" name="Google Shape;404;p7"/>
            <p:cNvGrpSpPr/>
            <p:nvPr/>
          </p:nvGrpSpPr>
          <p:grpSpPr>
            <a:xfrm>
              <a:off x="2687030" y="2722298"/>
              <a:ext cx="114300" cy="114300"/>
              <a:chOff x="2933700" y="4695825"/>
              <a:chExt cx="371475" cy="371475"/>
            </a:xfrm>
          </p:grpSpPr>
          <p:sp>
            <p:nvSpPr>
              <p:cNvPr id="405" name="Google Shape;405;p7"/>
              <p:cNvSpPr/>
              <p:nvPr/>
            </p:nvSpPr>
            <p:spPr>
              <a:xfrm>
                <a:off x="2933700" y="4695825"/>
                <a:ext cx="371475" cy="37147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06" name="Google Shape;406;p7" descr="Checkmark with solid fi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998361" y="4757737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07" name="Google Shape;407;p7"/>
          <p:cNvGrpSpPr/>
          <p:nvPr/>
        </p:nvGrpSpPr>
        <p:grpSpPr>
          <a:xfrm>
            <a:off x="2687030" y="3645649"/>
            <a:ext cx="1409164" cy="343501"/>
            <a:chOff x="2687030" y="2672466"/>
            <a:chExt cx="1409164" cy="343501"/>
          </a:xfrm>
        </p:grpSpPr>
        <p:sp>
          <p:nvSpPr>
            <p:cNvPr id="408" name="Google Shape;408;p7"/>
            <p:cNvSpPr/>
            <p:nvPr/>
          </p:nvSpPr>
          <p:spPr>
            <a:xfrm>
              <a:off x="2728252" y="2672466"/>
              <a:ext cx="1367942" cy="343501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High</a:t>
              </a:r>
              <a:endPara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09" name="Google Shape;409;p7"/>
            <p:cNvGrpSpPr/>
            <p:nvPr/>
          </p:nvGrpSpPr>
          <p:grpSpPr>
            <a:xfrm>
              <a:off x="2687030" y="2722298"/>
              <a:ext cx="114300" cy="114300"/>
              <a:chOff x="2933700" y="4695825"/>
              <a:chExt cx="371475" cy="371475"/>
            </a:xfrm>
          </p:grpSpPr>
          <p:sp>
            <p:nvSpPr>
              <p:cNvPr id="410" name="Google Shape;410;p7"/>
              <p:cNvSpPr/>
              <p:nvPr/>
            </p:nvSpPr>
            <p:spPr>
              <a:xfrm>
                <a:off x="2933700" y="4695825"/>
                <a:ext cx="371475" cy="37147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11" name="Google Shape;411;p7" descr="Checkmark with solid fi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998361" y="4757737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12" name="Google Shape;412;p7"/>
          <p:cNvGrpSpPr/>
          <p:nvPr/>
        </p:nvGrpSpPr>
        <p:grpSpPr>
          <a:xfrm>
            <a:off x="4193169" y="2672466"/>
            <a:ext cx="1409164" cy="343501"/>
            <a:chOff x="2687030" y="2672466"/>
            <a:chExt cx="1409164" cy="343501"/>
          </a:xfrm>
        </p:grpSpPr>
        <p:sp>
          <p:nvSpPr>
            <p:cNvPr id="413" name="Google Shape;413;p7"/>
            <p:cNvSpPr/>
            <p:nvPr/>
          </p:nvSpPr>
          <p:spPr>
            <a:xfrm>
              <a:off x="2728252" y="2672466"/>
              <a:ext cx="1367942" cy="343501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Moderate</a:t>
              </a:r>
              <a:endPara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14" name="Google Shape;414;p7"/>
            <p:cNvGrpSpPr/>
            <p:nvPr/>
          </p:nvGrpSpPr>
          <p:grpSpPr>
            <a:xfrm>
              <a:off x="2687030" y="2722298"/>
              <a:ext cx="114300" cy="114300"/>
              <a:chOff x="2933700" y="4695825"/>
              <a:chExt cx="371475" cy="371475"/>
            </a:xfrm>
          </p:grpSpPr>
          <p:sp>
            <p:nvSpPr>
              <p:cNvPr id="415" name="Google Shape;415;p7"/>
              <p:cNvSpPr/>
              <p:nvPr/>
            </p:nvSpPr>
            <p:spPr>
              <a:xfrm>
                <a:off x="2933700" y="4695825"/>
                <a:ext cx="371475" cy="37147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16" name="Google Shape;416;p7" descr="Checkmark with solid fi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998361" y="4757737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17" name="Google Shape;417;p7"/>
          <p:cNvGrpSpPr/>
          <p:nvPr/>
        </p:nvGrpSpPr>
        <p:grpSpPr>
          <a:xfrm>
            <a:off x="4193169" y="3140890"/>
            <a:ext cx="1409164" cy="343501"/>
            <a:chOff x="2687030" y="2672466"/>
            <a:chExt cx="1409164" cy="343501"/>
          </a:xfrm>
        </p:grpSpPr>
        <p:sp>
          <p:nvSpPr>
            <p:cNvPr id="418" name="Google Shape;418;p7"/>
            <p:cNvSpPr/>
            <p:nvPr/>
          </p:nvSpPr>
          <p:spPr>
            <a:xfrm>
              <a:off x="2728252" y="2672466"/>
              <a:ext cx="1367942" cy="343501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High</a:t>
              </a:r>
              <a:endPara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19" name="Google Shape;419;p7"/>
            <p:cNvGrpSpPr/>
            <p:nvPr/>
          </p:nvGrpSpPr>
          <p:grpSpPr>
            <a:xfrm>
              <a:off x="2687030" y="2722298"/>
              <a:ext cx="114300" cy="114300"/>
              <a:chOff x="2933700" y="4695825"/>
              <a:chExt cx="371475" cy="371475"/>
            </a:xfrm>
          </p:grpSpPr>
          <p:sp>
            <p:nvSpPr>
              <p:cNvPr id="420" name="Google Shape;420;p7"/>
              <p:cNvSpPr/>
              <p:nvPr/>
            </p:nvSpPr>
            <p:spPr>
              <a:xfrm>
                <a:off x="2933700" y="4695825"/>
                <a:ext cx="371475" cy="37147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21" name="Google Shape;421;p7" descr="Checkmark with solid fi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998361" y="4757737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22" name="Google Shape;422;p7"/>
          <p:cNvGrpSpPr/>
          <p:nvPr/>
        </p:nvGrpSpPr>
        <p:grpSpPr>
          <a:xfrm>
            <a:off x="4162393" y="3645649"/>
            <a:ext cx="1439940" cy="343501"/>
            <a:chOff x="4162393" y="3645649"/>
            <a:chExt cx="1439940" cy="343501"/>
          </a:xfrm>
        </p:grpSpPr>
        <p:grpSp>
          <p:nvGrpSpPr>
            <p:cNvPr id="423" name="Google Shape;423;p7"/>
            <p:cNvGrpSpPr/>
            <p:nvPr/>
          </p:nvGrpSpPr>
          <p:grpSpPr>
            <a:xfrm>
              <a:off x="4193169" y="3645649"/>
              <a:ext cx="1409164" cy="343501"/>
              <a:chOff x="2687030" y="2672466"/>
              <a:chExt cx="1409164" cy="343501"/>
            </a:xfrm>
          </p:grpSpPr>
          <p:sp>
            <p:nvSpPr>
              <p:cNvPr id="424" name="Google Shape;424;p7"/>
              <p:cNvSpPr/>
              <p:nvPr/>
            </p:nvSpPr>
            <p:spPr>
              <a:xfrm>
                <a:off x="2728252" y="2672466"/>
                <a:ext cx="1367942" cy="343501"/>
              </a:xfrm>
              <a:prstGeom prst="roundRect">
                <a:avLst>
                  <a:gd name="adj" fmla="val 16667"/>
                </a:avLst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Common</a:t>
                </a:r>
                <a:endParaRPr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25" name="Google Shape;425;p7"/>
              <p:cNvSpPr/>
              <p:nvPr/>
            </p:nvSpPr>
            <p:spPr>
              <a:xfrm>
                <a:off x="2687030" y="2722298"/>
                <a:ext cx="114300" cy="1143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426" name="Google Shape;426;p7"/>
            <p:cNvSpPr txBox="1"/>
            <p:nvPr/>
          </p:nvSpPr>
          <p:spPr>
            <a:xfrm>
              <a:off x="4162393" y="3660820"/>
              <a:ext cx="180580" cy="1593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" b="0" i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X</a:t>
              </a:r>
              <a:endParaRPr/>
            </a:p>
          </p:txBody>
        </p:sp>
      </p:grpSp>
      <p:grpSp>
        <p:nvGrpSpPr>
          <p:cNvPr id="427" name="Google Shape;427;p7"/>
          <p:cNvGrpSpPr/>
          <p:nvPr/>
        </p:nvGrpSpPr>
        <p:grpSpPr>
          <a:xfrm>
            <a:off x="5837664" y="3645649"/>
            <a:ext cx="1761003" cy="343501"/>
            <a:chOff x="4161287" y="3645649"/>
            <a:chExt cx="1670278" cy="343501"/>
          </a:xfrm>
        </p:grpSpPr>
        <p:grpSp>
          <p:nvGrpSpPr>
            <p:cNvPr id="428" name="Google Shape;428;p7"/>
            <p:cNvGrpSpPr/>
            <p:nvPr/>
          </p:nvGrpSpPr>
          <p:grpSpPr>
            <a:xfrm>
              <a:off x="4193169" y="3645649"/>
              <a:ext cx="1638396" cy="343501"/>
              <a:chOff x="2687030" y="2672466"/>
              <a:chExt cx="1638396" cy="343501"/>
            </a:xfrm>
          </p:grpSpPr>
          <p:sp>
            <p:nvSpPr>
              <p:cNvPr id="429" name="Google Shape;429;p7"/>
              <p:cNvSpPr/>
              <p:nvPr/>
            </p:nvSpPr>
            <p:spPr>
              <a:xfrm>
                <a:off x="2728251" y="2672466"/>
                <a:ext cx="1597175" cy="343501"/>
              </a:xfrm>
              <a:prstGeom prst="roundRect">
                <a:avLst>
                  <a:gd name="adj" fmla="val 16667"/>
                </a:avLst>
              </a:prstGeom>
              <a:solidFill>
                <a:srgbClr val="D8D8D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Easy to replicate</a:t>
                </a:r>
                <a:endParaRPr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30" name="Google Shape;430;p7"/>
              <p:cNvSpPr/>
              <p:nvPr/>
            </p:nvSpPr>
            <p:spPr>
              <a:xfrm>
                <a:off x="2687030" y="2722298"/>
                <a:ext cx="114300" cy="1143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sp>
          <p:nvSpPr>
            <p:cNvPr id="431" name="Google Shape;431;p7"/>
            <p:cNvSpPr txBox="1"/>
            <p:nvPr/>
          </p:nvSpPr>
          <p:spPr>
            <a:xfrm>
              <a:off x="4161287" y="3660820"/>
              <a:ext cx="180580" cy="1593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" b="0" i="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X</a:t>
              </a:r>
              <a:endParaRPr/>
            </a:p>
          </p:txBody>
        </p:sp>
      </p:grpSp>
      <p:grpSp>
        <p:nvGrpSpPr>
          <p:cNvPr id="432" name="Google Shape;432;p7"/>
          <p:cNvGrpSpPr/>
          <p:nvPr/>
        </p:nvGrpSpPr>
        <p:grpSpPr>
          <a:xfrm>
            <a:off x="5859281" y="3140890"/>
            <a:ext cx="1739389" cy="343501"/>
            <a:chOff x="2687030" y="2672466"/>
            <a:chExt cx="1739389" cy="343501"/>
          </a:xfrm>
        </p:grpSpPr>
        <p:sp>
          <p:nvSpPr>
            <p:cNvPr id="433" name="Google Shape;433;p7"/>
            <p:cNvSpPr/>
            <p:nvPr/>
          </p:nvSpPr>
          <p:spPr>
            <a:xfrm>
              <a:off x="2746181" y="2672466"/>
              <a:ext cx="1680238" cy="343501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Difficult to replace</a:t>
              </a:r>
              <a:endPara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34" name="Google Shape;434;p7"/>
            <p:cNvGrpSpPr/>
            <p:nvPr/>
          </p:nvGrpSpPr>
          <p:grpSpPr>
            <a:xfrm>
              <a:off x="2687030" y="2722298"/>
              <a:ext cx="114300" cy="114300"/>
              <a:chOff x="2933700" y="4695825"/>
              <a:chExt cx="371475" cy="371475"/>
            </a:xfrm>
          </p:grpSpPr>
          <p:sp>
            <p:nvSpPr>
              <p:cNvPr id="435" name="Google Shape;435;p7"/>
              <p:cNvSpPr/>
              <p:nvPr/>
            </p:nvSpPr>
            <p:spPr>
              <a:xfrm>
                <a:off x="2933700" y="4695825"/>
                <a:ext cx="371475" cy="37147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36" name="Google Shape;436;p7" descr="Checkmark with solid fi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998361" y="4757737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37" name="Google Shape;437;p7"/>
          <p:cNvSpPr/>
          <p:nvPr/>
        </p:nvSpPr>
        <p:spPr>
          <a:xfrm>
            <a:off x="5922036" y="2692634"/>
            <a:ext cx="1676634" cy="343501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Easy to replicate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8" name="Google Shape;438;p7"/>
          <p:cNvSpPr/>
          <p:nvPr/>
        </p:nvSpPr>
        <p:spPr>
          <a:xfrm>
            <a:off x="5866808" y="2742466"/>
            <a:ext cx="114300" cy="1143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9" name="Google Shape;439;p7"/>
          <p:cNvSpPr txBox="1"/>
          <p:nvPr/>
        </p:nvSpPr>
        <p:spPr>
          <a:xfrm>
            <a:off x="5834817" y="2709531"/>
            <a:ext cx="180580" cy="15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 b="0" i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X</a:t>
            </a:r>
            <a:endParaRPr/>
          </a:p>
        </p:txBody>
      </p:sp>
      <p:cxnSp>
        <p:nvCxnSpPr>
          <p:cNvPr id="440" name="Google Shape;440;p7"/>
          <p:cNvCxnSpPr/>
          <p:nvPr/>
        </p:nvCxnSpPr>
        <p:spPr>
          <a:xfrm>
            <a:off x="7719970" y="1625117"/>
            <a:ext cx="0" cy="2434818"/>
          </a:xfrm>
          <a:prstGeom prst="straightConnector1">
            <a:avLst/>
          </a:prstGeom>
          <a:noFill/>
          <a:ln w="12700" cap="flat" cmpd="sng">
            <a:solidFill>
              <a:schemeClr val="dk1">
                <a:alpha val="29803"/>
              </a:scheme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</p:cxnSp>
      <p:grpSp>
        <p:nvGrpSpPr>
          <p:cNvPr id="441" name="Google Shape;441;p7"/>
          <p:cNvGrpSpPr/>
          <p:nvPr/>
        </p:nvGrpSpPr>
        <p:grpSpPr>
          <a:xfrm>
            <a:off x="8022609" y="2672466"/>
            <a:ext cx="1409164" cy="343501"/>
            <a:chOff x="2687030" y="2672466"/>
            <a:chExt cx="1409164" cy="343501"/>
          </a:xfrm>
        </p:grpSpPr>
        <p:sp>
          <p:nvSpPr>
            <p:cNvPr id="442" name="Google Shape;442;p7"/>
            <p:cNvSpPr/>
            <p:nvPr/>
          </p:nvSpPr>
          <p:spPr>
            <a:xfrm>
              <a:off x="2728252" y="2672466"/>
              <a:ext cx="1367942" cy="343501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Well-integrated</a:t>
              </a:r>
              <a:endPara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43" name="Google Shape;443;p7"/>
            <p:cNvGrpSpPr/>
            <p:nvPr/>
          </p:nvGrpSpPr>
          <p:grpSpPr>
            <a:xfrm>
              <a:off x="2687030" y="2722298"/>
              <a:ext cx="114300" cy="114300"/>
              <a:chOff x="2933700" y="4695825"/>
              <a:chExt cx="371475" cy="371475"/>
            </a:xfrm>
          </p:grpSpPr>
          <p:sp>
            <p:nvSpPr>
              <p:cNvPr id="444" name="Google Shape;444;p7"/>
              <p:cNvSpPr/>
              <p:nvPr/>
            </p:nvSpPr>
            <p:spPr>
              <a:xfrm>
                <a:off x="2933700" y="4695825"/>
                <a:ext cx="371475" cy="37147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45" name="Google Shape;445;p7" descr="Checkmark with solid fi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998361" y="4757737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46" name="Google Shape;446;p7"/>
          <p:cNvGrpSpPr/>
          <p:nvPr/>
        </p:nvGrpSpPr>
        <p:grpSpPr>
          <a:xfrm>
            <a:off x="8022609" y="3140890"/>
            <a:ext cx="1487766" cy="343501"/>
            <a:chOff x="2687030" y="2672466"/>
            <a:chExt cx="1487766" cy="343501"/>
          </a:xfrm>
        </p:grpSpPr>
        <p:sp>
          <p:nvSpPr>
            <p:cNvPr id="447" name="Google Shape;447;p7"/>
            <p:cNvSpPr/>
            <p:nvPr/>
          </p:nvSpPr>
          <p:spPr>
            <a:xfrm>
              <a:off x="2728251" y="2672466"/>
              <a:ext cx="1446545" cy="343501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Strong capabilities</a:t>
              </a:r>
              <a:endPara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48" name="Google Shape;448;p7"/>
            <p:cNvGrpSpPr/>
            <p:nvPr/>
          </p:nvGrpSpPr>
          <p:grpSpPr>
            <a:xfrm>
              <a:off x="2687030" y="2722298"/>
              <a:ext cx="114300" cy="114300"/>
              <a:chOff x="2933700" y="4695825"/>
              <a:chExt cx="371475" cy="371475"/>
            </a:xfrm>
          </p:grpSpPr>
          <p:sp>
            <p:nvSpPr>
              <p:cNvPr id="449" name="Google Shape;449;p7"/>
              <p:cNvSpPr/>
              <p:nvPr/>
            </p:nvSpPr>
            <p:spPr>
              <a:xfrm>
                <a:off x="2933700" y="4695825"/>
                <a:ext cx="371475" cy="37147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50" name="Google Shape;450;p7" descr="Checkmark with solid fi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998361" y="4757737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51" name="Google Shape;451;p7"/>
          <p:cNvGrpSpPr/>
          <p:nvPr/>
        </p:nvGrpSpPr>
        <p:grpSpPr>
          <a:xfrm>
            <a:off x="8022609" y="3645649"/>
            <a:ext cx="1409164" cy="343501"/>
            <a:chOff x="2687030" y="2672466"/>
            <a:chExt cx="1409164" cy="343501"/>
          </a:xfrm>
        </p:grpSpPr>
        <p:sp>
          <p:nvSpPr>
            <p:cNvPr id="452" name="Google Shape;452;p7"/>
            <p:cNvSpPr/>
            <p:nvPr/>
          </p:nvSpPr>
          <p:spPr>
            <a:xfrm>
              <a:off x="2728252" y="2672466"/>
              <a:ext cx="1367942" cy="343501"/>
            </a:xfrm>
            <a:prstGeom prst="roundRect">
              <a:avLst>
                <a:gd name="adj" fmla="val 16667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Efficient team</a:t>
              </a:r>
              <a:endPara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53" name="Google Shape;453;p7"/>
            <p:cNvGrpSpPr/>
            <p:nvPr/>
          </p:nvGrpSpPr>
          <p:grpSpPr>
            <a:xfrm>
              <a:off x="2687030" y="2722298"/>
              <a:ext cx="114300" cy="114300"/>
              <a:chOff x="2933700" y="4695825"/>
              <a:chExt cx="371475" cy="371475"/>
            </a:xfrm>
          </p:grpSpPr>
          <p:sp>
            <p:nvSpPr>
              <p:cNvPr id="454" name="Google Shape;454;p7"/>
              <p:cNvSpPr/>
              <p:nvPr/>
            </p:nvSpPr>
            <p:spPr>
              <a:xfrm>
                <a:off x="2933700" y="4695825"/>
                <a:ext cx="371475" cy="37147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55" name="Google Shape;455;p7" descr="Checkmark with solid fill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998361" y="4757737"/>
                <a:ext cx="247650" cy="24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56" name="Google Shape;456;p7"/>
          <p:cNvSpPr/>
          <p:nvPr/>
        </p:nvSpPr>
        <p:spPr>
          <a:xfrm>
            <a:off x="9944660" y="2672466"/>
            <a:ext cx="1367942" cy="34350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Short-term edge</a:t>
            </a:r>
            <a:endParaRPr sz="12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57" name="Google Shape;457;p7"/>
          <p:cNvSpPr/>
          <p:nvPr/>
        </p:nvSpPr>
        <p:spPr>
          <a:xfrm>
            <a:off x="9944660" y="3159940"/>
            <a:ext cx="1367942" cy="34350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Long-term advantage</a:t>
            </a:r>
            <a:endParaRPr sz="12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58" name="Google Shape;458;p7"/>
          <p:cNvSpPr/>
          <p:nvPr/>
        </p:nvSpPr>
        <p:spPr>
          <a:xfrm>
            <a:off x="9944660" y="3656100"/>
            <a:ext cx="1367942" cy="34350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Competitive</a:t>
            </a:r>
            <a:endParaRPr sz="12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459" name="Google Shape;459;p7"/>
          <p:cNvSpPr txBox="1"/>
          <p:nvPr/>
        </p:nvSpPr>
        <p:spPr>
          <a:xfrm>
            <a:off x="611055" y="4257813"/>
            <a:ext cx="4624525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Core Competency Strengths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7"/>
          <p:cNvSpPr txBox="1"/>
          <p:nvPr/>
        </p:nvSpPr>
        <p:spPr>
          <a:xfrm>
            <a:off x="6918866" y="4257813"/>
            <a:ext cx="4624525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Areas For Improvement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1" name="Google Shape;461;p7"/>
          <p:cNvSpPr/>
          <p:nvPr/>
        </p:nvSpPr>
        <p:spPr>
          <a:xfrm>
            <a:off x="1219200" y="4832200"/>
            <a:ext cx="5135022" cy="34350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Offers deep insights into customer behavior and market trends.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" name="Google Shape;462;p7"/>
          <p:cNvSpPr/>
          <p:nvPr/>
        </p:nvSpPr>
        <p:spPr>
          <a:xfrm>
            <a:off x="1219200" y="5315244"/>
            <a:ext cx="4415939" cy="34350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Provides highly tailored experiences that resonate with customer needs.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" name="Google Shape;463;p7"/>
          <p:cNvSpPr/>
          <p:nvPr/>
        </p:nvSpPr>
        <p:spPr>
          <a:xfrm>
            <a:off x="1219200" y="5793366"/>
            <a:ext cx="4415939" cy="34350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Facilitates faster time-to-market for innovative solutions.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64" name="Google Shape;464;p7" descr="Checkmar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142" y="4815622"/>
            <a:ext cx="352421" cy="352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7" descr="Checkmar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142" y="5326126"/>
            <a:ext cx="352421" cy="352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7" descr="Checkmar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142" y="5784446"/>
            <a:ext cx="352421" cy="352421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7"/>
          <p:cNvSpPr/>
          <p:nvPr/>
        </p:nvSpPr>
        <p:spPr>
          <a:xfrm>
            <a:off x="6516831" y="4832200"/>
            <a:ext cx="432483" cy="343501"/>
          </a:xfrm>
          <a:prstGeom prst="roundRect">
            <a:avLst>
              <a:gd name="adj" fmla="val 16667"/>
            </a:avLst>
          </a:prstGeom>
          <a:solidFill>
            <a:srgbClr val="EEDC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7"/>
          <p:cNvSpPr/>
          <p:nvPr/>
        </p:nvSpPr>
        <p:spPr>
          <a:xfrm>
            <a:off x="6516831" y="5315244"/>
            <a:ext cx="432483" cy="343501"/>
          </a:xfrm>
          <a:prstGeom prst="roundRect">
            <a:avLst>
              <a:gd name="adj" fmla="val 16667"/>
            </a:avLst>
          </a:prstGeom>
          <a:solidFill>
            <a:srgbClr val="EEDC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9" name="Google Shape;469;p7"/>
          <p:cNvSpPr/>
          <p:nvPr/>
        </p:nvSpPr>
        <p:spPr>
          <a:xfrm>
            <a:off x="6516831" y="5793366"/>
            <a:ext cx="432483" cy="343501"/>
          </a:xfrm>
          <a:prstGeom prst="roundRect">
            <a:avLst>
              <a:gd name="adj" fmla="val 16667"/>
            </a:avLst>
          </a:prstGeom>
          <a:solidFill>
            <a:srgbClr val="EEDC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0" name="Google Shape;470;p7"/>
          <p:cNvSpPr/>
          <p:nvPr/>
        </p:nvSpPr>
        <p:spPr>
          <a:xfrm>
            <a:off x="7111919" y="4832200"/>
            <a:ext cx="4415939" cy="34350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Invest in advanced algorithms to make personalization more dynamic.</a:t>
            </a:r>
            <a:endParaRPr sz="120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1" name="Google Shape;471;p7"/>
          <p:cNvSpPr/>
          <p:nvPr/>
        </p:nvSpPr>
        <p:spPr>
          <a:xfrm>
            <a:off x="7111919" y="5315244"/>
            <a:ext cx="4415939" cy="34350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Expand the scope of data sources to capture broader market signals.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2" name="Google Shape;472;p7"/>
          <p:cNvSpPr/>
          <p:nvPr/>
        </p:nvSpPr>
        <p:spPr>
          <a:xfrm>
            <a:off x="7111919" y="5793366"/>
            <a:ext cx="4415939" cy="34350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Strengthen collaboration between AI teams and product developers to ensure alignment.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73" name="Google Shape;473;p7" descr="Exclamation 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8723" y="4897911"/>
            <a:ext cx="230067" cy="230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7" descr="Exclamation 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8723" y="5349016"/>
            <a:ext cx="230067" cy="230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7" descr="Exclamation 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8723" y="5845622"/>
            <a:ext cx="230067" cy="230067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7"/>
          <p:cNvSpPr txBox="1"/>
          <p:nvPr/>
        </p:nvSpPr>
        <p:spPr>
          <a:xfrm>
            <a:off x="506747" y="601983"/>
            <a:ext cx="30573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477" name="Google Shape;477;p7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"/>
          <p:cNvSpPr txBox="1"/>
          <p:nvPr/>
        </p:nvSpPr>
        <p:spPr>
          <a:xfrm>
            <a:off x="513532" y="1091834"/>
            <a:ext cx="6483068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Identification of Top Strategic Priorities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83" name="Google Shape;483;p8"/>
          <p:cNvGraphicFramePr/>
          <p:nvPr/>
        </p:nvGraphicFramePr>
        <p:xfrm>
          <a:off x="5431536" y="2128752"/>
          <a:ext cx="5583375" cy="3984400"/>
        </p:xfrm>
        <a:graphic>
          <a:graphicData uri="http://schemas.openxmlformats.org/drawingml/2006/table">
            <a:tbl>
              <a:tblPr bandRow="1">
                <a:noFill/>
                <a:tableStyleId>{92F0E92C-DC4C-4440-A556-2BC7BFF319D1}</a:tableStyleId>
              </a:tblPr>
              <a:tblGrid>
                <a:gridCol w="79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7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7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D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DB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82100" marR="82100" marT="41050" marB="41050">
                    <a:lnL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4" name="Google Shape;484;p8"/>
          <p:cNvSpPr/>
          <p:nvPr/>
        </p:nvSpPr>
        <p:spPr>
          <a:xfrm flipH="1">
            <a:off x="10233360" y="1676400"/>
            <a:ext cx="755805" cy="400050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5" name="Google Shape;485;p8"/>
          <p:cNvSpPr/>
          <p:nvPr/>
        </p:nvSpPr>
        <p:spPr>
          <a:xfrm flipH="1">
            <a:off x="9434847" y="1676400"/>
            <a:ext cx="755805" cy="400050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6" name="Google Shape;486;p8"/>
          <p:cNvSpPr/>
          <p:nvPr/>
        </p:nvSpPr>
        <p:spPr>
          <a:xfrm flipH="1">
            <a:off x="8636334" y="1676400"/>
            <a:ext cx="755805" cy="400050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7" name="Google Shape;487;p8"/>
          <p:cNvSpPr/>
          <p:nvPr/>
        </p:nvSpPr>
        <p:spPr>
          <a:xfrm flipH="1">
            <a:off x="7837821" y="1676400"/>
            <a:ext cx="755805" cy="400050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8" name="Google Shape;488;p8"/>
          <p:cNvSpPr/>
          <p:nvPr/>
        </p:nvSpPr>
        <p:spPr>
          <a:xfrm flipH="1">
            <a:off x="7039308" y="1676400"/>
            <a:ext cx="755805" cy="400050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9" name="Google Shape;489;p8"/>
          <p:cNvSpPr/>
          <p:nvPr/>
        </p:nvSpPr>
        <p:spPr>
          <a:xfrm flipH="1">
            <a:off x="6240795" y="1676400"/>
            <a:ext cx="755805" cy="400050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0" name="Google Shape;490;p8"/>
          <p:cNvSpPr/>
          <p:nvPr/>
        </p:nvSpPr>
        <p:spPr>
          <a:xfrm flipH="1">
            <a:off x="5431535" y="1676400"/>
            <a:ext cx="755805" cy="400050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1" name="Google Shape;491;p8"/>
          <p:cNvSpPr/>
          <p:nvPr/>
        </p:nvSpPr>
        <p:spPr>
          <a:xfrm rot="-5400000" flipH="1">
            <a:off x="4576905" y="1858785"/>
            <a:ext cx="522419" cy="1116424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2" name="Google Shape;492;p8"/>
          <p:cNvSpPr/>
          <p:nvPr/>
        </p:nvSpPr>
        <p:spPr>
          <a:xfrm rot="-5400000" flipH="1">
            <a:off x="4576904" y="2427243"/>
            <a:ext cx="522419" cy="1116424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3" name="Google Shape;493;p8"/>
          <p:cNvSpPr/>
          <p:nvPr/>
        </p:nvSpPr>
        <p:spPr>
          <a:xfrm rot="-5400000" flipH="1">
            <a:off x="4576905" y="2995701"/>
            <a:ext cx="522419" cy="1116424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" name="Google Shape;494;p8"/>
          <p:cNvSpPr/>
          <p:nvPr/>
        </p:nvSpPr>
        <p:spPr>
          <a:xfrm rot="-5400000" flipH="1">
            <a:off x="4576906" y="3564159"/>
            <a:ext cx="522419" cy="1116424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5" name="Google Shape;495;p8"/>
          <p:cNvSpPr/>
          <p:nvPr/>
        </p:nvSpPr>
        <p:spPr>
          <a:xfrm rot="-5400000" flipH="1">
            <a:off x="4576905" y="4132617"/>
            <a:ext cx="522419" cy="1116424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6" name="Google Shape;496;p8"/>
          <p:cNvSpPr/>
          <p:nvPr/>
        </p:nvSpPr>
        <p:spPr>
          <a:xfrm rot="-5400000" flipH="1">
            <a:off x="4576906" y="4701075"/>
            <a:ext cx="522419" cy="1116424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7" name="Google Shape;497;p8"/>
          <p:cNvSpPr/>
          <p:nvPr/>
        </p:nvSpPr>
        <p:spPr>
          <a:xfrm rot="-5400000" flipH="1">
            <a:off x="4576907" y="5269534"/>
            <a:ext cx="522419" cy="1116424"/>
          </a:xfrm>
          <a:prstGeom prst="round2SameRect">
            <a:avLst>
              <a:gd name="adj1" fmla="val 15971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98" name="Google Shape;498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3079" y="3401536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0992" y="3975298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3019" y="3975298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0992" y="454906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3019" y="454906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0992" y="5122822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3019" y="5122822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5046" y="5122822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7073" y="5122822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5046" y="454906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7073" y="454906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5046" y="2840357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7073" y="2840357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3619" y="2840357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5646" y="2840357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3619" y="3401536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5646" y="3401536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3619" y="3975565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5646" y="3975565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3619" y="225014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5646" y="225014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3019" y="5682068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70045" y="5682068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67071" y="5682068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63619" y="5124212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3019" y="3397061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0338" y="2819902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3019" y="225014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5584" y="225014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5584" y="3409998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5584" y="3975298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8" descr="Checkmar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5584" y="4540598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3079" y="5696584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1532" y="5696584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9831" y="5696584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83681" y="225014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1532" y="225014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1532" y="3987881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5646" y="4530672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6676" y="5105898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66676" y="2815440"/>
            <a:ext cx="291356" cy="29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8" descr="Clos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17073" y="3409998"/>
            <a:ext cx="291356" cy="29135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8"/>
          <p:cNvSpPr txBox="1"/>
          <p:nvPr/>
        </p:nvSpPr>
        <p:spPr>
          <a:xfrm>
            <a:off x="5423742" y="1668720"/>
            <a:ext cx="782648" cy="415498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Shared Values</a:t>
            </a:r>
            <a:endParaRPr/>
          </a:p>
        </p:txBody>
      </p:sp>
      <p:sp>
        <p:nvSpPr>
          <p:cNvPr id="541" name="Google Shape;541;p8"/>
          <p:cNvSpPr txBox="1"/>
          <p:nvPr/>
        </p:nvSpPr>
        <p:spPr>
          <a:xfrm>
            <a:off x="6235306" y="1749511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Approach</a:t>
            </a:r>
            <a:endParaRPr/>
          </a:p>
        </p:txBody>
      </p:sp>
      <p:sp>
        <p:nvSpPr>
          <p:cNvPr id="542" name="Google Shape;542;p8"/>
          <p:cNvSpPr txBox="1"/>
          <p:nvPr/>
        </p:nvSpPr>
        <p:spPr>
          <a:xfrm>
            <a:off x="7033819" y="1749511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Structure</a:t>
            </a:r>
            <a:endParaRPr/>
          </a:p>
        </p:txBody>
      </p:sp>
      <p:sp>
        <p:nvSpPr>
          <p:cNvPr id="543" name="Google Shape;543;p8"/>
          <p:cNvSpPr txBox="1"/>
          <p:nvPr/>
        </p:nvSpPr>
        <p:spPr>
          <a:xfrm>
            <a:off x="7844627" y="1749511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Schemes</a:t>
            </a:r>
            <a:endParaRPr/>
          </a:p>
        </p:txBody>
      </p:sp>
      <p:sp>
        <p:nvSpPr>
          <p:cNvPr id="544" name="Google Shape;544;p8"/>
          <p:cNvSpPr txBox="1"/>
          <p:nvPr/>
        </p:nvSpPr>
        <p:spPr>
          <a:xfrm>
            <a:off x="8641912" y="1749511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Style</a:t>
            </a:r>
            <a:endParaRPr/>
          </a:p>
        </p:txBody>
      </p:sp>
      <p:sp>
        <p:nvSpPr>
          <p:cNvPr id="545" name="Google Shape;545;p8"/>
          <p:cNvSpPr txBox="1"/>
          <p:nvPr/>
        </p:nvSpPr>
        <p:spPr>
          <a:xfrm>
            <a:off x="9440000" y="1749511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Staff</a:t>
            </a:r>
            <a:endParaRPr/>
          </a:p>
        </p:txBody>
      </p:sp>
      <p:sp>
        <p:nvSpPr>
          <p:cNvPr id="546" name="Google Shape;546;p8"/>
          <p:cNvSpPr txBox="1"/>
          <p:nvPr/>
        </p:nvSpPr>
        <p:spPr>
          <a:xfrm>
            <a:off x="10233360" y="1749511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Ability</a:t>
            </a:r>
            <a:endParaRPr/>
          </a:p>
        </p:txBody>
      </p:sp>
      <p:sp>
        <p:nvSpPr>
          <p:cNvPr id="547" name="Google Shape;547;p8"/>
          <p:cNvSpPr txBox="1"/>
          <p:nvPr/>
        </p:nvSpPr>
        <p:spPr>
          <a:xfrm>
            <a:off x="4446789" y="2209239"/>
            <a:ext cx="78264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Shared Values</a:t>
            </a:r>
            <a:endParaRPr/>
          </a:p>
        </p:txBody>
      </p:sp>
      <p:sp>
        <p:nvSpPr>
          <p:cNvPr id="548" name="Google Shape;548;p8"/>
          <p:cNvSpPr txBox="1"/>
          <p:nvPr/>
        </p:nvSpPr>
        <p:spPr>
          <a:xfrm>
            <a:off x="4446789" y="2854713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Approach</a:t>
            </a:r>
            <a:endParaRPr/>
          </a:p>
        </p:txBody>
      </p:sp>
      <p:sp>
        <p:nvSpPr>
          <p:cNvPr id="549" name="Google Shape;549;p8"/>
          <p:cNvSpPr txBox="1"/>
          <p:nvPr/>
        </p:nvSpPr>
        <p:spPr>
          <a:xfrm>
            <a:off x="4446789" y="3434501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Structure</a:t>
            </a:r>
            <a:endParaRPr/>
          </a:p>
        </p:txBody>
      </p:sp>
      <p:sp>
        <p:nvSpPr>
          <p:cNvPr id="550" name="Google Shape;550;p8"/>
          <p:cNvSpPr txBox="1"/>
          <p:nvPr/>
        </p:nvSpPr>
        <p:spPr>
          <a:xfrm>
            <a:off x="4446789" y="3994018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Schemes</a:t>
            </a:r>
            <a:endParaRPr/>
          </a:p>
        </p:txBody>
      </p:sp>
      <p:sp>
        <p:nvSpPr>
          <p:cNvPr id="551" name="Google Shape;551;p8"/>
          <p:cNvSpPr txBox="1"/>
          <p:nvPr/>
        </p:nvSpPr>
        <p:spPr>
          <a:xfrm>
            <a:off x="4446789" y="4559318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Style</a:t>
            </a:r>
            <a:endParaRPr/>
          </a:p>
        </p:txBody>
      </p:sp>
      <p:sp>
        <p:nvSpPr>
          <p:cNvPr id="552" name="Google Shape;552;p8"/>
          <p:cNvSpPr txBox="1"/>
          <p:nvPr/>
        </p:nvSpPr>
        <p:spPr>
          <a:xfrm>
            <a:off x="4446789" y="5143338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Staff</a:t>
            </a:r>
            <a:endParaRPr/>
          </a:p>
        </p:txBody>
      </p:sp>
      <p:sp>
        <p:nvSpPr>
          <p:cNvPr id="553" name="Google Shape;553;p8"/>
          <p:cNvSpPr txBox="1"/>
          <p:nvPr/>
        </p:nvSpPr>
        <p:spPr>
          <a:xfrm>
            <a:off x="4446789" y="5707138"/>
            <a:ext cx="78264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Ability</a:t>
            </a:r>
            <a:endParaRPr/>
          </a:p>
        </p:txBody>
      </p:sp>
      <p:sp>
        <p:nvSpPr>
          <p:cNvPr id="554" name="Google Shape;554;p8"/>
          <p:cNvSpPr txBox="1"/>
          <p:nvPr/>
        </p:nvSpPr>
        <p:spPr>
          <a:xfrm>
            <a:off x="513532" y="2084218"/>
            <a:ext cx="2523493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Key Observations</a:t>
            </a:r>
            <a:endParaRPr sz="20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5" name="Google Shape;555;p8"/>
          <p:cNvSpPr/>
          <p:nvPr/>
        </p:nvSpPr>
        <p:spPr>
          <a:xfrm rot="5400000" flipH="1">
            <a:off x="1763326" y="1681870"/>
            <a:ext cx="872533" cy="3038076"/>
          </a:xfrm>
          <a:prstGeom prst="round2SameRect">
            <a:avLst>
              <a:gd name="adj1" fmla="val 15971"/>
              <a:gd name="adj2" fmla="val 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6" name="Google Shape;556;p8"/>
          <p:cNvSpPr/>
          <p:nvPr/>
        </p:nvSpPr>
        <p:spPr>
          <a:xfrm rot="5400000" flipH="1">
            <a:off x="1883528" y="2518723"/>
            <a:ext cx="632127" cy="3038076"/>
          </a:xfrm>
          <a:prstGeom prst="round2SameRect">
            <a:avLst>
              <a:gd name="adj1" fmla="val 15971"/>
              <a:gd name="adj2" fmla="val 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7" name="Google Shape;557;p8"/>
          <p:cNvSpPr/>
          <p:nvPr/>
        </p:nvSpPr>
        <p:spPr>
          <a:xfrm rot="5400000" flipH="1">
            <a:off x="1883528" y="3256235"/>
            <a:ext cx="632127" cy="3038076"/>
          </a:xfrm>
          <a:prstGeom prst="round2SameRect">
            <a:avLst>
              <a:gd name="adj1" fmla="val 15971"/>
              <a:gd name="adj2" fmla="val 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8" name="Google Shape;558;p8"/>
          <p:cNvSpPr/>
          <p:nvPr/>
        </p:nvSpPr>
        <p:spPr>
          <a:xfrm rot="5400000" flipH="1">
            <a:off x="1883528" y="3993747"/>
            <a:ext cx="632127" cy="3038076"/>
          </a:xfrm>
          <a:prstGeom prst="round2SameRect">
            <a:avLst>
              <a:gd name="adj1" fmla="val 15971"/>
              <a:gd name="adj2" fmla="val 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59" name="Google Shape;559;p8"/>
          <p:cNvSpPr txBox="1"/>
          <p:nvPr/>
        </p:nvSpPr>
        <p:spPr>
          <a:xfrm>
            <a:off x="928738" y="2832665"/>
            <a:ext cx="2789378" cy="68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Embedding principles like transparency, fairness, and accountability into AI development and deployment.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0" name="Google Shape;560;p8"/>
          <p:cNvSpPr txBox="1"/>
          <p:nvPr/>
        </p:nvSpPr>
        <p:spPr>
          <a:xfrm>
            <a:off x="928738" y="3674985"/>
            <a:ext cx="2789378" cy="68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Integrating AI into key business processes to drive efficiency, growth, and competitive advantage.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1" name="Google Shape;561;p8"/>
          <p:cNvSpPr txBox="1"/>
          <p:nvPr/>
        </p:nvSpPr>
        <p:spPr>
          <a:xfrm>
            <a:off x="928738" y="4372585"/>
            <a:ext cx="2789378" cy="68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Creating cross-functional teams and roles dedicated to AI implementation and governance.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2" name="Google Shape;562;p8"/>
          <p:cNvSpPr txBox="1"/>
          <p:nvPr/>
        </p:nvSpPr>
        <p:spPr>
          <a:xfrm>
            <a:off x="928738" y="5166934"/>
            <a:ext cx="2789378" cy="681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Investing in data management systems, computing resources, and AI platforms to enable seamless integration.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63" name="Google Shape;563;p8"/>
          <p:cNvGrpSpPr/>
          <p:nvPr/>
        </p:nvGrpSpPr>
        <p:grpSpPr>
          <a:xfrm>
            <a:off x="423682" y="2997207"/>
            <a:ext cx="375558" cy="375558"/>
            <a:chOff x="423682" y="2997207"/>
            <a:chExt cx="375558" cy="375558"/>
          </a:xfrm>
        </p:grpSpPr>
        <p:sp>
          <p:nvSpPr>
            <p:cNvPr id="564" name="Google Shape;564;p8"/>
            <p:cNvSpPr/>
            <p:nvPr/>
          </p:nvSpPr>
          <p:spPr>
            <a:xfrm>
              <a:off x="423682" y="2997207"/>
              <a:ext cx="375558" cy="375558"/>
            </a:xfrm>
            <a:prstGeom prst="ellipse">
              <a:avLst/>
            </a:prstGeom>
            <a:gradFill>
              <a:gsLst>
                <a:gs pos="0">
                  <a:srgbClr val="9D9AFA"/>
                </a:gs>
                <a:gs pos="100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65" name="Google Shape;565;p8"/>
            <p:cNvSpPr/>
            <p:nvPr/>
          </p:nvSpPr>
          <p:spPr>
            <a:xfrm>
              <a:off x="518770" y="3092295"/>
              <a:ext cx="185382" cy="185382"/>
            </a:xfrm>
            <a:prstGeom prst="chevron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66" name="Google Shape;566;p8"/>
          <p:cNvSpPr/>
          <p:nvPr/>
        </p:nvSpPr>
        <p:spPr>
          <a:xfrm>
            <a:off x="423682" y="3831745"/>
            <a:ext cx="375558" cy="375558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7" name="Google Shape;567;p8"/>
          <p:cNvSpPr/>
          <p:nvPr/>
        </p:nvSpPr>
        <p:spPr>
          <a:xfrm>
            <a:off x="518770" y="3926833"/>
            <a:ext cx="185382" cy="185382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8" name="Google Shape;568;p8"/>
          <p:cNvSpPr/>
          <p:nvPr/>
        </p:nvSpPr>
        <p:spPr>
          <a:xfrm>
            <a:off x="423682" y="4575178"/>
            <a:ext cx="375558" cy="375558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9" name="Google Shape;569;p8"/>
          <p:cNvSpPr/>
          <p:nvPr/>
        </p:nvSpPr>
        <p:spPr>
          <a:xfrm>
            <a:off x="518770" y="4670266"/>
            <a:ext cx="185382" cy="185382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0" name="Google Shape;570;p8"/>
          <p:cNvSpPr/>
          <p:nvPr/>
        </p:nvSpPr>
        <p:spPr>
          <a:xfrm>
            <a:off x="423682" y="5302101"/>
            <a:ext cx="375558" cy="375558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1" name="Google Shape;571;p8"/>
          <p:cNvSpPr/>
          <p:nvPr/>
        </p:nvSpPr>
        <p:spPr>
          <a:xfrm>
            <a:off x="518770" y="5397189"/>
            <a:ext cx="185382" cy="185382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2" name="Google Shape;572;p8"/>
          <p:cNvSpPr txBox="1"/>
          <p:nvPr/>
        </p:nvSpPr>
        <p:spPr>
          <a:xfrm>
            <a:off x="506747" y="601983"/>
            <a:ext cx="30573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573" name="Google Shape;573;p8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"/>
          <p:cNvSpPr/>
          <p:nvPr/>
        </p:nvSpPr>
        <p:spPr>
          <a:xfrm rot="10800000" flipH="1">
            <a:off x="652946" y="1926474"/>
            <a:ext cx="10539254" cy="4208131"/>
          </a:xfrm>
          <a:prstGeom prst="round2SameRect">
            <a:avLst>
              <a:gd name="adj1" fmla="val 4371"/>
              <a:gd name="adj2" fmla="val 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579" name="Google Shape;579;p9"/>
          <p:cNvCxnSpPr/>
          <p:nvPr/>
        </p:nvCxnSpPr>
        <p:spPr>
          <a:xfrm>
            <a:off x="4630079" y="1259935"/>
            <a:ext cx="0" cy="3914082"/>
          </a:xfrm>
          <a:prstGeom prst="straightConnector1">
            <a:avLst/>
          </a:prstGeom>
          <a:noFill/>
          <a:ln w="22225" cap="flat" cmpd="sng">
            <a:solidFill>
              <a:schemeClr val="dk1">
                <a:alpha val="2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0" name="Google Shape;580;p9"/>
          <p:cNvCxnSpPr/>
          <p:nvPr/>
        </p:nvCxnSpPr>
        <p:spPr>
          <a:xfrm>
            <a:off x="7816836" y="1259935"/>
            <a:ext cx="0" cy="2495816"/>
          </a:xfrm>
          <a:prstGeom prst="straightConnector1">
            <a:avLst/>
          </a:prstGeom>
          <a:noFill/>
          <a:ln w="22225" cap="flat" cmpd="sng">
            <a:solidFill>
              <a:schemeClr val="dk1">
                <a:alpha val="2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81" name="Google Shape;581;p9"/>
          <p:cNvSpPr/>
          <p:nvPr/>
        </p:nvSpPr>
        <p:spPr>
          <a:xfrm>
            <a:off x="3729128" y="3014037"/>
            <a:ext cx="7475901" cy="2584667"/>
          </a:xfrm>
          <a:custGeom>
            <a:avLst/>
            <a:gdLst/>
            <a:ahLst/>
            <a:cxnLst/>
            <a:rect l="l" t="t" r="r" b="b"/>
            <a:pathLst>
              <a:path w="7475901" h="2584667" extrusionOk="0">
                <a:moveTo>
                  <a:pt x="7446872" y="0"/>
                </a:moveTo>
                <a:lnTo>
                  <a:pt x="7475901" y="1944914"/>
                </a:lnTo>
                <a:lnTo>
                  <a:pt x="5676129" y="1944914"/>
                </a:lnTo>
                <a:lnTo>
                  <a:pt x="3571558" y="1973942"/>
                </a:lnTo>
                <a:cubicBezTo>
                  <a:pt x="3017596" y="1993294"/>
                  <a:pt x="2727310" y="2019904"/>
                  <a:pt x="2352358" y="2061028"/>
                </a:cubicBezTo>
                <a:cubicBezTo>
                  <a:pt x="1977406" y="2102152"/>
                  <a:pt x="1626643" y="2152952"/>
                  <a:pt x="1321843" y="2220685"/>
                </a:cubicBezTo>
                <a:cubicBezTo>
                  <a:pt x="1017043" y="2288418"/>
                  <a:pt x="743691" y="2406952"/>
                  <a:pt x="523558" y="2467428"/>
                </a:cubicBezTo>
                <a:cubicBezTo>
                  <a:pt x="523558" y="2467428"/>
                  <a:pt x="20395" y="2598056"/>
                  <a:pt x="1043" y="2583542"/>
                </a:cubicBezTo>
                <a:cubicBezTo>
                  <a:pt x="-18309" y="2569028"/>
                  <a:pt x="235691" y="2481942"/>
                  <a:pt x="407443" y="2380342"/>
                </a:cubicBezTo>
                <a:cubicBezTo>
                  <a:pt x="579195" y="2278742"/>
                  <a:pt x="1031558" y="1973942"/>
                  <a:pt x="1031558" y="1973942"/>
                </a:cubicBezTo>
                <a:lnTo>
                  <a:pt x="1655672" y="1567542"/>
                </a:lnTo>
                <a:cubicBezTo>
                  <a:pt x="1839519" y="1446590"/>
                  <a:pt x="1943538" y="1357085"/>
                  <a:pt x="2134643" y="1248228"/>
                </a:cubicBezTo>
                <a:cubicBezTo>
                  <a:pt x="2325748" y="1139371"/>
                  <a:pt x="2509596" y="1025676"/>
                  <a:pt x="2802301" y="914400"/>
                </a:cubicBezTo>
                <a:cubicBezTo>
                  <a:pt x="3095006" y="803124"/>
                  <a:pt x="3494148" y="687009"/>
                  <a:pt x="3890872" y="580571"/>
                </a:cubicBezTo>
                <a:cubicBezTo>
                  <a:pt x="4287596" y="474133"/>
                  <a:pt x="4839138" y="348343"/>
                  <a:pt x="5182643" y="275771"/>
                </a:cubicBezTo>
                <a:cubicBezTo>
                  <a:pt x="5526148" y="203200"/>
                  <a:pt x="5695482" y="181428"/>
                  <a:pt x="5951901" y="145142"/>
                </a:cubicBezTo>
                <a:cubicBezTo>
                  <a:pt x="6208320" y="108856"/>
                  <a:pt x="6469577" y="82247"/>
                  <a:pt x="6721158" y="58057"/>
                </a:cubicBezTo>
                <a:cubicBezTo>
                  <a:pt x="6972739" y="33867"/>
                  <a:pt x="7217062" y="16933"/>
                  <a:pt x="7446872" y="0"/>
                </a:cubicBezTo>
                <a:close/>
              </a:path>
            </a:pathLst>
          </a:custGeom>
          <a:solidFill>
            <a:srgbClr val="F1E2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2" name="Google Shape;582;p9"/>
          <p:cNvSpPr/>
          <p:nvPr/>
        </p:nvSpPr>
        <p:spPr>
          <a:xfrm flipH="1">
            <a:off x="652946" y="1259935"/>
            <a:ext cx="10539254" cy="375242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3" name="Google Shape;583;p9"/>
          <p:cNvSpPr/>
          <p:nvPr/>
        </p:nvSpPr>
        <p:spPr>
          <a:xfrm>
            <a:off x="8849649" y="3576760"/>
            <a:ext cx="1027262" cy="10524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4" name="Google Shape;584;p9"/>
          <p:cNvSpPr txBox="1"/>
          <p:nvPr/>
        </p:nvSpPr>
        <p:spPr>
          <a:xfrm>
            <a:off x="773484" y="1301907"/>
            <a:ext cx="1073423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Observers</a:t>
            </a:r>
            <a:endParaRPr dirty="0"/>
          </a:p>
        </p:txBody>
      </p:sp>
      <p:sp>
        <p:nvSpPr>
          <p:cNvPr id="585" name="Google Shape;585;p9"/>
          <p:cNvSpPr txBox="1"/>
          <p:nvPr/>
        </p:nvSpPr>
        <p:spPr>
          <a:xfrm>
            <a:off x="3829738" y="1301907"/>
            <a:ext cx="1073423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50-60%</a:t>
            </a:r>
            <a:endParaRPr/>
          </a:p>
        </p:txBody>
      </p:sp>
      <p:sp>
        <p:nvSpPr>
          <p:cNvPr id="586" name="Google Shape;586;p9"/>
          <p:cNvSpPr txBox="1"/>
          <p:nvPr/>
        </p:nvSpPr>
        <p:spPr>
          <a:xfrm>
            <a:off x="4808388" y="1301907"/>
            <a:ext cx="1458319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Front-Runners</a:t>
            </a:r>
            <a:endParaRPr/>
          </a:p>
        </p:txBody>
      </p:sp>
      <p:sp>
        <p:nvSpPr>
          <p:cNvPr id="587" name="Google Shape;587;p9"/>
          <p:cNvSpPr txBox="1"/>
          <p:nvPr/>
        </p:nvSpPr>
        <p:spPr>
          <a:xfrm>
            <a:off x="7016174" y="1301907"/>
            <a:ext cx="1073423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30-40%</a:t>
            </a:r>
            <a:endParaRPr/>
          </a:p>
        </p:txBody>
      </p:sp>
      <p:sp>
        <p:nvSpPr>
          <p:cNvPr id="588" name="Google Shape;588;p9"/>
          <p:cNvSpPr txBox="1"/>
          <p:nvPr/>
        </p:nvSpPr>
        <p:spPr>
          <a:xfrm>
            <a:off x="7908379" y="1301907"/>
            <a:ext cx="1073423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Innovators</a:t>
            </a:r>
            <a:endParaRPr/>
          </a:p>
        </p:txBody>
      </p:sp>
      <p:sp>
        <p:nvSpPr>
          <p:cNvPr id="589" name="Google Shape;589;p9"/>
          <p:cNvSpPr txBox="1"/>
          <p:nvPr/>
        </p:nvSpPr>
        <p:spPr>
          <a:xfrm>
            <a:off x="10447344" y="1301907"/>
            <a:ext cx="744856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&lt;10%</a:t>
            </a:r>
            <a:endParaRPr/>
          </a:p>
        </p:txBody>
      </p:sp>
      <p:sp>
        <p:nvSpPr>
          <p:cNvPr id="590" name="Google Shape;590;p9"/>
          <p:cNvSpPr txBox="1"/>
          <p:nvPr/>
        </p:nvSpPr>
        <p:spPr>
          <a:xfrm>
            <a:off x="773484" y="2061921"/>
            <a:ext cx="3116636" cy="65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Conventional cloud transformation, at-scale migration of apps, followed by modernization and native app development.</a:t>
            </a:r>
            <a:endParaRPr sz="105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1" name="Google Shape;591;p9"/>
          <p:cNvSpPr/>
          <p:nvPr/>
        </p:nvSpPr>
        <p:spPr>
          <a:xfrm>
            <a:off x="377045" y="1638805"/>
            <a:ext cx="11091055" cy="291298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2" name="Google Shape;592;p9"/>
          <p:cNvSpPr txBox="1"/>
          <p:nvPr/>
        </p:nvSpPr>
        <p:spPr>
          <a:xfrm>
            <a:off x="9857843" y="1639364"/>
            <a:ext cx="1458319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JOURNEY</a:t>
            </a:r>
            <a:endParaRPr/>
          </a:p>
        </p:txBody>
      </p:sp>
      <p:sp>
        <p:nvSpPr>
          <p:cNvPr id="593" name="Google Shape;593;p9"/>
          <p:cNvSpPr txBox="1"/>
          <p:nvPr/>
        </p:nvSpPr>
        <p:spPr>
          <a:xfrm>
            <a:off x="4845503" y="2061921"/>
            <a:ext cx="1958292" cy="65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AI innovation on the cloud over a “Data on Cloud” foundation.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4" name="Google Shape;594;p9"/>
          <p:cNvSpPr txBox="1"/>
          <p:nvPr/>
        </p:nvSpPr>
        <p:spPr>
          <a:xfrm>
            <a:off x="8030651" y="2061921"/>
            <a:ext cx="2416694" cy="654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Long-term, end-to-end AI transformation unlocked by building a modern AI tech stack.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5" name="Google Shape;595;p9"/>
          <p:cNvSpPr/>
          <p:nvPr/>
        </p:nvSpPr>
        <p:spPr>
          <a:xfrm>
            <a:off x="2971800" y="4978908"/>
            <a:ext cx="8229600" cy="800100"/>
          </a:xfrm>
          <a:custGeom>
            <a:avLst/>
            <a:gdLst/>
            <a:ahLst/>
            <a:cxnLst/>
            <a:rect l="l" t="t" r="r" b="b"/>
            <a:pathLst>
              <a:path w="8229600" h="800100" extrusionOk="0">
                <a:moveTo>
                  <a:pt x="0" y="800100"/>
                </a:moveTo>
                <a:cubicBezTo>
                  <a:pt x="187325" y="763587"/>
                  <a:pt x="374650" y="727075"/>
                  <a:pt x="781050" y="628650"/>
                </a:cubicBezTo>
                <a:cubicBezTo>
                  <a:pt x="1187450" y="530225"/>
                  <a:pt x="1873250" y="307975"/>
                  <a:pt x="2438400" y="209550"/>
                </a:cubicBezTo>
                <a:cubicBezTo>
                  <a:pt x="3003550" y="111125"/>
                  <a:pt x="3206750" y="73025"/>
                  <a:pt x="4171950" y="38100"/>
                </a:cubicBezTo>
                <a:cubicBezTo>
                  <a:pt x="5137150" y="3175"/>
                  <a:pt x="6683375" y="1587"/>
                  <a:pt x="8229600" y="0"/>
                </a:cubicBezTo>
              </a:path>
            </a:pathLst>
          </a:custGeom>
          <a:noFill/>
          <a:ln w="63500" cap="rnd" cmpd="sng">
            <a:solidFill>
              <a:srgbClr val="C38CE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6" name="Google Shape;596;p9"/>
          <p:cNvSpPr/>
          <p:nvPr/>
        </p:nvSpPr>
        <p:spPr>
          <a:xfrm>
            <a:off x="1028700" y="3035807"/>
            <a:ext cx="10153650" cy="2879856"/>
          </a:xfrm>
          <a:custGeom>
            <a:avLst/>
            <a:gdLst/>
            <a:ahLst/>
            <a:cxnLst/>
            <a:rect l="l" t="t" r="r" b="b"/>
            <a:pathLst>
              <a:path w="10153650" h="2879856" extrusionOk="0">
                <a:moveTo>
                  <a:pt x="0" y="2819400"/>
                </a:moveTo>
                <a:cubicBezTo>
                  <a:pt x="866775" y="2952750"/>
                  <a:pt x="1701800" y="2860675"/>
                  <a:pt x="2590800" y="2590800"/>
                </a:cubicBezTo>
                <a:cubicBezTo>
                  <a:pt x="3479800" y="2320925"/>
                  <a:pt x="4330700" y="1384300"/>
                  <a:pt x="5334000" y="971550"/>
                </a:cubicBezTo>
                <a:cubicBezTo>
                  <a:pt x="6337300" y="558800"/>
                  <a:pt x="7534275" y="314325"/>
                  <a:pt x="8610600" y="114300"/>
                </a:cubicBezTo>
                <a:cubicBezTo>
                  <a:pt x="9124950" y="76200"/>
                  <a:pt x="9486900" y="19050"/>
                  <a:pt x="10153650" y="0"/>
                </a:cubicBezTo>
              </a:path>
            </a:pathLst>
          </a:custGeom>
          <a:noFill/>
          <a:ln w="63500" cap="rnd" cmpd="sng">
            <a:solidFill>
              <a:srgbClr val="9D9AF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7" name="Google Shape;597;p9"/>
          <p:cNvSpPr/>
          <p:nvPr/>
        </p:nvSpPr>
        <p:spPr>
          <a:xfrm>
            <a:off x="10302137" y="2979543"/>
            <a:ext cx="257796" cy="257796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8" name="Google Shape;598;p9"/>
          <p:cNvSpPr/>
          <p:nvPr/>
        </p:nvSpPr>
        <p:spPr>
          <a:xfrm>
            <a:off x="9513570" y="3035248"/>
            <a:ext cx="257796" cy="257796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9" name="Google Shape;599;p9"/>
          <p:cNvSpPr/>
          <p:nvPr/>
        </p:nvSpPr>
        <p:spPr>
          <a:xfrm>
            <a:off x="8852904" y="3135510"/>
            <a:ext cx="257796" cy="257796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0" name="Google Shape;600;p9"/>
          <p:cNvSpPr/>
          <p:nvPr/>
        </p:nvSpPr>
        <p:spPr>
          <a:xfrm>
            <a:off x="8203431" y="3293044"/>
            <a:ext cx="257796" cy="257796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1" name="Google Shape;601;p9"/>
          <p:cNvSpPr/>
          <p:nvPr/>
        </p:nvSpPr>
        <p:spPr>
          <a:xfrm>
            <a:off x="7421090" y="3497955"/>
            <a:ext cx="257796" cy="257796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2" name="Google Shape;602;p9"/>
          <p:cNvSpPr/>
          <p:nvPr/>
        </p:nvSpPr>
        <p:spPr>
          <a:xfrm>
            <a:off x="6655078" y="3721430"/>
            <a:ext cx="257796" cy="257796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3" name="Google Shape;603;p9"/>
          <p:cNvSpPr/>
          <p:nvPr/>
        </p:nvSpPr>
        <p:spPr>
          <a:xfrm>
            <a:off x="5973700" y="3979226"/>
            <a:ext cx="257796" cy="257796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4" name="Google Shape;604;p9"/>
          <p:cNvSpPr/>
          <p:nvPr/>
        </p:nvSpPr>
        <p:spPr>
          <a:xfrm>
            <a:off x="4998495" y="4564866"/>
            <a:ext cx="311934" cy="311934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5" name="Google Shape;605;p9"/>
          <p:cNvSpPr/>
          <p:nvPr/>
        </p:nvSpPr>
        <p:spPr>
          <a:xfrm>
            <a:off x="5060682" y="4609953"/>
            <a:ext cx="197012" cy="197012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6" name="Google Shape;606;p9"/>
          <p:cNvSpPr/>
          <p:nvPr/>
        </p:nvSpPr>
        <p:spPr>
          <a:xfrm>
            <a:off x="8585248" y="4876800"/>
            <a:ext cx="257796" cy="257796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7" name="Google Shape;607;p9"/>
          <p:cNvSpPr/>
          <p:nvPr/>
        </p:nvSpPr>
        <p:spPr>
          <a:xfrm>
            <a:off x="6421699" y="4916221"/>
            <a:ext cx="257796" cy="257796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8" name="Google Shape;608;p9"/>
          <p:cNvSpPr/>
          <p:nvPr/>
        </p:nvSpPr>
        <p:spPr>
          <a:xfrm>
            <a:off x="4741074" y="5196469"/>
            <a:ext cx="257796" cy="257796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9" name="Google Shape;609;p9"/>
          <p:cNvSpPr/>
          <p:nvPr/>
        </p:nvSpPr>
        <p:spPr>
          <a:xfrm>
            <a:off x="4144086" y="5325367"/>
            <a:ext cx="257796" cy="257796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0" name="Google Shape;610;p9"/>
          <p:cNvSpPr/>
          <p:nvPr/>
        </p:nvSpPr>
        <p:spPr>
          <a:xfrm>
            <a:off x="3184901" y="5585233"/>
            <a:ext cx="257796" cy="257796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1" name="Google Shape;611;p9"/>
          <p:cNvSpPr/>
          <p:nvPr/>
        </p:nvSpPr>
        <p:spPr>
          <a:xfrm>
            <a:off x="2263333" y="5708667"/>
            <a:ext cx="257796" cy="257796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2" name="Google Shape;612;p9"/>
          <p:cNvSpPr/>
          <p:nvPr/>
        </p:nvSpPr>
        <p:spPr>
          <a:xfrm>
            <a:off x="956573" y="5703755"/>
            <a:ext cx="257796" cy="257796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3" name="Google Shape;613;p9"/>
          <p:cNvSpPr txBox="1"/>
          <p:nvPr/>
        </p:nvSpPr>
        <p:spPr>
          <a:xfrm>
            <a:off x="4585746" y="3902981"/>
            <a:ext cx="129446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OUR CURRENT POSITION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614" name="Google Shape;614;p9"/>
          <p:cNvSpPr txBox="1"/>
          <p:nvPr/>
        </p:nvSpPr>
        <p:spPr>
          <a:xfrm rot="-5400000">
            <a:off x="266709" y="4588826"/>
            <a:ext cx="1466181" cy="26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Value Realization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15" name="Google Shape;615;p9"/>
          <p:cNvCxnSpPr/>
          <p:nvPr/>
        </p:nvCxnSpPr>
        <p:spPr>
          <a:xfrm rot="10800000">
            <a:off x="999672" y="2896082"/>
            <a:ext cx="0" cy="116695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16" name="Google Shape;616;p9"/>
          <p:cNvSpPr/>
          <p:nvPr/>
        </p:nvSpPr>
        <p:spPr>
          <a:xfrm>
            <a:off x="1375299" y="3568372"/>
            <a:ext cx="257796" cy="257796"/>
          </a:xfrm>
          <a:prstGeom prst="ellipse">
            <a:avLst/>
          </a:prstGeom>
          <a:solidFill>
            <a:srgbClr val="AB52EF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9"/>
          <p:cNvSpPr/>
          <p:nvPr/>
        </p:nvSpPr>
        <p:spPr>
          <a:xfrm>
            <a:off x="1388317" y="3929689"/>
            <a:ext cx="257796" cy="257796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8" name="Google Shape;618;p9"/>
          <p:cNvSpPr txBox="1"/>
          <p:nvPr/>
        </p:nvSpPr>
        <p:spPr>
          <a:xfrm>
            <a:off x="1687705" y="3564060"/>
            <a:ext cx="2246250" cy="26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Conventional trajectory</a:t>
            </a:r>
            <a:endParaRPr sz="105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619" name="Google Shape;619;p9"/>
          <p:cNvSpPr txBox="1"/>
          <p:nvPr/>
        </p:nvSpPr>
        <p:spPr>
          <a:xfrm>
            <a:off x="1687704" y="3909186"/>
            <a:ext cx="2202415" cy="26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AI-empowered trajectory</a:t>
            </a:r>
            <a:endParaRPr/>
          </a:p>
        </p:txBody>
      </p:sp>
      <p:sp>
        <p:nvSpPr>
          <p:cNvPr id="620" name="Google Shape;620;p9"/>
          <p:cNvSpPr txBox="1"/>
          <p:nvPr/>
        </p:nvSpPr>
        <p:spPr>
          <a:xfrm>
            <a:off x="8849649" y="3704762"/>
            <a:ext cx="100819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2-3X</a:t>
            </a:r>
            <a:endParaRPr sz="16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621" name="Google Shape;621;p9"/>
          <p:cNvSpPr txBox="1"/>
          <p:nvPr/>
        </p:nvSpPr>
        <p:spPr>
          <a:xfrm>
            <a:off x="8827614" y="4118638"/>
            <a:ext cx="1049298" cy="28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ROI</a:t>
            </a:r>
            <a:endParaRPr sz="1050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2" name="Google Shape;622;p9"/>
          <p:cNvSpPr txBox="1"/>
          <p:nvPr/>
        </p:nvSpPr>
        <p:spPr>
          <a:xfrm>
            <a:off x="7549988" y="5340740"/>
            <a:ext cx="3486588" cy="26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Circles 1-14 plot industry competitor momentum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3" name="Google Shape;623;p9"/>
          <p:cNvSpPr txBox="1"/>
          <p:nvPr/>
        </p:nvSpPr>
        <p:spPr>
          <a:xfrm>
            <a:off x="5899116" y="5534175"/>
            <a:ext cx="5137460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AI Strategy Value Trajectory</a:t>
            </a:r>
            <a:endParaRPr sz="2000" dirty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4" name="Google Shape;624;p9"/>
          <p:cNvSpPr txBox="1"/>
          <p:nvPr/>
        </p:nvSpPr>
        <p:spPr>
          <a:xfrm>
            <a:off x="506747" y="601983"/>
            <a:ext cx="30573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 dirty="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 dirty="0"/>
          </a:p>
        </p:txBody>
      </p:sp>
      <p:cxnSp>
        <p:nvCxnSpPr>
          <p:cNvPr id="625" name="Google Shape;625;p9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6" name="Google Shape;626;p9"/>
          <p:cNvCxnSpPr/>
          <p:nvPr/>
        </p:nvCxnSpPr>
        <p:spPr>
          <a:xfrm>
            <a:off x="5154462" y="4311489"/>
            <a:ext cx="0" cy="20162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15D4A70-E97D-F702-9203-ABE20983C3C7}"/>
              </a:ext>
            </a:extLst>
          </p:cNvPr>
          <p:cNvSpPr txBox="1"/>
          <p:nvPr/>
        </p:nvSpPr>
        <p:spPr>
          <a:xfrm>
            <a:off x="7386459" y="3495891"/>
            <a:ext cx="341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01A42F-0FBA-AB44-818C-5CB294BF89A6}"/>
              </a:ext>
            </a:extLst>
          </p:cNvPr>
          <p:cNvSpPr txBox="1"/>
          <p:nvPr/>
        </p:nvSpPr>
        <p:spPr>
          <a:xfrm>
            <a:off x="8169471" y="3284890"/>
            <a:ext cx="341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BE344-B805-B343-EEB6-1AA53F7007C1}"/>
              </a:ext>
            </a:extLst>
          </p:cNvPr>
          <p:cNvSpPr txBox="1"/>
          <p:nvPr/>
        </p:nvSpPr>
        <p:spPr>
          <a:xfrm>
            <a:off x="8813614" y="3130638"/>
            <a:ext cx="341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D2864-4400-A32F-1FFC-E015B4882FE6}"/>
              </a:ext>
            </a:extLst>
          </p:cNvPr>
          <p:cNvSpPr txBox="1"/>
          <p:nvPr/>
        </p:nvSpPr>
        <p:spPr>
          <a:xfrm>
            <a:off x="9470778" y="3023977"/>
            <a:ext cx="341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EFF130-FF4B-E18B-72DC-7F967F8D1605}"/>
              </a:ext>
            </a:extLst>
          </p:cNvPr>
          <p:cNvSpPr txBox="1"/>
          <p:nvPr/>
        </p:nvSpPr>
        <p:spPr>
          <a:xfrm>
            <a:off x="10260342" y="2978984"/>
            <a:ext cx="341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0"/>
          <p:cNvSpPr txBox="1"/>
          <p:nvPr/>
        </p:nvSpPr>
        <p:spPr>
          <a:xfrm>
            <a:off x="513532" y="1091834"/>
            <a:ext cx="5137460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Impact Analysis of Key Factors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2" name="Google Shape;632;p10"/>
          <p:cNvSpPr/>
          <p:nvPr/>
        </p:nvSpPr>
        <p:spPr>
          <a:xfrm rot="-5400000" flipH="1">
            <a:off x="136922" y="2204300"/>
            <a:ext cx="1409411" cy="423962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" name="Google Shape;633;p10"/>
          <p:cNvSpPr/>
          <p:nvPr/>
        </p:nvSpPr>
        <p:spPr>
          <a:xfrm rot="-5400000" flipH="1">
            <a:off x="136922" y="3719134"/>
            <a:ext cx="1409411" cy="423962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4" name="Google Shape;634;p10"/>
          <p:cNvSpPr/>
          <p:nvPr/>
        </p:nvSpPr>
        <p:spPr>
          <a:xfrm rot="-5400000" flipH="1">
            <a:off x="136922" y="5232770"/>
            <a:ext cx="1409411" cy="423962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5" name="Google Shape;635;p10"/>
          <p:cNvSpPr/>
          <p:nvPr/>
        </p:nvSpPr>
        <p:spPr>
          <a:xfrm rot="5400000" flipH="1">
            <a:off x="5603274" y="-2838092"/>
            <a:ext cx="1409411" cy="10508746"/>
          </a:xfrm>
          <a:prstGeom prst="round2SameRect">
            <a:avLst>
              <a:gd name="adj1" fmla="val 16787"/>
              <a:gd name="adj2" fmla="val 0"/>
            </a:avLst>
          </a:prstGeom>
          <a:solidFill>
            <a:srgbClr val="D8D8D8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6" name="Google Shape;636;p10"/>
          <p:cNvCxnSpPr/>
          <p:nvPr/>
        </p:nvCxnSpPr>
        <p:spPr>
          <a:xfrm rot="10800000" flipH="1">
            <a:off x="1108471" y="2377440"/>
            <a:ext cx="10339817" cy="3884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7" name="Google Shape;637;p10"/>
          <p:cNvSpPr/>
          <p:nvPr/>
        </p:nvSpPr>
        <p:spPr>
          <a:xfrm rot="5400000" flipH="1">
            <a:off x="5603275" y="-1324455"/>
            <a:ext cx="1409411" cy="10508746"/>
          </a:xfrm>
          <a:prstGeom prst="round2SameRect">
            <a:avLst>
              <a:gd name="adj1" fmla="val 16787"/>
              <a:gd name="adj2" fmla="val 0"/>
            </a:avLst>
          </a:prstGeom>
          <a:solidFill>
            <a:srgbClr val="D8D8D8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38" name="Google Shape;638;p10"/>
          <p:cNvCxnSpPr/>
          <p:nvPr/>
        </p:nvCxnSpPr>
        <p:spPr>
          <a:xfrm rot="10800000" flipH="1">
            <a:off x="1108472" y="3891077"/>
            <a:ext cx="10339817" cy="3884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9" name="Google Shape;639;p10"/>
          <p:cNvSpPr/>
          <p:nvPr/>
        </p:nvSpPr>
        <p:spPr>
          <a:xfrm rot="5400000" flipH="1">
            <a:off x="5603276" y="189180"/>
            <a:ext cx="1409411" cy="10508746"/>
          </a:xfrm>
          <a:prstGeom prst="round2SameRect">
            <a:avLst>
              <a:gd name="adj1" fmla="val 16787"/>
              <a:gd name="adj2" fmla="val 0"/>
            </a:avLst>
          </a:prstGeom>
          <a:solidFill>
            <a:srgbClr val="D8D8D8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640" name="Google Shape;640;p10"/>
          <p:cNvCxnSpPr/>
          <p:nvPr/>
        </p:nvCxnSpPr>
        <p:spPr>
          <a:xfrm rot="10800000" flipH="1">
            <a:off x="1108473" y="5415452"/>
            <a:ext cx="10339817" cy="3884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1" name="Google Shape;641;p10"/>
          <p:cNvSpPr/>
          <p:nvPr/>
        </p:nvSpPr>
        <p:spPr>
          <a:xfrm>
            <a:off x="1249848" y="1865376"/>
            <a:ext cx="3317225" cy="42493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Rising adoption of Al and automation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2" name="Google Shape;642;p10"/>
          <p:cNvSpPr/>
          <p:nvPr/>
        </p:nvSpPr>
        <p:spPr>
          <a:xfrm>
            <a:off x="1249848" y="2570815"/>
            <a:ext cx="3317225" cy="42493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Increasing investments in cloud and edge computing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3" name="Google Shape;643;p10"/>
          <p:cNvSpPr/>
          <p:nvPr/>
        </p:nvSpPr>
        <p:spPr>
          <a:xfrm>
            <a:off x="1249848" y="3383714"/>
            <a:ext cx="3317225" cy="42493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Shortage of skilled AI and ML engineers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4" name="Google Shape;644;p10"/>
          <p:cNvSpPr/>
          <p:nvPr/>
        </p:nvSpPr>
        <p:spPr>
          <a:xfrm>
            <a:off x="1249848" y="4081559"/>
            <a:ext cx="3317225" cy="42493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 dependence on legacy synergies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5" name="Google Shape;645;p10"/>
          <p:cNvSpPr/>
          <p:nvPr/>
        </p:nvSpPr>
        <p:spPr>
          <a:xfrm>
            <a:off x="1249848" y="4871785"/>
            <a:ext cx="3317225" cy="42493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Expansion of Al-powered enterprise solutions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" name="Google Shape;646;p10"/>
          <p:cNvSpPr/>
          <p:nvPr/>
        </p:nvSpPr>
        <p:spPr>
          <a:xfrm>
            <a:off x="1249848" y="5578547"/>
            <a:ext cx="3317225" cy="42493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Integration of Blockchain and Web3 technologies</a:t>
            </a:r>
            <a:endParaRPr sz="105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7" name="Google Shape;647;p10"/>
          <p:cNvSpPr txBox="1"/>
          <p:nvPr/>
        </p:nvSpPr>
        <p:spPr>
          <a:xfrm rot="-5400000">
            <a:off x="202757" y="2278903"/>
            <a:ext cx="1264313" cy="27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DRIVERS</a:t>
            </a:r>
            <a:endParaRPr sz="10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8" name="Google Shape;648;p10"/>
          <p:cNvSpPr txBox="1"/>
          <p:nvPr/>
        </p:nvSpPr>
        <p:spPr>
          <a:xfrm rot="-5400000">
            <a:off x="202757" y="3792062"/>
            <a:ext cx="1264313" cy="27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RESTRAINTS</a:t>
            </a:r>
            <a:endParaRPr sz="10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9" name="Google Shape;649;p10"/>
          <p:cNvSpPr txBox="1"/>
          <p:nvPr/>
        </p:nvSpPr>
        <p:spPr>
          <a:xfrm rot="-5400000">
            <a:off x="202757" y="5310342"/>
            <a:ext cx="1264313" cy="266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OPPORTUNITIES</a:t>
            </a:r>
            <a:endParaRPr sz="105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0" name="Google Shape;650;p10"/>
          <p:cNvSpPr/>
          <p:nvPr/>
        </p:nvSpPr>
        <p:spPr>
          <a:xfrm>
            <a:off x="4921430" y="3449142"/>
            <a:ext cx="6286566" cy="1489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1" name="Google Shape;651;p10"/>
          <p:cNvSpPr/>
          <p:nvPr/>
        </p:nvSpPr>
        <p:spPr>
          <a:xfrm>
            <a:off x="4921430" y="4132472"/>
            <a:ext cx="6286566" cy="1489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2" name="Google Shape;652;p10"/>
          <p:cNvSpPr/>
          <p:nvPr/>
        </p:nvSpPr>
        <p:spPr>
          <a:xfrm>
            <a:off x="4921430" y="1927354"/>
            <a:ext cx="6286566" cy="1489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3" name="Google Shape;653;p10"/>
          <p:cNvSpPr/>
          <p:nvPr/>
        </p:nvSpPr>
        <p:spPr>
          <a:xfrm>
            <a:off x="4921430" y="2610684"/>
            <a:ext cx="6286566" cy="1489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4" name="Google Shape;654;p10"/>
          <p:cNvSpPr/>
          <p:nvPr/>
        </p:nvSpPr>
        <p:spPr>
          <a:xfrm>
            <a:off x="4921430" y="4921284"/>
            <a:ext cx="6286566" cy="1489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5" name="Google Shape;655;p10"/>
          <p:cNvSpPr/>
          <p:nvPr/>
        </p:nvSpPr>
        <p:spPr>
          <a:xfrm>
            <a:off x="4921430" y="5604614"/>
            <a:ext cx="6286566" cy="1489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6" name="Google Shape;656;p10"/>
          <p:cNvSpPr/>
          <p:nvPr/>
        </p:nvSpPr>
        <p:spPr>
          <a:xfrm>
            <a:off x="9736134" y="5537293"/>
            <a:ext cx="283576" cy="283576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7" name="Google Shape;657;p10"/>
          <p:cNvSpPr/>
          <p:nvPr/>
        </p:nvSpPr>
        <p:spPr>
          <a:xfrm>
            <a:off x="8064713" y="4858554"/>
            <a:ext cx="283576" cy="283576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8" name="Google Shape;658;p10"/>
          <p:cNvSpPr/>
          <p:nvPr/>
        </p:nvSpPr>
        <p:spPr>
          <a:xfrm>
            <a:off x="6096000" y="4058913"/>
            <a:ext cx="283576" cy="283576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59" name="Google Shape;659;p10"/>
          <p:cNvSpPr/>
          <p:nvPr/>
        </p:nvSpPr>
        <p:spPr>
          <a:xfrm>
            <a:off x="10537371" y="3375962"/>
            <a:ext cx="283576" cy="283576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0" name="Google Shape;660;p10"/>
          <p:cNvSpPr/>
          <p:nvPr/>
        </p:nvSpPr>
        <p:spPr>
          <a:xfrm>
            <a:off x="7213599" y="2546926"/>
            <a:ext cx="283576" cy="283576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1" name="Google Shape;661;p10"/>
          <p:cNvSpPr/>
          <p:nvPr/>
        </p:nvSpPr>
        <p:spPr>
          <a:xfrm>
            <a:off x="8577942" y="1840942"/>
            <a:ext cx="283576" cy="283576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62" name="Google Shape;662;p10"/>
          <p:cNvGrpSpPr/>
          <p:nvPr/>
        </p:nvGrpSpPr>
        <p:grpSpPr>
          <a:xfrm>
            <a:off x="4921430" y="2109467"/>
            <a:ext cx="6286566" cy="274755"/>
            <a:chOff x="4921430" y="2109467"/>
            <a:chExt cx="6286566" cy="274755"/>
          </a:xfrm>
        </p:grpSpPr>
        <p:sp>
          <p:nvSpPr>
            <p:cNvPr id="663" name="Google Shape;663;p10"/>
            <p:cNvSpPr txBox="1"/>
            <p:nvPr/>
          </p:nvSpPr>
          <p:spPr>
            <a:xfrm>
              <a:off x="4921430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Low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64" name="Google Shape;664;p10"/>
            <p:cNvSpPr txBox="1"/>
            <p:nvPr/>
          </p:nvSpPr>
          <p:spPr>
            <a:xfrm>
              <a:off x="7718661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Medium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65" name="Google Shape;665;p10"/>
            <p:cNvSpPr txBox="1"/>
            <p:nvPr/>
          </p:nvSpPr>
          <p:spPr>
            <a:xfrm>
              <a:off x="10433808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High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66" name="Google Shape;666;p10"/>
          <p:cNvGrpSpPr/>
          <p:nvPr/>
        </p:nvGrpSpPr>
        <p:grpSpPr>
          <a:xfrm>
            <a:off x="4921430" y="2834687"/>
            <a:ext cx="6286566" cy="274755"/>
            <a:chOff x="4921430" y="2109467"/>
            <a:chExt cx="6286566" cy="274755"/>
          </a:xfrm>
        </p:grpSpPr>
        <p:sp>
          <p:nvSpPr>
            <p:cNvPr id="667" name="Google Shape;667;p10"/>
            <p:cNvSpPr txBox="1"/>
            <p:nvPr/>
          </p:nvSpPr>
          <p:spPr>
            <a:xfrm>
              <a:off x="4921430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Low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68" name="Google Shape;668;p10"/>
            <p:cNvSpPr txBox="1"/>
            <p:nvPr/>
          </p:nvSpPr>
          <p:spPr>
            <a:xfrm>
              <a:off x="7718661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Medium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69" name="Google Shape;669;p10"/>
            <p:cNvSpPr txBox="1"/>
            <p:nvPr/>
          </p:nvSpPr>
          <p:spPr>
            <a:xfrm>
              <a:off x="10433808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High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70" name="Google Shape;670;p10"/>
          <p:cNvGrpSpPr/>
          <p:nvPr/>
        </p:nvGrpSpPr>
        <p:grpSpPr>
          <a:xfrm>
            <a:off x="4921430" y="3631553"/>
            <a:ext cx="6286566" cy="274755"/>
            <a:chOff x="4921430" y="2109467"/>
            <a:chExt cx="6286566" cy="274755"/>
          </a:xfrm>
        </p:grpSpPr>
        <p:sp>
          <p:nvSpPr>
            <p:cNvPr id="671" name="Google Shape;671;p10"/>
            <p:cNvSpPr txBox="1"/>
            <p:nvPr/>
          </p:nvSpPr>
          <p:spPr>
            <a:xfrm>
              <a:off x="4921430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Low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72" name="Google Shape;672;p10"/>
            <p:cNvSpPr txBox="1"/>
            <p:nvPr/>
          </p:nvSpPr>
          <p:spPr>
            <a:xfrm>
              <a:off x="7718661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Medium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73" name="Google Shape;673;p10"/>
            <p:cNvSpPr txBox="1"/>
            <p:nvPr/>
          </p:nvSpPr>
          <p:spPr>
            <a:xfrm>
              <a:off x="10433808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High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74" name="Google Shape;674;p10"/>
          <p:cNvGrpSpPr/>
          <p:nvPr/>
        </p:nvGrpSpPr>
        <p:grpSpPr>
          <a:xfrm>
            <a:off x="4921430" y="4343554"/>
            <a:ext cx="6286566" cy="274755"/>
            <a:chOff x="4921430" y="2109467"/>
            <a:chExt cx="6286566" cy="274755"/>
          </a:xfrm>
        </p:grpSpPr>
        <p:sp>
          <p:nvSpPr>
            <p:cNvPr id="675" name="Google Shape;675;p10"/>
            <p:cNvSpPr txBox="1"/>
            <p:nvPr/>
          </p:nvSpPr>
          <p:spPr>
            <a:xfrm>
              <a:off x="4921430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Low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76" name="Google Shape;676;p10"/>
            <p:cNvSpPr txBox="1"/>
            <p:nvPr/>
          </p:nvSpPr>
          <p:spPr>
            <a:xfrm>
              <a:off x="7718661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Medium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77" name="Google Shape;677;p10"/>
            <p:cNvSpPr txBox="1"/>
            <p:nvPr/>
          </p:nvSpPr>
          <p:spPr>
            <a:xfrm>
              <a:off x="10433808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High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78" name="Google Shape;678;p10"/>
          <p:cNvGrpSpPr/>
          <p:nvPr/>
        </p:nvGrpSpPr>
        <p:grpSpPr>
          <a:xfrm>
            <a:off x="4921430" y="5113040"/>
            <a:ext cx="6286566" cy="274755"/>
            <a:chOff x="4921430" y="2109467"/>
            <a:chExt cx="6286566" cy="274755"/>
          </a:xfrm>
        </p:grpSpPr>
        <p:sp>
          <p:nvSpPr>
            <p:cNvPr id="679" name="Google Shape;679;p10"/>
            <p:cNvSpPr txBox="1"/>
            <p:nvPr/>
          </p:nvSpPr>
          <p:spPr>
            <a:xfrm>
              <a:off x="4921430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Low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80" name="Google Shape;680;p10"/>
            <p:cNvSpPr txBox="1"/>
            <p:nvPr/>
          </p:nvSpPr>
          <p:spPr>
            <a:xfrm>
              <a:off x="7718661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Medium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81" name="Google Shape;681;p10"/>
            <p:cNvSpPr txBox="1"/>
            <p:nvPr/>
          </p:nvSpPr>
          <p:spPr>
            <a:xfrm>
              <a:off x="10433808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High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82" name="Google Shape;682;p10"/>
          <p:cNvGrpSpPr/>
          <p:nvPr/>
        </p:nvGrpSpPr>
        <p:grpSpPr>
          <a:xfrm>
            <a:off x="4921430" y="5869168"/>
            <a:ext cx="6286566" cy="274755"/>
            <a:chOff x="4921430" y="2109467"/>
            <a:chExt cx="6286566" cy="274755"/>
          </a:xfrm>
        </p:grpSpPr>
        <p:sp>
          <p:nvSpPr>
            <p:cNvPr id="683" name="Google Shape;683;p10"/>
            <p:cNvSpPr txBox="1"/>
            <p:nvPr/>
          </p:nvSpPr>
          <p:spPr>
            <a:xfrm>
              <a:off x="4921430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Low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84" name="Google Shape;684;p10"/>
            <p:cNvSpPr txBox="1"/>
            <p:nvPr/>
          </p:nvSpPr>
          <p:spPr>
            <a:xfrm>
              <a:off x="7718661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Medium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85" name="Google Shape;685;p10"/>
            <p:cNvSpPr txBox="1"/>
            <p:nvPr/>
          </p:nvSpPr>
          <p:spPr>
            <a:xfrm>
              <a:off x="10433808" y="2109467"/>
              <a:ext cx="774188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High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686" name="Google Shape;686;p10"/>
          <p:cNvSpPr txBox="1"/>
          <p:nvPr/>
        </p:nvSpPr>
        <p:spPr>
          <a:xfrm>
            <a:off x="506747" y="601983"/>
            <a:ext cx="30573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687" name="Google Shape;687;p10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1"/>
          <p:cNvSpPr/>
          <p:nvPr/>
        </p:nvSpPr>
        <p:spPr>
          <a:xfrm rot="-5400000" flipH="1">
            <a:off x="1355623" y="1534338"/>
            <a:ext cx="4015846" cy="4532532"/>
          </a:xfrm>
          <a:prstGeom prst="roundRect">
            <a:avLst>
              <a:gd name="adj" fmla="val 4892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3" name="Google Shape;693;p11"/>
          <p:cNvSpPr/>
          <p:nvPr/>
        </p:nvSpPr>
        <p:spPr>
          <a:xfrm rot="-5400000" flipH="1">
            <a:off x="6845809" y="908307"/>
            <a:ext cx="5669280" cy="5023105"/>
          </a:xfrm>
          <a:prstGeom prst="round2SameRect">
            <a:avLst>
              <a:gd name="adj1" fmla="val 4371"/>
              <a:gd name="adj2" fmla="val 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4" name="Google Shape;694;p11"/>
          <p:cNvSpPr/>
          <p:nvPr/>
        </p:nvSpPr>
        <p:spPr>
          <a:xfrm flipH="1">
            <a:off x="6290310" y="1497404"/>
            <a:ext cx="1325040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F7F7F"/>
              </a:gs>
              <a:gs pos="100000">
                <a:srgbClr val="BFBFBF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Competitor A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5" name="Google Shape;695;p11"/>
          <p:cNvSpPr/>
          <p:nvPr/>
        </p:nvSpPr>
        <p:spPr>
          <a:xfrm flipH="1">
            <a:off x="6290310" y="2175378"/>
            <a:ext cx="1325040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F7F7F"/>
              </a:gs>
              <a:gs pos="100000">
                <a:srgbClr val="BFBFBF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Competitor B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6" name="Google Shape;696;p11"/>
          <p:cNvSpPr/>
          <p:nvPr/>
        </p:nvSpPr>
        <p:spPr>
          <a:xfrm flipH="1">
            <a:off x="6290310" y="2853352"/>
            <a:ext cx="1325040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F7F7F"/>
              </a:gs>
              <a:gs pos="100000">
                <a:srgbClr val="BFBFBF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Competitor C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7" name="Google Shape;697;p11"/>
          <p:cNvSpPr/>
          <p:nvPr/>
        </p:nvSpPr>
        <p:spPr>
          <a:xfrm flipH="1">
            <a:off x="6290310" y="3531326"/>
            <a:ext cx="1325040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F7F7F"/>
              </a:gs>
              <a:gs pos="100000">
                <a:srgbClr val="BFBFBF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Competitor D</a:t>
            </a:r>
            <a:endParaRPr sz="12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8" name="Google Shape;698;p11"/>
          <p:cNvSpPr/>
          <p:nvPr/>
        </p:nvSpPr>
        <p:spPr>
          <a:xfrm flipH="1">
            <a:off x="6290310" y="4209300"/>
            <a:ext cx="1325040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F7F7F"/>
              </a:gs>
              <a:gs pos="100000">
                <a:srgbClr val="BFBFBF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Competitor E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99" name="Google Shape;699;p11"/>
          <p:cNvSpPr/>
          <p:nvPr/>
        </p:nvSpPr>
        <p:spPr>
          <a:xfrm flipH="1">
            <a:off x="6290310" y="4887274"/>
            <a:ext cx="1325040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F7F7F"/>
              </a:gs>
              <a:gs pos="100000">
                <a:srgbClr val="BFBFBF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Competitor F</a:t>
            </a:r>
            <a:endParaRPr sz="12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0" name="Google Shape;700;p11"/>
          <p:cNvSpPr/>
          <p:nvPr/>
        </p:nvSpPr>
        <p:spPr>
          <a:xfrm flipH="1">
            <a:off x="6256570" y="5565248"/>
            <a:ext cx="1358780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OUR COMPANY</a:t>
            </a:r>
            <a:endParaRPr sz="11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01" name="Google Shape;701;p11"/>
          <p:cNvSpPr/>
          <p:nvPr/>
        </p:nvSpPr>
        <p:spPr>
          <a:xfrm>
            <a:off x="1959389" y="4251183"/>
            <a:ext cx="801784" cy="801784"/>
          </a:xfrm>
          <a:prstGeom prst="ellipse">
            <a:avLst/>
          </a:prstGeom>
          <a:gradFill>
            <a:gsLst>
              <a:gs pos="0">
                <a:srgbClr val="BFBFBF"/>
              </a:gs>
              <a:gs pos="1000">
                <a:srgbClr val="BFBFBF"/>
              </a:gs>
              <a:gs pos="100000">
                <a:srgbClr val="D8D8D8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02" name="Google Shape;702;p11"/>
          <p:cNvCxnSpPr/>
          <p:nvPr/>
        </p:nvCxnSpPr>
        <p:spPr>
          <a:xfrm rot="10800000" flipH="1">
            <a:off x="7168896" y="1257180"/>
            <a:ext cx="5023104" cy="1886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3" name="Google Shape;703;p11"/>
          <p:cNvCxnSpPr/>
          <p:nvPr/>
        </p:nvCxnSpPr>
        <p:spPr>
          <a:xfrm rot="10800000" flipH="1">
            <a:off x="7168896" y="2639569"/>
            <a:ext cx="5023104" cy="1886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4" name="Google Shape;704;p11"/>
          <p:cNvCxnSpPr/>
          <p:nvPr/>
        </p:nvCxnSpPr>
        <p:spPr>
          <a:xfrm rot="10800000" flipH="1">
            <a:off x="7168896" y="3317239"/>
            <a:ext cx="5023104" cy="1886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5" name="Google Shape;705;p11"/>
          <p:cNvCxnSpPr/>
          <p:nvPr/>
        </p:nvCxnSpPr>
        <p:spPr>
          <a:xfrm rot="10800000" flipH="1">
            <a:off x="7168896" y="3976040"/>
            <a:ext cx="5023104" cy="1886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6" name="Google Shape;706;p11"/>
          <p:cNvCxnSpPr/>
          <p:nvPr/>
        </p:nvCxnSpPr>
        <p:spPr>
          <a:xfrm rot="10800000" flipH="1">
            <a:off x="7168896" y="4654622"/>
            <a:ext cx="5023104" cy="1886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7" name="Google Shape;707;p11"/>
          <p:cNvCxnSpPr/>
          <p:nvPr/>
        </p:nvCxnSpPr>
        <p:spPr>
          <a:xfrm rot="10800000" flipH="1">
            <a:off x="7168896" y="5332596"/>
            <a:ext cx="5023104" cy="1886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8" name="Google Shape;708;p11"/>
          <p:cNvCxnSpPr/>
          <p:nvPr/>
        </p:nvCxnSpPr>
        <p:spPr>
          <a:xfrm rot="10800000" flipH="1">
            <a:off x="7168896" y="1989899"/>
            <a:ext cx="5023104" cy="18869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09" name="Google Shape;709;p11"/>
          <p:cNvCxnSpPr/>
          <p:nvPr/>
        </p:nvCxnSpPr>
        <p:spPr>
          <a:xfrm rot="10800000">
            <a:off x="7814311" y="603499"/>
            <a:ext cx="21228" cy="5651001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10" name="Google Shape;710;p11"/>
          <p:cNvCxnSpPr/>
          <p:nvPr/>
        </p:nvCxnSpPr>
        <p:spPr>
          <a:xfrm rot="10800000">
            <a:off x="9026202" y="603499"/>
            <a:ext cx="21228" cy="5651001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11" name="Google Shape;711;p11"/>
          <p:cNvSpPr txBox="1"/>
          <p:nvPr/>
        </p:nvSpPr>
        <p:spPr>
          <a:xfrm>
            <a:off x="7869175" y="855625"/>
            <a:ext cx="96276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STRENGTH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12" name="Google Shape;712;p11"/>
          <p:cNvSpPr txBox="1"/>
          <p:nvPr/>
        </p:nvSpPr>
        <p:spPr>
          <a:xfrm>
            <a:off x="9081066" y="855625"/>
            <a:ext cx="96276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WEAKNESS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13" name="Google Shape;713;p11"/>
          <p:cNvSpPr txBox="1"/>
          <p:nvPr/>
        </p:nvSpPr>
        <p:spPr>
          <a:xfrm>
            <a:off x="10575454" y="770986"/>
            <a:ext cx="1257898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STRATEGIC IMPLICATIONS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14" name="Google Shape;714;p11"/>
          <p:cNvSpPr txBox="1"/>
          <p:nvPr/>
        </p:nvSpPr>
        <p:spPr>
          <a:xfrm>
            <a:off x="7869175" y="1342579"/>
            <a:ext cx="1068478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Strong focus on cutting-edge AI research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5" name="Google Shape;715;p11"/>
          <p:cNvSpPr txBox="1"/>
          <p:nvPr/>
        </p:nvSpPr>
        <p:spPr>
          <a:xfrm>
            <a:off x="7860594" y="2091955"/>
            <a:ext cx="1068478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Robust portfolio of AI-driven products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6" name="Google Shape;716;p11"/>
          <p:cNvSpPr txBox="1"/>
          <p:nvPr/>
        </p:nvSpPr>
        <p:spPr>
          <a:xfrm>
            <a:off x="7884640" y="2805769"/>
            <a:ext cx="1068478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Cost-effective AI solutions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7" name="Google Shape;717;p11"/>
          <p:cNvSpPr txBox="1"/>
          <p:nvPr/>
        </p:nvSpPr>
        <p:spPr>
          <a:xfrm>
            <a:off x="7869174" y="3476347"/>
            <a:ext cx="1141521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Agile development approach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8" name="Google Shape;718;p11"/>
          <p:cNvSpPr txBox="1"/>
          <p:nvPr/>
        </p:nvSpPr>
        <p:spPr>
          <a:xfrm>
            <a:off x="7869175" y="4038885"/>
            <a:ext cx="1068478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Expertise in data analytics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9" name="Google Shape;719;p11"/>
          <p:cNvSpPr txBox="1"/>
          <p:nvPr/>
        </p:nvSpPr>
        <p:spPr>
          <a:xfrm>
            <a:off x="7869174" y="4768401"/>
            <a:ext cx="1264080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Pioneering open-source AI frameworks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0" name="Google Shape;720;p11"/>
          <p:cNvSpPr txBox="1"/>
          <p:nvPr/>
        </p:nvSpPr>
        <p:spPr>
          <a:xfrm>
            <a:off x="10575454" y="1342579"/>
            <a:ext cx="1316220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Likely to dominate high-end markets 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1" name="Google Shape;721;p11"/>
          <p:cNvSpPr txBox="1"/>
          <p:nvPr/>
        </p:nvSpPr>
        <p:spPr>
          <a:xfrm>
            <a:off x="10575454" y="2060063"/>
            <a:ext cx="1316220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Must accelerate innovation to maintain relevance.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2" name="Google Shape;722;p11"/>
          <p:cNvSpPr txBox="1"/>
          <p:nvPr/>
        </p:nvSpPr>
        <p:spPr>
          <a:xfrm>
            <a:off x="10575453" y="2701051"/>
            <a:ext cx="1468043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Needs to invest in innovation to differentiate offerings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3" name="Google Shape;723;p11"/>
          <p:cNvSpPr txBox="1"/>
          <p:nvPr/>
        </p:nvSpPr>
        <p:spPr>
          <a:xfrm>
            <a:off x="10575453" y="3476347"/>
            <a:ext cx="1432335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Should explore partnerships to expand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4" name="Google Shape;724;p11"/>
          <p:cNvSpPr txBox="1"/>
          <p:nvPr/>
        </p:nvSpPr>
        <p:spPr>
          <a:xfrm>
            <a:off x="10575454" y="4038885"/>
            <a:ext cx="1316220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Requires streamlining operations to remain agile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" name="Google Shape;725;p11"/>
          <p:cNvSpPr txBox="1"/>
          <p:nvPr/>
        </p:nvSpPr>
        <p:spPr>
          <a:xfrm>
            <a:off x="10575454" y="4785819"/>
            <a:ext cx="1316220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Struggles with enterprise-level reliability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6" name="Google Shape;726;p11"/>
          <p:cNvSpPr txBox="1"/>
          <p:nvPr/>
        </p:nvSpPr>
        <p:spPr>
          <a:xfrm>
            <a:off x="9081066" y="1342579"/>
            <a:ext cx="1296041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Limited market penetration </a:t>
            </a:r>
            <a:endParaRPr/>
          </a:p>
        </p:txBody>
      </p:sp>
      <p:sp>
        <p:nvSpPr>
          <p:cNvPr id="727" name="Google Shape;727;p11"/>
          <p:cNvSpPr txBox="1"/>
          <p:nvPr/>
        </p:nvSpPr>
        <p:spPr>
          <a:xfrm>
            <a:off x="9081066" y="2706109"/>
            <a:ext cx="1296041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Limited investment in advanced AI</a:t>
            </a:r>
            <a:endParaRPr/>
          </a:p>
        </p:txBody>
      </p:sp>
      <p:sp>
        <p:nvSpPr>
          <p:cNvPr id="728" name="Google Shape;728;p11"/>
          <p:cNvSpPr txBox="1"/>
          <p:nvPr/>
        </p:nvSpPr>
        <p:spPr>
          <a:xfrm>
            <a:off x="9081066" y="4038885"/>
            <a:ext cx="1296041" cy="57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Relatively slow decision-making processes</a:t>
            </a:r>
            <a:endParaRPr/>
          </a:p>
        </p:txBody>
      </p:sp>
      <p:sp>
        <p:nvSpPr>
          <p:cNvPr id="729" name="Google Shape;729;p11"/>
          <p:cNvSpPr txBox="1"/>
          <p:nvPr/>
        </p:nvSpPr>
        <p:spPr>
          <a:xfrm>
            <a:off x="9081066" y="3462095"/>
            <a:ext cx="1316220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Narrow focus on specific verticals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0" name="Google Shape;730;p11"/>
          <p:cNvSpPr txBox="1"/>
          <p:nvPr/>
        </p:nvSpPr>
        <p:spPr>
          <a:xfrm>
            <a:off x="9081066" y="4785819"/>
            <a:ext cx="1484268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Dependence on community contributions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1" name="Google Shape;731;p11"/>
          <p:cNvSpPr txBox="1"/>
          <p:nvPr/>
        </p:nvSpPr>
        <p:spPr>
          <a:xfrm>
            <a:off x="9081066" y="2048901"/>
            <a:ext cx="1068478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Slow pace of innovation 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32" name="Google Shape;732;p11"/>
          <p:cNvSpPr txBox="1"/>
          <p:nvPr/>
        </p:nvSpPr>
        <p:spPr>
          <a:xfrm>
            <a:off x="7869174" y="5432085"/>
            <a:ext cx="1123391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Leverage radical AI adoption</a:t>
            </a:r>
            <a:endParaRPr/>
          </a:p>
        </p:txBody>
      </p:sp>
      <p:sp>
        <p:nvSpPr>
          <p:cNvPr id="733" name="Google Shape;733;p11"/>
          <p:cNvSpPr txBox="1"/>
          <p:nvPr/>
        </p:nvSpPr>
        <p:spPr>
          <a:xfrm>
            <a:off x="9081066" y="5432085"/>
            <a:ext cx="1413404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Maintain incremental improvements</a:t>
            </a:r>
            <a:endParaRPr/>
          </a:p>
        </p:txBody>
      </p:sp>
      <p:sp>
        <p:nvSpPr>
          <p:cNvPr id="734" name="Google Shape;734;p11"/>
          <p:cNvSpPr txBox="1"/>
          <p:nvPr/>
        </p:nvSpPr>
        <p:spPr>
          <a:xfrm>
            <a:off x="10575453" y="5488421"/>
            <a:ext cx="1498321" cy="62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Balance innovation with operational efficiency</a:t>
            </a:r>
            <a:endParaRPr/>
          </a:p>
        </p:txBody>
      </p:sp>
      <p:cxnSp>
        <p:nvCxnSpPr>
          <p:cNvPr id="735" name="Google Shape;735;p11"/>
          <p:cNvCxnSpPr/>
          <p:nvPr/>
        </p:nvCxnSpPr>
        <p:spPr>
          <a:xfrm rot="10800000">
            <a:off x="10447477" y="603499"/>
            <a:ext cx="21228" cy="5651001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6" name="Google Shape;736;p11"/>
          <p:cNvSpPr txBox="1"/>
          <p:nvPr/>
        </p:nvSpPr>
        <p:spPr>
          <a:xfrm>
            <a:off x="513532" y="1106348"/>
            <a:ext cx="5137460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Strategic Group Mapping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37" name="Google Shape;737;p11"/>
          <p:cNvCxnSpPr/>
          <p:nvPr/>
        </p:nvCxnSpPr>
        <p:spPr>
          <a:xfrm>
            <a:off x="1115567" y="2136163"/>
            <a:ext cx="4133089" cy="3591953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8" name="Google Shape;738;p11"/>
          <p:cNvSpPr txBox="1"/>
          <p:nvPr/>
        </p:nvSpPr>
        <p:spPr>
          <a:xfrm>
            <a:off x="4285889" y="5842654"/>
            <a:ext cx="96276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Board (+)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39" name="Google Shape;739;p11"/>
          <p:cNvSpPr txBox="1"/>
          <p:nvPr/>
        </p:nvSpPr>
        <p:spPr>
          <a:xfrm>
            <a:off x="2562592" y="5842654"/>
            <a:ext cx="141761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MARKET SCOPE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40" name="Google Shape;740;p11"/>
          <p:cNvSpPr txBox="1"/>
          <p:nvPr/>
        </p:nvSpPr>
        <p:spPr>
          <a:xfrm>
            <a:off x="1216146" y="5842654"/>
            <a:ext cx="96276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Niche (-)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41" name="Google Shape;741;p11"/>
          <p:cNvSpPr txBox="1"/>
          <p:nvPr/>
        </p:nvSpPr>
        <p:spPr>
          <a:xfrm rot="-5400000">
            <a:off x="330700" y="4942450"/>
            <a:ext cx="125326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Incremental (-)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42" name="Google Shape;742;p11"/>
          <p:cNvSpPr txBox="1"/>
          <p:nvPr/>
        </p:nvSpPr>
        <p:spPr>
          <a:xfrm rot="-5400000">
            <a:off x="330700" y="2518198"/>
            <a:ext cx="125326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Radical (+)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43" name="Google Shape;743;p11"/>
          <p:cNvSpPr txBox="1"/>
          <p:nvPr/>
        </p:nvSpPr>
        <p:spPr>
          <a:xfrm rot="-5400000">
            <a:off x="330700" y="3641522"/>
            <a:ext cx="1253262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AI ADOPTION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744" name="Google Shape;744;p11"/>
          <p:cNvCxnSpPr/>
          <p:nvPr/>
        </p:nvCxnSpPr>
        <p:spPr>
          <a:xfrm>
            <a:off x="755210" y="6118778"/>
            <a:ext cx="480861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745" name="Google Shape;745;p11"/>
          <p:cNvCxnSpPr/>
          <p:nvPr/>
        </p:nvCxnSpPr>
        <p:spPr>
          <a:xfrm rot="10800000">
            <a:off x="755210" y="2077929"/>
            <a:ext cx="0" cy="4040849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746" name="Google Shape;746;p11"/>
          <p:cNvSpPr txBox="1"/>
          <p:nvPr/>
        </p:nvSpPr>
        <p:spPr>
          <a:xfrm>
            <a:off x="2562592" y="5240793"/>
            <a:ext cx="141761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SUSTAINING INNOVATORS</a:t>
            </a:r>
            <a:endParaRPr sz="1100" b="0" i="0">
              <a:solidFill>
                <a:schemeClr val="accent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47" name="Google Shape;747;p11"/>
          <p:cNvSpPr txBox="1"/>
          <p:nvPr/>
        </p:nvSpPr>
        <p:spPr>
          <a:xfrm>
            <a:off x="4058465" y="4263134"/>
            <a:ext cx="141761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DISRUPTIVE INNOVATORS</a:t>
            </a:r>
            <a:endParaRPr sz="1100" b="0" i="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748" name="Google Shape;748;p11"/>
          <p:cNvSpPr/>
          <p:nvPr/>
        </p:nvSpPr>
        <p:spPr>
          <a:xfrm>
            <a:off x="3044925" y="2029977"/>
            <a:ext cx="2029042" cy="2029042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9" name="Google Shape;749;p11"/>
          <p:cNvSpPr/>
          <p:nvPr/>
        </p:nvSpPr>
        <p:spPr>
          <a:xfrm>
            <a:off x="1358290" y="3681017"/>
            <a:ext cx="1629475" cy="1629475"/>
          </a:xfrm>
          <a:prstGeom prst="ellipse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0" name="Google Shape;750;p11"/>
          <p:cNvSpPr/>
          <p:nvPr/>
        </p:nvSpPr>
        <p:spPr>
          <a:xfrm>
            <a:off x="1654592" y="4554891"/>
            <a:ext cx="583828" cy="583828"/>
          </a:xfrm>
          <a:prstGeom prst="ellipse">
            <a:avLst/>
          </a:prstGeom>
          <a:gradFill>
            <a:gsLst>
              <a:gs pos="0">
                <a:srgbClr val="BFBFBF"/>
              </a:gs>
              <a:gs pos="1000">
                <a:srgbClr val="BFBFBF"/>
              </a:gs>
              <a:gs pos="100000">
                <a:srgbClr val="D8D8D8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1" name="Google Shape;751;p11"/>
          <p:cNvSpPr/>
          <p:nvPr/>
        </p:nvSpPr>
        <p:spPr>
          <a:xfrm>
            <a:off x="1531930" y="4156791"/>
            <a:ext cx="583828" cy="583828"/>
          </a:xfrm>
          <a:prstGeom prst="ellipse">
            <a:avLst/>
          </a:prstGeom>
          <a:gradFill>
            <a:gsLst>
              <a:gs pos="0">
                <a:srgbClr val="BFBFBF"/>
              </a:gs>
              <a:gs pos="1000">
                <a:srgbClr val="BFBFBF"/>
              </a:gs>
              <a:gs pos="100000">
                <a:srgbClr val="D8D8D8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2" name="Google Shape;752;p11"/>
          <p:cNvSpPr/>
          <p:nvPr/>
        </p:nvSpPr>
        <p:spPr>
          <a:xfrm>
            <a:off x="1998797" y="3860555"/>
            <a:ext cx="625536" cy="625536"/>
          </a:xfrm>
          <a:prstGeom prst="ellipse">
            <a:avLst/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Our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Company </a:t>
            </a:r>
            <a:endParaRPr sz="9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3" name="Google Shape;753;p11"/>
          <p:cNvSpPr/>
          <p:nvPr/>
        </p:nvSpPr>
        <p:spPr>
          <a:xfrm>
            <a:off x="4051419" y="2489997"/>
            <a:ext cx="844135" cy="844135"/>
          </a:xfrm>
          <a:prstGeom prst="ellipse">
            <a:avLst/>
          </a:prstGeom>
          <a:gradFill>
            <a:gsLst>
              <a:gs pos="0">
                <a:srgbClr val="9D9AFA"/>
              </a:gs>
              <a:gs pos="1000">
                <a:srgbClr val="9D9AFA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4" name="Google Shape;754;p11"/>
          <p:cNvSpPr/>
          <p:nvPr/>
        </p:nvSpPr>
        <p:spPr>
          <a:xfrm>
            <a:off x="3585077" y="3010993"/>
            <a:ext cx="844135" cy="844135"/>
          </a:xfrm>
          <a:prstGeom prst="ellipse">
            <a:avLst/>
          </a:prstGeom>
          <a:gradFill>
            <a:gsLst>
              <a:gs pos="0">
                <a:srgbClr val="9D9AFA"/>
              </a:gs>
              <a:gs pos="1000">
                <a:srgbClr val="9D9AFA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5" name="Google Shape;755;p11"/>
          <p:cNvSpPr/>
          <p:nvPr/>
        </p:nvSpPr>
        <p:spPr>
          <a:xfrm>
            <a:off x="3270196" y="2412421"/>
            <a:ext cx="914454" cy="914454"/>
          </a:xfrm>
          <a:prstGeom prst="ellipse">
            <a:avLst/>
          </a:prstGeom>
          <a:gradFill>
            <a:gsLst>
              <a:gs pos="0">
                <a:srgbClr val="9D9AFA"/>
              </a:gs>
              <a:gs pos="1000">
                <a:srgbClr val="9D9AFA"/>
              </a:gs>
              <a:gs pos="100000">
                <a:schemeClr val="accent4"/>
              </a:gs>
            </a:gsLst>
            <a:lin ang="162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56" name="Google Shape;756;p11"/>
          <p:cNvSpPr txBox="1"/>
          <p:nvPr/>
        </p:nvSpPr>
        <p:spPr>
          <a:xfrm>
            <a:off x="506747" y="601983"/>
            <a:ext cx="30573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757" name="Google Shape;757;p11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2"/>
          <p:cNvSpPr txBox="1"/>
          <p:nvPr/>
        </p:nvSpPr>
        <p:spPr>
          <a:xfrm>
            <a:off x="524608" y="1090926"/>
            <a:ext cx="6935018" cy="726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Strategic Goal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Enhance operational efficiency through Al integration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63" name="Google Shape;763;p12" descr="A robot touching a circular object&#10;&#10;AI-generated content may b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7285" b="17284"/>
          <a:stretch/>
        </p:blipFill>
        <p:spPr>
          <a:xfrm>
            <a:off x="6217357" y="332286"/>
            <a:ext cx="5755158" cy="2886703"/>
          </a:xfrm>
          <a:prstGeom prst="roundRect">
            <a:avLst>
              <a:gd name="adj" fmla="val 10083"/>
            </a:avLst>
          </a:prstGeom>
          <a:noFill/>
          <a:ln>
            <a:noFill/>
          </a:ln>
        </p:spPr>
      </p:pic>
      <p:sp>
        <p:nvSpPr>
          <p:cNvPr id="764" name="Google Shape;764;p12"/>
          <p:cNvSpPr txBox="1"/>
          <p:nvPr/>
        </p:nvSpPr>
        <p:spPr>
          <a:xfrm>
            <a:off x="541697" y="5172592"/>
            <a:ext cx="2077268" cy="32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EXPECTED OUTCOME</a:t>
            </a:r>
            <a:endParaRPr sz="14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65" name="Google Shape;765;p12"/>
          <p:cNvCxnSpPr/>
          <p:nvPr/>
        </p:nvCxnSpPr>
        <p:spPr>
          <a:xfrm rot="10800000" flipH="1">
            <a:off x="579797" y="5499742"/>
            <a:ext cx="6153968" cy="16167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6" name="Google Shape;766;p12"/>
          <p:cNvSpPr txBox="1"/>
          <p:nvPr/>
        </p:nvSpPr>
        <p:spPr>
          <a:xfrm>
            <a:off x="827447" y="5535140"/>
            <a:ext cx="705668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40%</a:t>
            </a:r>
            <a:endParaRPr sz="20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67" name="Google Shape;767;p12"/>
          <p:cNvSpPr txBox="1"/>
          <p:nvPr/>
        </p:nvSpPr>
        <p:spPr>
          <a:xfrm>
            <a:off x="637356" y="5867252"/>
            <a:ext cx="1626007" cy="47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Operational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Turnaround Time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68" name="Google Shape;768;p12"/>
          <p:cNvCxnSpPr/>
          <p:nvPr/>
        </p:nvCxnSpPr>
        <p:spPr>
          <a:xfrm>
            <a:off x="789348" y="5666175"/>
            <a:ext cx="0" cy="199995"/>
          </a:xfrm>
          <a:prstGeom prst="straightConnector1">
            <a:avLst/>
          </a:prstGeom>
          <a:noFill/>
          <a:ln w="25400" cap="rnd" cmpd="sng">
            <a:solidFill>
              <a:schemeClr val="accent2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769" name="Google Shape;769;p12"/>
          <p:cNvSpPr txBox="1"/>
          <p:nvPr/>
        </p:nvSpPr>
        <p:spPr>
          <a:xfrm>
            <a:off x="3484307" y="5535140"/>
            <a:ext cx="705668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20%</a:t>
            </a:r>
            <a:endParaRPr sz="20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0" name="Google Shape;770;p12"/>
          <p:cNvSpPr txBox="1"/>
          <p:nvPr/>
        </p:nvSpPr>
        <p:spPr>
          <a:xfrm>
            <a:off x="3294217" y="5867252"/>
            <a:ext cx="1486308" cy="47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Overall 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Functioning Costs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71" name="Google Shape;771;p12"/>
          <p:cNvCxnSpPr/>
          <p:nvPr/>
        </p:nvCxnSpPr>
        <p:spPr>
          <a:xfrm>
            <a:off x="3446208" y="5666175"/>
            <a:ext cx="0" cy="199995"/>
          </a:xfrm>
          <a:prstGeom prst="straightConnector1">
            <a:avLst/>
          </a:prstGeom>
          <a:noFill/>
          <a:ln w="25400" cap="rnd" cmpd="sng">
            <a:solidFill>
              <a:schemeClr val="accent2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772" name="Google Shape;772;p12"/>
          <p:cNvSpPr txBox="1"/>
          <p:nvPr/>
        </p:nvSpPr>
        <p:spPr>
          <a:xfrm>
            <a:off x="6205079" y="5535140"/>
            <a:ext cx="705668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2X</a:t>
            </a:r>
            <a:endParaRPr sz="20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3" name="Google Shape;773;p12"/>
          <p:cNvSpPr txBox="1"/>
          <p:nvPr/>
        </p:nvSpPr>
        <p:spPr>
          <a:xfrm>
            <a:off x="6014989" y="5867252"/>
            <a:ext cx="1257705" cy="477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Throughput for Key Process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74" name="Google Shape;774;p12"/>
          <p:cNvCxnSpPr/>
          <p:nvPr/>
        </p:nvCxnSpPr>
        <p:spPr>
          <a:xfrm rot="10800000">
            <a:off x="6166980" y="5666175"/>
            <a:ext cx="0" cy="199995"/>
          </a:xfrm>
          <a:prstGeom prst="straightConnector1">
            <a:avLst/>
          </a:prstGeom>
          <a:noFill/>
          <a:ln w="25400" cap="rnd" cmpd="sng">
            <a:solidFill>
              <a:schemeClr val="accent2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775" name="Google Shape;775;p12"/>
          <p:cNvSpPr txBox="1"/>
          <p:nvPr/>
        </p:nvSpPr>
        <p:spPr>
          <a:xfrm>
            <a:off x="8861400" y="3482688"/>
            <a:ext cx="2077268" cy="32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SUCCESS METRICS</a:t>
            </a:r>
            <a:endParaRPr sz="14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76" name="Google Shape;776;p12"/>
          <p:cNvCxnSpPr/>
          <p:nvPr/>
        </p:nvCxnSpPr>
        <p:spPr>
          <a:xfrm rot="10800000" flipH="1">
            <a:off x="579797" y="3872512"/>
            <a:ext cx="7779568" cy="16167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77" name="Google Shape;777;p12"/>
          <p:cNvGrpSpPr/>
          <p:nvPr/>
        </p:nvGrpSpPr>
        <p:grpSpPr>
          <a:xfrm>
            <a:off x="4465180" y="3823346"/>
            <a:ext cx="1955071" cy="1266315"/>
            <a:chOff x="6298262" y="3710134"/>
            <a:chExt cx="1955071" cy="1266315"/>
          </a:xfrm>
        </p:grpSpPr>
        <p:sp>
          <p:nvSpPr>
            <p:cNvPr id="778" name="Google Shape;778;p12"/>
            <p:cNvSpPr txBox="1"/>
            <p:nvPr/>
          </p:nvSpPr>
          <p:spPr>
            <a:xfrm>
              <a:off x="6679594" y="3804223"/>
              <a:ext cx="705668" cy="423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accent4"/>
                  </a:solidFill>
                  <a:latin typeface="Lato Black"/>
                  <a:ea typeface="Lato Black"/>
                  <a:cs typeface="Lato Black"/>
                  <a:sym typeface="Lato Black"/>
                </a:rPr>
                <a:t>Q3</a:t>
              </a:r>
              <a:endParaRPr sz="20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79" name="Google Shape;779;p12"/>
            <p:cNvSpPr txBox="1"/>
            <p:nvPr/>
          </p:nvSpPr>
          <p:spPr>
            <a:xfrm>
              <a:off x="6679594" y="4164304"/>
              <a:ext cx="1573739" cy="812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Scale successful pilot projects across the organization to maximize impact.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80" name="Google Shape;780;p12"/>
            <p:cNvSpPr/>
            <p:nvPr/>
          </p:nvSpPr>
          <p:spPr>
            <a:xfrm rot="10800000">
              <a:off x="6298262" y="3775194"/>
              <a:ext cx="330532" cy="1089360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9D9AFA"/>
                </a:gs>
                <a:gs pos="1000">
                  <a:srgbClr val="9D9AFA"/>
                </a:gs>
                <a:gs pos="100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81" name="Google Shape;781;p12"/>
            <p:cNvSpPr txBox="1"/>
            <p:nvPr/>
          </p:nvSpPr>
          <p:spPr>
            <a:xfrm rot="-5400000">
              <a:off x="6000181" y="4036101"/>
              <a:ext cx="926690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3. SCALE</a:t>
              </a:r>
              <a:endParaRPr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782" name="Google Shape;782;p12"/>
          <p:cNvGrpSpPr/>
          <p:nvPr/>
        </p:nvGrpSpPr>
        <p:grpSpPr>
          <a:xfrm>
            <a:off x="2537995" y="3823346"/>
            <a:ext cx="1911997" cy="1266315"/>
            <a:chOff x="6298262" y="3710134"/>
            <a:chExt cx="1911997" cy="1266315"/>
          </a:xfrm>
        </p:grpSpPr>
        <p:sp>
          <p:nvSpPr>
            <p:cNvPr id="783" name="Google Shape;783;p12"/>
            <p:cNvSpPr txBox="1"/>
            <p:nvPr/>
          </p:nvSpPr>
          <p:spPr>
            <a:xfrm>
              <a:off x="6679594" y="3804223"/>
              <a:ext cx="705668" cy="423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accent4"/>
                  </a:solidFill>
                  <a:latin typeface="Lato Black"/>
                  <a:ea typeface="Lato Black"/>
                  <a:cs typeface="Lato Black"/>
                  <a:sym typeface="Lato Black"/>
                </a:rPr>
                <a:t>Q2</a:t>
              </a:r>
              <a:endParaRPr sz="20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84" name="Google Shape;784;p12"/>
            <p:cNvSpPr txBox="1"/>
            <p:nvPr/>
          </p:nvSpPr>
          <p:spPr>
            <a:xfrm>
              <a:off x="6679595" y="4164304"/>
              <a:ext cx="1530664" cy="812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Pilot AI solutions in selected departments to test effectiveness and scalability.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85" name="Google Shape;785;p12"/>
            <p:cNvSpPr/>
            <p:nvPr/>
          </p:nvSpPr>
          <p:spPr>
            <a:xfrm rot="10800000">
              <a:off x="6298262" y="3775194"/>
              <a:ext cx="330532" cy="1089360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9D9AFA"/>
                </a:gs>
                <a:gs pos="1000">
                  <a:srgbClr val="9D9AFA"/>
                </a:gs>
                <a:gs pos="100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86" name="Google Shape;786;p12"/>
            <p:cNvSpPr txBox="1"/>
            <p:nvPr/>
          </p:nvSpPr>
          <p:spPr>
            <a:xfrm rot="-5400000">
              <a:off x="6000181" y="4036101"/>
              <a:ext cx="926690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2. PILOT</a:t>
              </a:r>
              <a:endParaRPr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787" name="Google Shape;787;p12"/>
          <p:cNvGrpSpPr/>
          <p:nvPr/>
        </p:nvGrpSpPr>
        <p:grpSpPr>
          <a:xfrm>
            <a:off x="579797" y="3823346"/>
            <a:ext cx="2056623" cy="1266315"/>
            <a:chOff x="6298262" y="3710134"/>
            <a:chExt cx="2056623" cy="1266315"/>
          </a:xfrm>
        </p:grpSpPr>
        <p:sp>
          <p:nvSpPr>
            <p:cNvPr id="788" name="Google Shape;788;p12"/>
            <p:cNvSpPr txBox="1"/>
            <p:nvPr/>
          </p:nvSpPr>
          <p:spPr>
            <a:xfrm>
              <a:off x="6679594" y="3804223"/>
              <a:ext cx="705668" cy="423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accent4"/>
                  </a:solidFill>
                  <a:latin typeface="Lato Black"/>
                  <a:ea typeface="Lato Black"/>
                  <a:cs typeface="Lato Black"/>
                  <a:sym typeface="Lato Black"/>
                </a:rPr>
                <a:t>Q1</a:t>
              </a:r>
              <a:endParaRPr sz="20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89" name="Google Shape;789;p12"/>
            <p:cNvSpPr txBox="1"/>
            <p:nvPr/>
          </p:nvSpPr>
          <p:spPr>
            <a:xfrm>
              <a:off x="6679595" y="4164304"/>
              <a:ext cx="1675290" cy="812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Conduct an audit of current processes to identify automation opportunities.</a:t>
              </a:r>
              <a:endParaRPr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90" name="Google Shape;790;p12"/>
            <p:cNvSpPr/>
            <p:nvPr/>
          </p:nvSpPr>
          <p:spPr>
            <a:xfrm rot="10800000">
              <a:off x="6298262" y="3775194"/>
              <a:ext cx="330532" cy="1089360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9D9AFA"/>
                </a:gs>
                <a:gs pos="1000">
                  <a:srgbClr val="9D9AFA"/>
                </a:gs>
                <a:gs pos="100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91" name="Google Shape;791;p12"/>
            <p:cNvSpPr txBox="1"/>
            <p:nvPr/>
          </p:nvSpPr>
          <p:spPr>
            <a:xfrm rot="-5400000">
              <a:off x="6000181" y="4036101"/>
              <a:ext cx="926690" cy="274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1. AUDIT</a:t>
              </a:r>
              <a:endParaRPr sz="1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792" name="Google Shape;792;p12"/>
          <p:cNvSpPr txBox="1"/>
          <p:nvPr/>
        </p:nvSpPr>
        <p:spPr>
          <a:xfrm>
            <a:off x="6753958" y="3917435"/>
            <a:ext cx="705668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Q4</a:t>
            </a:r>
            <a:endParaRPr sz="20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3" name="Google Shape;793;p12"/>
          <p:cNvSpPr txBox="1"/>
          <p:nvPr/>
        </p:nvSpPr>
        <p:spPr>
          <a:xfrm>
            <a:off x="6753958" y="4277516"/>
            <a:ext cx="1887253" cy="81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Refine and optimize AI implementations based on feedback and performance metrics.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4" name="Google Shape;794;p12"/>
          <p:cNvSpPr/>
          <p:nvPr/>
        </p:nvSpPr>
        <p:spPr>
          <a:xfrm rot="10800000">
            <a:off x="6372626" y="3888406"/>
            <a:ext cx="330532" cy="1089360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9D9AFA"/>
              </a:gs>
              <a:gs pos="100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5" name="Google Shape;795;p12"/>
          <p:cNvSpPr txBox="1"/>
          <p:nvPr/>
        </p:nvSpPr>
        <p:spPr>
          <a:xfrm rot="-5400000">
            <a:off x="6074545" y="4149313"/>
            <a:ext cx="926690" cy="27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 REFINE</a:t>
            </a: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796" name="Google Shape;796;p12"/>
          <p:cNvCxnSpPr/>
          <p:nvPr/>
        </p:nvCxnSpPr>
        <p:spPr>
          <a:xfrm rot="10800000" flipH="1">
            <a:off x="8861269" y="3858179"/>
            <a:ext cx="2955670" cy="6142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97" name="Google Shape;797;p12"/>
          <p:cNvCxnSpPr/>
          <p:nvPr/>
        </p:nvCxnSpPr>
        <p:spPr>
          <a:xfrm rot="10800000" flipH="1">
            <a:off x="8861269" y="5575126"/>
            <a:ext cx="2955670" cy="6142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8" name="Google Shape;798;p12"/>
          <p:cNvSpPr/>
          <p:nvPr/>
        </p:nvSpPr>
        <p:spPr>
          <a:xfrm>
            <a:off x="10878698" y="3864547"/>
            <a:ext cx="812271" cy="390335"/>
          </a:xfrm>
          <a:custGeom>
            <a:avLst/>
            <a:gdLst/>
            <a:ahLst/>
            <a:cxnLst/>
            <a:rect l="l" t="t" r="r" b="b"/>
            <a:pathLst>
              <a:path w="632970" h="304172" extrusionOk="0">
                <a:moveTo>
                  <a:pt x="0" y="0"/>
                </a:moveTo>
                <a:lnTo>
                  <a:pt x="632970" y="0"/>
                </a:lnTo>
                <a:lnTo>
                  <a:pt x="627892" y="50368"/>
                </a:lnTo>
                <a:cubicBezTo>
                  <a:pt x="598252" y="195214"/>
                  <a:pt x="470093" y="304172"/>
                  <a:pt x="316485" y="304172"/>
                </a:cubicBezTo>
                <a:cubicBezTo>
                  <a:pt x="162877" y="304172"/>
                  <a:pt x="34718" y="195214"/>
                  <a:pt x="5078" y="50368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85%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9" name="Google Shape;799;p12"/>
          <p:cNvSpPr/>
          <p:nvPr/>
        </p:nvSpPr>
        <p:spPr>
          <a:xfrm>
            <a:off x="9112636" y="3864548"/>
            <a:ext cx="489274" cy="235120"/>
          </a:xfrm>
          <a:custGeom>
            <a:avLst/>
            <a:gdLst/>
            <a:ahLst/>
            <a:cxnLst/>
            <a:rect l="l" t="t" r="r" b="b"/>
            <a:pathLst>
              <a:path w="632970" h="304172" extrusionOk="0">
                <a:moveTo>
                  <a:pt x="0" y="0"/>
                </a:moveTo>
                <a:lnTo>
                  <a:pt x="632970" y="0"/>
                </a:lnTo>
                <a:lnTo>
                  <a:pt x="627892" y="50368"/>
                </a:lnTo>
                <a:cubicBezTo>
                  <a:pt x="598252" y="195214"/>
                  <a:pt x="470093" y="304172"/>
                  <a:pt x="316485" y="304172"/>
                </a:cubicBezTo>
                <a:cubicBezTo>
                  <a:pt x="162877" y="304172"/>
                  <a:pt x="34718" y="195214"/>
                  <a:pt x="5078" y="50368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0" name="Google Shape;800;p12"/>
          <p:cNvSpPr/>
          <p:nvPr/>
        </p:nvSpPr>
        <p:spPr>
          <a:xfrm>
            <a:off x="9981473" y="3864548"/>
            <a:ext cx="666330" cy="320204"/>
          </a:xfrm>
          <a:custGeom>
            <a:avLst/>
            <a:gdLst/>
            <a:ahLst/>
            <a:cxnLst/>
            <a:rect l="l" t="t" r="r" b="b"/>
            <a:pathLst>
              <a:path w="632970" h="304172" extrusionOk="0">
                <a:moveTo>
                  <a:pt x="0" y="0"/>
                </a:moveTo>
                <a:lnTo>
                  <a:pt x="632970" y="0"/>
                </a:lnTo>
                <a:lnTo>
                  <a:pt x="627892" y="50368"/>
                </a:lnTo>
                <a:cubicBezTo>
                  <a:pt x="598252" y="195214"/>
                  <a:pt x="470093" y="304172"/>
                  <a:pt x="316485" y="304172"/>
                </a:cubicBezTo>
                <a:cubicBezTo>
                  <a:pt x="162877" y="304172"/>
                  <a:pt x="34718" y="195214"/>
                  <a:pt x="5078" y="50368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60%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1" name="Google Shape;801;p12"/>
          <p:cNvSpPr/>
          <p:nvPr/>
        </p:nvSpPr>
        <p:spPr>
          <a:xfrm rot="10800000" flipH="1">
            <a:off x="10878698" y="5182998"/>
            <a:ext cx="812271" cy="390335"/>
          </a:xfrm>
          <a:custGeom>
            <a:avLst/>
            <a:gdLst/>
            <a:ahLst/>
            <a:cxnLst/>
            <a:rect l="l" t="t" r="r" b="b"/>
            <a:pathLst>
              <a:path w="632970" h="304172" extrusionOk="0">
                <a:moveTo>
                  <a:pt x="0" y="0"/>
                </a:moveTo>
                <a:lnTo>
                  <a:pt x="632970" y="0"/>
                </a:lnTo>
                <a:lnTo>
                  <a:pt x="627892" y="50368"/>
                </a:lnTo>
                <a:cubicBezTo>
                  <a:pt x="598252" y="195214"/>
                  <a:pt x="470093" y="304172"/>
                  <a:pt x="316485" y="304172"/>
                </a:cubicBezTo>
                <a:cubicBezTo>
                  <a:pt x="162877" y="304172"/>
                  <a:pt x="34718" y="195214"/>
                  <a:pt x="5078" y="50368"/>
                </a:cubicBezTo>
                <a:close/>
              </a:path>
            </a:pathLst>
          </a:custGeom>
          <a:gradFill>
            <a:gsLst>
              <a:gs pos="0">
                <a:srgbClr val="D8D8D8"/>
              </a:gs>
              <a:gs pos="1000">
                <a:srgbClr val="D8D8D8"/>
              </a:gs>
              <a:gs pos="100000">
                <a:srgbClr val="BFBFBF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2" name="Google Shape;802;p12"/>
          <p:cNvSpPr txBox="1"/>
          <p:nvPr/>
        </p:nvSpPr>
        <p:spPr>
          <a:xfrm>
            <a:off x="11052103" y="5298269"/>
            <a:ext cx="465460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68%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3" name="Google Shape;803;p12"/>
          <p:cNvSpPr/>
          <p:nvPr/>
        </p:nvSpPr>
        <p:spPr>
          <a:xfrm rot="10800000" flipH="1">
            <a:off x="8951138" y="5182998"/>
            <a:ext cx="812271" cy="390335"/>
          </a:xfrm>
          <a:custGeom>
            <a:avLst/>
            <a:gdLst/>
            <a:ahLst/>
            <a:cxnLst/>
            <a:rect l="l" t="t" r="r" b="b"/>
            <a:pathLst>
              <a:path w="632970" h="304172" extrusionOk="0">
                <a:moveTo>
                  <a:pt x="0" y="0"/>
                </a:moveTo>
                <a:lnTo>
                  <a:pt x="632970" y="0"/>
                </a:lnTo>
                <a:lnTo>
                  <a:pt x="627892" y="50368"/>
                </a:lnTo>
                <a:cubicBezTo>
                  <a:pt x="598252" y="195214"/>
                  <a:pt x="470093" y="304172"/>
                  <a:pt x="316485" y="304172"/>
                </a:cubicBezTo>
                <a:cubicBezTo>
                  <a:pt x="162877" y="304172"/>
                  <a:pt x="34718" y="195214"/>
                  <a:pt x="5078" y="50368"/>
                </a:cubicBezTo>
                <a:close/>
              </a:path>
            </a:pathLst>
          </a:custGeom>
          <a:gradFill>
            <a:gsLst>
              <a:gs pos="0">
                <a:srgbClr val="D8D8D8"/>
              </a:gs>
              <a:gs pos="1000">
                <a:srgbClr val="D8D8D8"/>
              </a:gs>
              <a:gs pos="100000">
                <a:srgbClr val="BFBFBF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4" name="Google Shape;804;p12"/>
          <p:cNvSpPr txBox="1"/>
          <p:nvPr/>
        </p:nvSpPr>
        <p:spPr>
          <a:xfrm>
            <a:off x="9034690" y="5314844"/>
            <a:ext cx="645166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4 hrs / wk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5" name="Google Shape;805;p12"/>
          <p:cNvSpPr/>
          <p:nvPr/>
        </p:nvSpPr>
        <p:spPr>
          <a:xfrm rot="10800000" flipH="1">
            <a:off x="10009413" y="5279980"/>
            <a:ext cx="610451" cy="293351"/>
          </a:xfrm>
          <a:custGeom>
            <a:avLst/>
            <a:gdLst/>
            <a:ahLst/>
            <a:cxnLst/>
            <a:rect l="l" t="t" r="r" b="b"/>
            <a:pathLst>
              <a:path w="632970" h="304172" extrusionOk="0">
                <a:moveTo>
                  <a:pt x="0" y="0"/>
                </a:moveTo>
                <a:lnTo>
                  <a:pt x="632970" y="0"/>
                </a:lnTo>
                <a:lnTo>
                  <a:pt x="627892" y="50368"/>
                </a:lnTo>
                <a:cubicBezTo>
                  <a:pt x="598252" y="195214"/>
                  <a:pt x="470093" y="304172"/>
                  <a:pt x="316485" y="304172"/>
                </a:cubicBezTo>
                <a:cubicBezTo>
                  <a:pt x="162877" y="304172"/>
                  <a:pt x="34718" y="195214"/>
                  <a:pt x="5078" y="50368"/>
                </a:cubicBezTo>
                <a:close/>
              </a:path>
            </a:pathLst>
          </a:custGeom>
          <a:gradFill>
            <a:gsLst>
              <a:gs pos="0">
                <a:srgbClr val="D8D8D8"/>
              </a:gs>
              <a:gs pos="1000">
                <a:srgbClr val="D8D8D8"/>
              </a:gs>
              <a:gs pos="100000">
                <a:srgbClr val="BFBFBF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6" name="Google Shape;806;p12"/>
          <p:cNvSpPr txBox="1"/>
          <p:nvPr/>
        </p:nvSpPr>
        <p:spPr>
          <a:xfrm>
            <a:off x="9992055" y="5314844"/>
            <a:ext cx="645166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35%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07" name="Google Shape;807;p12"/>
          <p:cNvCxnSpPr>
            <a:stCxn id="803" idx="3"/>
          </p:cNvCxnSpPr>
          <p:nvPr/>
        </p:nvCxnSpPr>
        <p:spPr>
          <a:xfrm rot="10800000">
            <a:off x="9357274" y="4254798"/>
            <a:ext cx="0" cy="9282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8" name="Google Shape;808;p12"/>
          <p:cNvCxnSpPr/>
          <p:nvPr/>
        </p:nvCxnSpPr>
        <p:spPr>
          <a:xfrm rot="10800000">
            <a:off x="10320675" y="4254882"/>
            <a:ext cx="0" cy="1023303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09" name="Google Shape;809;p12"/>
          <p:cNvCxnSpPr>
            <a:stCxn id="801" idx="3"/>
          </p:cNvCxnSpPr>
          <p:nvPr/>
        </p:nvCxnSpPr>
        <p:spPr>
          <a:xfrm rot="10800000">
            <a:off x="11284834" y="4358898"/>
            <a:ext cx="0" cy="82410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10" name="Google Shape;810;p12"/>
          <p:cNvSpPr txBox="1"/>
          <p:nvPr/>
        </p:nvSpPr>
        <p:spPr>
          <a:xfrm>
            <a:off x="10600903" y="3500767"/>
            <a:ext cx="675530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Current </a:t>
            </a:r>
            <a:endParaRPr/>
          </a:p>
        </p:txBody>
      </p:sp>
      <p:cxnSp>
        <p:nvCxnSpPr>
          <p:cNvPr id="811" name="Google Shape;811;p12"/>
          <p:cNvCxnSpPr/>
          <p:nvPr/>
        </p:nvCxnSpPr>
        <p:spPr>
          <a:xfrm>
            <a:off x="11188865" y="3644437"/>
            <a:ext cx="197293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12" name="Google Shape;812;p12"/>
          <p:cNvSpPr txBox="1"/>
          <p:nvPr/>
        </p:nvSpPr>
        <p:spPr>
          <a:xfrm>
            <a:off x="11354677" y="3500767"/>
            <a:ext cx="462262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Goal</a:t>
            </a:r>
            <a:endParaRPr/>
          </a:p>
        </p:txBody>
      </p:sp>
      <p:sp>
        <p:nvSpPr>
          <p:cNvPr id="813" name="Google Shape;813;p12"/>
          <p:cNvSpPr/>
          <p:nvPr/>
        </p:nvSpPr>
        <p:spPr>
          <a:xfrm flipH="1">
            <a:off x="8843910" y="5575126"/>
            <a:ext cx="2973027" cy="573940"/>
          </a:xfrm>
          <a:prstGeom prst="round2SameRect">
            <a:avLst>
              <a:gd name="adj1" fmla="val 0"/>
              <a:gd name="adj2" fmla="val 23809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4" name="Google Shape;814;p12"/>
          <p:cNvSpPr txBox="1"/>
          <p:nvPr/>
        </p:nvSpPr>
        <p:spPr>
          <a:xfrm>
            <a:off x="8814671" y="5671753"/>
            <a:ext cx="106721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SYSTEM IDLE TIME</a:t>
            </a:r>
            <a:endParaRPr sz="10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15" name="Google Shape;815;p12"/>
          <p:cNvSpPr txBox="1"/>
          <p:nvPr/>
        </p:nvSpPr>
        <p:spPr>
          <a:xfrm>
            <a:off x="9703027" y="5669383"/>
            <a:ext cx="119313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PROCESS AUTOMATION RATE</a:t>
            </a:r>
            <a:endParaRPr sz="10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16" name="Google Shape;816;p12"/>
          <p:cNvSpPr txBox="1"/>
          <p:nvPr/>
        </p:nvSpPr>
        <p:spPr>
          <a:xfrm>
            <a:off x="10781157" y="5671753"/>
            <a:ext cx="101843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PREDICTION ACCUURACY</a:t>
            </a:r>
            <a:endParaRPr sz="10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817" name="Google Shape;817;p12"/>
          <p:cNvCxnSpPr/>
          <p:nvPr/>
        </p:nvCxnSpPr>
        <p:spPr>
          <a:xfrm rot="10800000" flipH="1">
            <a:off x="579797" y="2401685"/>
            <a:ext cx="5435192" cy="17936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18" name="Google Shape;818;p12"/>
          <p:cNvSpPr txBox="1"/>
          <p:nvPr/>
        </p:nvSpPr>
        <p:spPr>
          <a:xfrm>
            <a:off x="541697" y="3532687"/>
            <a:ext cx="2077268" cy="32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ROLLOUT PLAN</a:t>
            </a:r>
            <a:endParaRPr sz="14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9" name="Google Shape;819;p12"/>
          <p:cNvSpPr txBox="1"/>
          <p:nvPr/>
        </p:nvSpPr>
        <p:spPr>
          <a:xfrm>
            <a:off x="541697" y="2064861"/>
            <a:ext cx="2077268" cy="32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MAIN INTIATIVES</a:t>
            </a:r>
            <a:endParaRPr sz="14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0" name="Google Shape;820;p12"/>
          <p:cNvSpPr/>
          <p:nvPr/>
        </p:nvSpPr>
        <p:spPr>
          <a:xfrm>
            <a:off x="588094" y="2511192"/>
            <a:ext cx="233192" cy="233192"/>
          </a:xfrm>
          <a:prstGeom prst="ellipse">
            <a:avLst/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1" name="Google Shape;821;p12"/>
          <p:cNvSpPr/>
          <p:nvPr/>
        </p:nvSpPr>
        <p:spPr>
          <a:xfrm>
            <a:off x="647136" y="2570234"/>
            <a:ext cx="115108" cy="115108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2" name="Google Shape;822;p12"/>
          <p:cNvSpPr txBox="1"/>
          <p:nvPr/>
        </p:nvSpPr>
        <p:spPr>
          <a:xfrm>
            <a:off x="961129" y="2496033"/>
            <a:ext cx="3834583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Automate Routine Tasks Using AI-Driven Workflows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3" name="Google Shape;823;p12"/>
          <p:cNvSpPr/>
          <p:nvPr/>
        </p:nvSpPr>
        <p:spPr>
          <a:xfrm>
            <a:off x="588094" y="2846427"/>
            <a:ext cx="233192" cy="233192"/>
          </a:xfrm>
          <a:prstGeom prst="ellipse">
            <a:avLst/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4" name="Google Shape;824;p12"/>
          <p:cNvSpPr/>
          <p:nvPr/>
        </p:nvSpPr>
        <p:spPr>
          <a:xfrm>
            <a:off x="647136" y="2905469"/>
            <a:ext cx="115108" cy="115108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5" name="Google Shape;825;p12"/>
          <p:cNvSpPr txBox="1"/>
          <p:nvPr/>
        </p:nvSpPr>
        <p:spPr>
          <a:xfrm>
            <a:off x="961129" y="2831268"/>
            <a:ext cx="3834583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Implement Predictive Maintenance for Critical Equipment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6" name="Google Shape;826;p12"/>
          <p:cNvSpPr/>
          <p:nvPr/>
        </p:nvSpPr>
        <p:spPr>
          <a:xfrm>
            <a:off x="588094" y="3166091"/>
            <a:ext cx="233192" cy="233192"/>
          </a:xfrm>
          <a:prstGeom prst="ellipse">
            <a:avLst/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7" name="Google Shape;827;p12"/>
          <p:cNvSpPr/>
          <p:nvPr/>
        </p:nvSpPr>
        <p:spPr>
          <a:xfrm>
            <a:off x="647136" y="3225133"/>
            <a:ext cx="115108" cy="115108"/>
          </a:xfrm>
          <a:prstGeom prst="chevron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8" name="Google Shape;828;p12"/>
          <p:cNvSpPr txBox="1"/>
          <p:nvPr/>
        </p:nvSpPr>
        <p:spPr>
          <a:xfrm>
            <a:off x="961129" y="3150932"/>
            <a:ext cx="3834583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Optimize Supply Chain Operations with Real-Time Data Insights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9" name="Google Shape;829;p12"/>
          <p:cNvSpPr txBox="1"/>
          <p:nvPr/>
        </p:nvSpPr>
        <p:spPr>
          <a:xfrm>
            <a:off x="506746" y="601983"/>
            <a:ext cx="558925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830" name="Google Shape;830;p12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3"/>
          <p:cNvSpPr/>
          <p:nvPr/>
        </p:nvSpPr>
        <p:spPr>
          <a:xfrm flipH="1">
            <a:off x="2942841" y="1617654"/>
            <a:ext cx="6234866" cy="1295133"/>
          </a:xfrm>
          <a:custGeom>
            <a:avLst/>
            <a:gdLst/>
            <a:ahLst/>
            <a:cxnLst/>
            <a:rect l="l" t="t" r="r" b="b"/>
            <a:pathLst>
              <a:path w="6234866" h="1295133" extrusionOk="0">
                <a:moveTo>
                  <a:pt x="0" y="1109524"/>
                </a:moveTo>
                <a:lnTo>
                  <a:pt x="0" y="1109525"/>
                </a:lnTo>
                <a:lnTo>
                  <a:pt x="0" y="1109525"/>
                </a:lnTo>
                <a:close/>
                <a:moveTo>
                  <a:pt x="3753487" y="0"/>
                </a:moveTo>
                <a:lnTo>
                  <a:pt x="3753472" y="2"/>
                </a:lnTo>
                <a:lnTo>
                  <a:pt x="185608" y="2"/>
                </a:lnTo>
                <a:cubicBezTo>
                  <a:pt x="108727" y="2"/>
                  <a:pt x="42763" y="46746"/>
                  <a:pt x="14586" y="113363"/>
                </a:cubicBezTo>
                <a:lnTo>
                  <a:pt x="0" y="185609"/>
                </a:lnTo>
                <a:lnTo>
                  <a:pt x="14586" y="257856"/>
                </a:lnTo>
                <a:cubicBezTo>
                  <a:pt x="42763" y="324473"/>
                  <a:pt x="108727" y="371217"/>
                  <a:pt x="185608" y="371217"/>
                </a:cubicBezTo>
                <a:lnTo>
                  <a:pt x="3567879" y="371218"/>
                </a:lnTo>
                <a:lnTo>
                  <a:pt x="3567879" y="466515"/>
                </a:lnTo>
                <a:lnTo>
                  <a:pt x="185608" y="466515"/>
                </a:lnTo>
                <a:cubicBezTo>
                  <a:pt x="108727" y="466515"/>
                  <a:pt x="42763" y="513259"/>
                  <a:pt x="14586" y="579876"/>
                </a:cubicBezTo>
                <a:lnTo>
                  <a:pt x="0" y="652123"/>
                </a:lnTo>
                <a:lnTo>
                  <a:pt x="14586" y="724369"/>
                </a:lnTo>
                <a:cubicBezTo>
                  <a:pt x="42763" y="790986"/>
                  <a:pt x="108727" y="837730"/>
                  <a:pt x="185608" y="837730"/>
                </a:cubicBezTo>
                <a:lnTo>
                  <a:pt x="3567879" y="837731"/>
                </a:lnTo>
                <a:lnTo>
                  <a:pt x="3567879" y="923917"/>
                </a:lnTo>
                <a:lnTo>
                  <a:pt x="185608" y="923917"/>
                </a:lnTo>
                <a:cubicBezTo>
                  <a:pt x="108727" y="923917"/>
                  <a:pt x="42763" y="970661"/>
                  <a:pt x="14586" y="1037278"/>
                </a:cubicBezTo>
                <a:lnTo>
                  <a:pt x="0" y="1109525"/>
                </a:lnTo>
                <a:lnTo>
                  <a:pt x="14586" y="1181771"/>
                </a:lnTo>
                <a:cubicBezTo>
                  <a:pt x="42763" y="1248389"/>
                  <a:pt x="108727" y="1295132"/>
                  <a:pt x="185608" y="1295132"/>
                </a:cubicBezTo>
                <a:lnTo>
                  <a:pt x="3753486" y="1295133"/>
                </a:lnTo>
                <a:cubicBezTo>
                  <a:pt x="3779113" y="1295133"/>
                  <a:pt x="3803527" y="1289939"/>
                  <a:pt x="3825733" y="1280547"/>
                </a:cubicBezTo>
                <a:lnTo>
                  <a:pt x="3835906" y="1273688"/>
                </a:lnTo>
                <a:lnTo>
                  <a:pt x="3849731" y="1268260"/>
                </a:lnTo>
                <a:lnTo>
                  <a:pt x="3870057" y="1250663"/>
                </a:lnTo>
                <a:lnTo>
                  <a:pt x="3884731" y="1240770"/>
                </a:lnTo>
                <a:lnTo>
                  <a:pt x="3889283" y="1234018"/>
                </a:lnTo>
                <a:lnTo>
                  <a:pt x="3896711" y="1227587"/>
                </a:lnTo>
                <a:lnTo>
                  <a:pt x="3914361" y="1196822"/>
                </a:lnTo>
                <a:lnTo>
                  <a:pt x="3924508" y="1181772"/>
                </a:lnTo>
                <a:lnTo>
                  <a:pt x="3925329" y="1177704"/>
                </a:lnTo>
                <a:lnTo>
                  <a:pt x="3927832" y="1173342"/>
                </a:lnTo>
                <a:lnTo>
                  <a:pt x="3939094" y="1109525"/>
                </a:lnTo>
                <a:lnTo>
                  <a:pt x="3939095" y="1109525"/>
                </a:lnTo>
                <a:lnTo>
                  <a:pt x="3939095" y="1109522"/>
                </a:lnTo>
                <a:lnTo>
                  <a:pt x="3939095" y="826072"/>
                </a:lnTo>
                <a:lnTo>
                  <a:pt x="3949827" y="829403"/>
                </a:lnTo>
                <a:cubicBezTo>
                  <a:pt x="3961909" y="831876"/>
                  <a:pt x="3974420" y="833174"/>
                  <a:pt x="3987233" y="833174"/>
                </a:cubicBezTo>
                <a:lnTo>
                  <a:pt x="6049257" y="833175"/>
                </a:lnTo>
                <a:cubicBezTo>
                  <a:pt x="6151765" y="833175"/>
                  <a:pt x="6234865" y="750075"/>
                  <a:pt x="6234865" y="647567"/>
                </a:cubicBezTo>
                <a:lnTo>
                  <a:pt x="6234866" y="647567"/>
                </a:lnTo>
                <a:cubicBezTo>
                  <a:pt x="6234866" y="545059"/>
                  <a:pt x="6151766" y="461959"/>
                  <a:pt x="6049258" y="461959"/>
                </a:cubicBezTo>
                <a:lnTo>
                  <a:pt x="3987233" y="461959"/>
                </a:lnTo>
                <a:cubicBezTo>
                  <a:pt x="3974420" y="461959"/>
                  <a:pt x="3961909" y="463258"/>
                  <a:pt x="3949827" y="465730"/>
                </a:cubicBezTo>
                <a:lnTo>
                  <a:pt x="3939095" y="469061"/>
                </a:lnTo>
                <a:lnTo>
                  <a:pt x="3939096" y="185609"/>
                </a:lnTo>
                <a:cubicBezTo>
                  <a:pt x="3939096" y="83101"/>
                  <a:pt x="3855996" y="1"/>
                  <a:pt x="375348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6" name="Google Shape;836;p13"/>
          <p:cNvSpPr/>
          <p:nvPr/>
        </p:nvSpPr>
        <p:spPr>
          <a:xfrm flipH="1">
            <a:off x="2942841" y="4855086"/>
            <a:ext cx="6234866" cy="1295133"/>
          </a:xfrm>
          <a:custGeom>
            <a:avLst/>
            <a:gdLst/>
            <a:ahLst/>
            <a:cxnLst/>
            <a:rect l="l" t="t" r="r" b="b"/>
            <a:pathLst>
              <a:path w="6234866" h="1295133" extrusionOk="0">
                <a:moveTo>
                  <a:pt x="0" y="1109524"/>
                </a:moveTo>
                <a:lnTo>
                  <a:pt x="0" y="1109525"/>
                </a:lnTo>
                <a:lnTo>
                  <a:pt x="0" y="1109525"/>
                </a:lnTo>
                <a:close/>
                <a:moveTo>
                  <a:pt x="3753487" y="0"/>
                </a:moveTo>
                <a:lnTo>
                  <a:pt x="3753472" y="2"/>
                </a:lnTo>
                <a:lnTo>
                  <a:pt x="185608" y="2"/>
                </a:lnTo>
                <a:cubicBezTo>
                  <a:pt x="108727" y="2"/>
                  <a:pt x="42763" y="46746"/>
                  <a:pt x="14586" y="113363"/>
                </a:cubicBezTo>
                <a:lnTo>
                  <a:pt x="0" y="185609"/>
                </a:lnTo>
                <a:lnTo>
                  <a:pt x="14586" y="257856"/>
                </a:lnTo>
                <a:cubicBezTo>
                  <a:pt x="42763" y="324473"/>
                  <a:pt x="108727" y="371217"/>
                  <a:pt x="185608" y="371217"/>
                </a:cubicBezTo>
                <a:lnTo>
                  <a:pt x="3567879" y="371218"/>
                </a:lnTo>
                <a:lnTo>
                  <a:pt x="3567879" y="466515"/>
                </a:lnTo>
                <a:lnTo>
                  <a:pt x="185608" y="466515"/>
                </a:lnTo>
                <a:cubicBezTo>
                  <a:pt x="108727" y="466515"/>
                  <a:pt x="42763" y="513259"/>
                  <a:pt x="14586" y="579876"/>
                </a:cubicBezTo>
                <a:lnTo>
                  <a:pt x="0" y="652123"/>
                </a:lnTo>
                <a:lnTo>
                  <a:pt x="14586" y="724369"/>
                </a:lnTo>
                <a:cubicBezTo>
                  <a:pt x="42763" y="790986"/>
                  <a:pt x="108727" y="837730"/>
                  <a:pt x="185608" y="837730"/>
                </a:cubicBezTo>
                <a:lnTo>
                  <a:pt x="3567879" y="837731"/>
                </a:lnTo>
                <a:lnTo>
                  <a:pt x="3567879" y="923917"/>
                </a:lnTo>
                <a:lnTo>
                  <a:pt x="185608" y="923917"/>
                </a:lnTo>
                <a:cubicBezTo>
                  <a:pt x="108727" y="923917"/>
                  <a:pt x="42763" y="970661"/>
                  <a:pt x="14586" y="1037278"/>
                </a:cubicBezTo>
                <a:lnTo>
                  <a:pt x="0" y="1109525"/>
                </a:lnTo>
                <a:lnTo>
                  <a:pt x="14586" y="1181771"/>
                </a:lnTo>
                <a:cubicBezTo>
                  <a:pt x="42763" y="1248389"/>
                  <a:pt x="108727" y="1295132"/>
                  <a:pt x="185608" y="1295132"/>
                </a:cubicBezTo>
                <a:lnTo>
                  <a:pt x="3753486" y="1295133"/>
                </a:lnTo>
                <a:cubicBezTo>
                  <a:pt x="3779113" y="1295133"/>
                  <a:pt x="3803527" y="1289939"/>
                  <a:pt x="3825733" y="1280547"/>
                </a:cubicBezTo>
                <a:lnTo>
                  <a:pt x="3835906" y="1273688"/>
                </a:lnTo>
                <a:lnTo>
                  <a:pt x="3849731" y="1268260"/>
                </a:lnTo>
                <a:lnTo>
                  <a:pt x="3870057" y="1250663"/>
                </a:lnTo>
                <a:lnTo>
                  <a:pt x="3884731" y="1240770"/>
                </a:lnTo>
                <a:lnTo>
                  <a:pt x="3889283" y="1234018"/>
                </a:lnTo>
                <a:lnTo>
                  <a:pt x="3896711" y="1227587"/>
                </a:lnTo>
                <a:lnTo>
                  <a:pt x="3914361" y="1196822"/>
                </a:lnTo>
                <a:lnTo>
                  <a:pt x="3924508" y="1181772"/>
                </a:lnTo>
                <a:lnTo>
                  <a:pt x="3925329" y="1177704"/>
                </a:lnTo>
                <a:lnTo>
                  <a:pt x="3927832" y="1173342"/>
                </a:lnTo>
                <a:lnTo>
                  <a:pt x="3939094" y="1109525"/>
                </a:lnTo>
                <a:lnTo>
                  <a:pt x="3939095" y="1109525"/>
                </a:lnTo>
                <a:lnTo>
                  <a:pt x="3939095" y="1109522"/>
                </a:lnTo>
                <a:lnTo>
                  <a:pt x="3939095" y="826072"/>
                </a:lnTo>
                <a:lnTo>
                  <a:pt x="3949827" y="829403"/>
                </a:lnTo>
                <a:cubicBezTo>
                  <a:pt x="3961909" y="831876"/>
                  <a:pt x="3974420" y="833174"/>
                  <a:pt x="3987233" y="833174"/>
                </a:cubicBezTo>
                <a:lnTo>
                  <a:pt x="6049257" y="833175"/>
                </a:lnTo>
                <a:cubicBezTo>
                  <a:pt x="6151765" y="833175"/>
                  <a:pt x="6234865" y="750075"/>
                  <a:pt x="6234865" y="647567"/>
                </a:cubicBezTo>
                <a:lnTo>
                  <a:pt x="6234866" y="647567"/>
                </a:lnTo>
                <a:cubicBezTo>
                  <a:pt x="6234866" y="545059"/>
                  <a:pt x="6151766" y="461959"/>
                  <a:pt x="6049258" y="461959"/>
                </a:cubicBezTo>
                <a:lnTo>
                  <a:pt x="3987233" y="461959"/>
                </a:lnTo>
                <a:cubicBezTo>
                  <a:pt x="3974420" y="461959"/>
                  <a:pt x="3961909" y="463258"/>
                  <a:pt x="3949827" y="465730"/>
                </a:cubicBezTo>
                <a:lnTo>
                  <a:pt x="3939095" y="469061"/>
                </a:lnTo>
                <a:lnTo>
                  <a:pt x="3939096" y="185609"/>
                </a:lnTo>
                <a:cubicBezTo>
                  <a:pt x="3939096" y="83101"/>
                  <a:pt x="3855996" y="1"/>
                  <a:pt x="375348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7" name="Google Shape;837;p13"/>
          <p:cNvSpPr/>
          <p:nvPr/>
        </p:nvSpPr>
        <p:spPr>
          <a:xfrm flipH="1">
            <a:off x="2942841" y="3239195"/>
            <a:ext cx="6234866" cy="1295133"/>
          </a:xfrm>
          <a:custGeom>
            <a:avLst/>
            <a:gdLst/>
            <a:ahLst/>
            <a:cxnLst/>
            <a:rect l="l" t="t" r="r" b="b"/>
            <a:pathLst>
              <a:path w="6234866" h="1295133" extrusionOk="0">
                <a:moveTo>
                  <a:pt x="0" y="1109524"/>
                </a:moveTo>
                <a:lnTo>
                  <a:pt x="0" y="1109525"/>
                </a:lnTo>
                <a:lnTo>
                  <a:pt x="0" y="1109525"/>
                </a:lnTo>
                <a:close/>
                <a:moveTo>
                  <a:pt x="3753487" y="0"/>
                </a:moveTo>
                <a:lnTo>
                  <a:pt x="3753472" y="2"/>
                </a:lnTo>
                <a:lnTo>
                  <a:pt x="185608" y="2"/>
                </a:lnTo>
                <a:cubicBezTo>
                  <a:pt x="108727" y="2"/>
                  <a:pt x="42763" y="46746"/>
                  <a:pt x="14586" y="113363"/>
                </a:cubicBezTo>
                <a:lnTo>
                  <a:pt x="0" y="185609"/>
                </a:lnTo>
                <a:lnTo>
                  <a:pt x="14586" y="257856"/>
                </a:lnTo>
                <a:cubicBezTo>
                  <a:pt x="42763" y="324473"/>
                  <a:pt x="108727" y="371217"/>
                  <a:pt x="185608" y="371217"/>
                </a:cubicBezTo>
                <a:lnTo>
                  <a:pt x="3567879" y="371218"/>
                </a:lnTo>
                <a:lnTo>
                  <a:pt x="3567879" y="466515"/>
                </a:lnTo>
                <a:lnTo>
                  <a:pt x="185608" y="466515"/>
                </a:lnTo>
                <a:cubicBezTo>
                  <a:pt x="108727" y="466515"/>
                  <a:pt x="42763" y="513259"/>
                  <a:pt x="14586" y="579876"/>
                </a:cubicBezTo>
                <a:lnTo>
                  <a:pt x="0" y="652123"/>
                </a:lnTo>
                <a:lnTo>
                  <a:pt x="14586" y="724369"/>
                </a:lnTo>
                <a:cubicBezTo>
                  <a:pt x="42763" y="790986"/>
                  <a:pt x="108727" y="837730"/>
                  <a:pt x="185608" y="837730"/>
                </a:cubicBezTo>
                <a:lnTo>
                  <a:pt x="3567879" y="837731"/>
                </a:lnTo>
                <a:lnTo>
                  <a:pt x="3567879" y="923917"/>
                </a:lnTo>
                <a:lnTo>
                  <a:pt x="185608" y="923917"/>
                </a:lnTo>
                <a:cubicBezTo>
                  <a:pt x="108727" y="923917"/>
                  <a:pt x="42763" y="970661"/>
                  <a:pt x="14586" y="1037278"/>
                </a:cubicBezTo>
                <a:lnTo>
                  <a:pt x="0" y="1109525"/>
                </a:lnTo>
                <a:lnTo>
                  <a:pt x="14586" y="1181771"/>
                </a:lnTo>
                <a:cubicBezTo>
                  <a:pt x="42763" y="1248389"/>
                  <a:pt x="108727" y="1295132"/>
                  <a:pt x="185608" y="1295132"/>
                </a:cubicBezTo>
                <a:lnTo>
                  <a:pt x="3753486" y="1295133"/>
                </a:lnTo>
                <a:cubicBezTo>
                  <a:pt x="3779113" y="1295133"/>
                  <a:pt x="3803527" y="1289939"/>
                  <a:pt x="3825733" y="1280547"/>
                </a:cubicBezTo>
                <a:lnTo>
                  <a:pt x="3835906" y="1273688"/>
                </a:lnTo>
                <a:lnTo>
                  <a:pt x="3849731" y="1268260"/>
                </a:lnTo>
                <a:lnTo>
                  <a:pt x="3870057" y="1250663"/>
                </a:lnTo>
                <a:lnTo>
                  <a:pt x="3884731" y="1240770"/>
                </a:lnTo>
                <a:lnTo>
                  <a:pt x="3889283" y="1234018"/>
                </a:lnTo>
                <a:lnTo>
                  <a:pt x="3896711" y="1227587"/>
                </a:lnTo>
                <a:lnTo>
                  <a:pt x="3914361" y="1196822"/>
                </a:lnTo>
                <a:lnTo>
                  <a:pt x="3924508" y="1181772"/>
                </a:lnTo>
                <a:lnTo>
                  <a:pt x="3925329" y="1177704"/>
                </a:lnTo>
                <a:lnTo>
                  <a:pt x="3927832" y="1173342"/>
                </a:lnTo>
                <a:lnTo>
                  <a:pt x="3939094" y="1109525"/>
                </a:lnTo>
                <a:lnTo>
                  <a:pt x="3939095" y="1109525"/>
                </a:lnTo>
                <a:lnTo>
                  <a:pt x="3939095" y="1109522"/>
                </a:lnTo>
                <a:lnTo>
                  <a:pt x="3939095" y="826072"/>
                </a:lnTo>
                <a:lnTo>
                  <a:pt x="3949827" y="829403"/>
                </a:lnTo>
                <a:cubicBezTo>
                  <a:pt x="3961909" y="831876"/>
                  <a:pt x="3974420" y="833174"/>
                  <a:pt x="3987233" y="833174"/>
                </a:cubicBezTo>
                <a:lnTo>
                  <a:pt x="6049257" y="833175"/>
                </a:lnTo>
                <a:cubicBezTo>
                  <a:pt x="6151765" y="833175"/>
                  <a:pt x="6234865" y="750075"/>
                  <a:pt x="6234865" y="647567"/>
                </a:cubicBezTo>
                <a:lnTo>
                  <a:pt x="6234866" y="647567"/>
                </a:lnTo>
                <a:cubicBezTo>
                  <a:pt x="6234866" y="545059"/>
                  <a:pt x="6151766" y="461959"/>
                  <a:pt x="6049258" y="461959"/>
                </a:cubicBezTo>
                <a:lnTo>
                  <a:pt x="3987233" y="461959"/>
                </a:lnTo>
                <a:cubicBezTo>
                  <a:pt x="3974420" y="461959"/>
                  <a:pt x="3961909" y="463258"/>
                  <a:pt x="3949827" y="465730"/>
                </a:cubicBezTo>
                <a:lnTo>
                  <a:pt x="3939095" y="469061"/>
                </a:lnTo>
                <a:lnTo>
                  <a:pt x="3939096" y="185609"/>
                </a:lnTo>
                <a:cubicBezTo>
                  <a:pt x="3939096" y="83101"/>
                  <a:pt x="3855996" y="1"/>
                  <a:pt x="375348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38" name="Google Shape;838;p13"/>
          <p:cNvGrpSpPr/>
          <p:nvPr/>
        </p:nvGrpSpPr>
        <p:grpSpPr>
          <a:xfrm>
            <a:off x="7896729" y="1622734"/>
            <a:ext cx="901382" cy="1291846"/>
            <a:chOff x="7896729" y="1622734"/>
            <a:chExt cx="901382" cy="1291846"/>
          </a:xfrm>
        </p:grpSpPr>
        <p:sp>
          <p:nvSpPr>
            <p:cNvPr id="839" name="Google Shape;839;p13"/>
            <p:cNvSpPr/>
            <p:nvPr/>
          </p:nvSpPr>
          <p:spPr>
            <a:xfrm>
              <a:off x="7896729" y="1622734"/>
              <a:ext cx="901382" cy="370025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0" name="Google Shape;840;p13"/>
            <p:cNvSpPr/>
            <p:nvPr/>
          </p:nvSpPr>
          <p:spPr>
            <a:xfrm>
              <a:off x="7896729" y="2085287"/>
              <a:ext cx="901382" cy="370025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1" name="Google Shape;841;p13"/>
            <p:cNvSpPr/>
            <p:nvPr/>
          </p:nvSpPr>
          <p:spPr>
            <a:xfrm>
              <a:off x="7896729" y="2544555"/>
              <a:ext cx="901382" cy="370025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842" name="Google Shape;842;p13"/>
          <p:cNvGrpSpPr/>
          <p:nvPr/>
        </p:nvGrpSpPr>
        <p:grpSpPr>
          <a:xfrm>
            <a:off x="7896729" y="3237867"/>
            <a:ext cx="901382" cy="1296037"/>
            <a:chOff x="7896729" y="1612447"/>
            <a:chExt cx="901382" cy="1296037"/>
          </a:xfrm>
        </p:grpSpPr>
        <p:sp>
          <p:nvSpPr>
            <p:cNvPr id="843" name="Google Shape;843;p13"/>
            <p:cNvSpPr/>
            <p:nvPr/>
          </p:nvSpPr>
          <p:spPr>
            <a:xfrm>
              <a:off x="7896729" y="1612447"/>
              <a:ext cx="901382" cy="370025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4" name="Google Shape;844;p13"/>
            <p:cNvSpPr/>
            <p:nvPr/>
          </p:nvSpPr>
          <p:spPr>
            <a:xfrm>
              <a:off x="7896729" y="2083763"/>
              <a:ext cx="901382" cy="370025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5" name="Google Shape;845;p13"/>
            <p:cNvSpPr/>
            <p:nvPr/>
          </p:nvSpPr>
          <p:spPr>
            <a:xfrm>
              <a:off x="7896729" y="2538459"/>
              <a:ext cx="901382" cy="370025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846" name="Google Shape;846;p13"/>
          <p:cNvGrpSpPr/>
          <p:nvPr/>
        </p:nvGrpSpPr>
        <p:grpSpPr>
          <a:xfrm>
            <a:off x="7896729" y="4852665"/>
            <a:ext cx="901382" cy="1297942"/>
            <a:chOff x="7896729" y="1610542"/>
            <a:chExt cx="901382" cy="1297942"/>
          </a:xfrm>
        </p:grpSpPr>
        <p:sp>
          <p:nvSpPr>
            <p:cNvPr id="847" name="Google Shape;847;p13"/>
            <p:cNvSpPr/>
            <p:nvPr/>
          </p:nvSpPr>
          <p:spPr>
            <a:xfrm>
              <a:off x="7896729" y="1610542"/>
              <a:ext cx="901382" cy="370025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8" name="Google Shape;848;p13"/>
            <p:cNvSpPr/>
            <p:nvPr/>
          </p:nvSpPr>
          <p:spPr>
            <a:xfrm>
              <a:off x="7896729" y="2079191"/>
              <a:ext cx="901382" cy="370025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49" name="Google Shape;849;p13"/>
            <p:cNvSpPr/>
            <p:nvPr/>
          </p:nvSpPr>
          <p:spPr>
            <a:xfrm>
              <a:off x="7896729" y="2538459"/>
              <a:ext cx="901382" cy="370025"/>
            </a:xfrm>
            <a:prstGeom prst="rect">
              <a:avLst/>
            </a:prstGeom>
            <a:solidFill>
              <a:srgbClr val="BFBFBF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850" name="Google Shape;850;p13"/>
          <p:cNvSpPr/>
          <p:nvPr/>
        </p:nvSpPr>
        <p:spPr>
          <a:xfrm flipH="1">
            <a:off x="577013" y="1683017"/>
            <a:ext cx="2542792" cy="125068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1" name="Google Shape;851;p13"/>
          <p:cNvSpPr/>
          <p:nvPr/>
        </p:nvSpPr>
        <p:spPr>
          <a:xfrm flipH="1">
            <a:off x="577013" y="3283217"/>
            <a:ext cx="2542792" cy="125068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2" name="Google Shape;852;p13"/>
          <p:cNvSpPr/>
          <p:nvPr/>
        </p:nvSpPr>
        <p:spPr>
          <a:xfrm flipH="1">
            <a:off x="577013" y="4883417"/>
            <a:ext cx="2542792" cy="125068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3" name="Google Shape;853;p13"/>
          <p:cNvSpPr/>
          <p:nvPr/>
        </p:nvSpPr>
        <p:spPr>
          <a:xfrm flipH="1">
            <a:off x="3492939" y="1958433"/>
            <a:ext cx="1435341" cy="641799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5"/>
              </a:gs>
              <a:gs pos="9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4" name="Google Shape;854;p13"/>
          <p:cNvSpPr/>
          <p:nvPr/>
        </p:nvSpPr>
        <p:spPr>
          <a:xfrm flipH="1">
            <a:off x="3492939" y="3558633"/>
            <a:ext cx="1435341" cy="641799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5"/>
              </a:gs>
              <a:gs pos="9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5" name="Google Shape;855;p13"/>
          <p:cNvSpPr/>
          <p:nvPr/>
        </p:nvSpPr>
        <p:spPr>
          <a:xfrm flipH="1">
            <a:off x="3492939" y="5187861"/>
            <a:ext cx="1435341" cy="641799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5"/>
              </a:gs>
              <a:gs pos="90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6" name="Google Shape;856;p13"/>
          <p:cNvSpPr/>
          <p:nvPr/>
        </p:nvSpPr>
        <p:spPr>
          <a:xfrm flipH="1">
            <a:off x="839082" y="1835237"/>
            <a:ext cx="1325040" cy="269278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SHORT-TERM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7" name="Google Shape;857;p13"/>
          <p:cNvSpPr/>
          <p:nvPr/>
        </p:nvSpPr>
        <p:spPr>
          <a:xfrm flipH="1">
            <a:off x="839082" y="5000467"/>
            <a:ext cx="1325040" cy="269278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LONG-TERM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8" name="Google Shape;858;p13"/>
          <p:cNvSpPr/>
          <p:nvPr/>
        </p:nvSpPr>
        <p:spPr>
          <a:xfrm flipH="1">
            <a:off x="839082" y="3400267"/>
            <a:ext cx="1325040" cy="269278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MID-TERM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9" name="Google Shape;859;p13"/>
          <p:cNvSpPr txBox="1"/>
          <p:nvPr/>
        </p:nvSpPr>
        <p:spPr>
          <a:xfrm>
            <a:off x="839082" y="2134041"/>
            <a:ext cx="1728185" cy="734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Reduce operational costs and improve productivity.</a:t>
            </a:r>
            <a:endParaRPr/>
          </a:p>
        </p:txBody>
      </p:sp>
      <p:sp>
        <p:nvSpPr>
          <p:cNvPr id="860" name="Google Shape;860;p13"/>
          <p:cNvSpPr/>
          <p:nvPr/>
        </p:nvSpPr>
        <p:spPr>
          <a:xfrm>
            <a:off x="2567267" y="2020401"/>
            <a:ext cx="458002" cy="45800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1</a:t>
            </a:r>
            <a:endParaRPr sz="180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61" name="Google Shape;861;p13"/>
          <p:cNvSpPr txBox="1"/>
          <p:nvPr/>
        </p:nvSpPr>
        <p:spPr>
          <a:xfrm>
            <a:off x="839082" y="3716891"/>
            <a:ext cx="1728185" cy="734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Leverage AI to expand market reach, enhance customer engagement.</a:t>
            </a:r>
            <a:endParaRPr/>
          </a:p>
        </p:txBody>
      </p:sp>
      <p:sp>
        <p:nvSpPr>
          <p:cNvPr id="862" name="Google Shape;862;p13"/>
          <p:cNvSpPr txBox="1"/>
          <p:nvPr/>
        </p:nvSpPr>
        <p:spPr>
          <a:xfrm>
            <a:off x="839082" y="5306039"/>
            <a:ext cx="1841690" cy="734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Position the organization as a leader in AI innovation.</a:t>
            </a:r>
            <a:endParaRPr/>
          </a:p>
        </p:txBody>
      </p:sp>
      <p:sp>
        <p:nvSpPr>
          <p:cNvPr id="863" name="Google Shape;863;p13"/>
          <p:cNvSpPr/>
          <p:nvPr/>
        </p:nvSpPr>
        <p:spPr>
          <a:xfrm>
            <a:off x="2567267" y="3654159"/>
            <a:ext cx="458002" cy="45800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2</a:t>
            </a:r>
            <a:endParaRPr sz="180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64" name="Google Shape;864;p13"/>
          <p:cNvSpPr/>
          <p:nvPr/>
        </p:nvSpPr>
        <p:spPr>
          <a:xfrm>
            <a:off x="2567267" y="5279759"/>
            <a:ext cx="458002" cy="45800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3</a:t>
            </a:r>
            <a:endParaRPr sz="1800">
              <a:solidFill>
                <a:schemeClr val="accent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65" name="Google Shape;865;p13"/>
          <p:cNvSpPr txBox="1"/>
          <p:nvPr/>
        </p:nvSpPr>
        <p:spPr>
          <a:xfrm>
            <a:off x="3635646" y="5206456"/>
            <a:ext cx="1149926" cy="39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+13%</a:t>
            </a:r>
            <a:endParaRPr/>
          </a:p>
        </p:txBody>
      </p:sp>
      <p:sp>
        <p:nvSpPr>
          <p:cNvPr id="866" name="Google Shape;866;p13"/>
          <p:cNvSpPr txBox="1"/>
          <p:nvPr/>
        </p:nvSpPr>
        <p:spPr>
          <a:xfrm>
            <a:off x="3381874" y="5535909"/>
            <a:ext cx="1728185" cy="27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Market Share</a:t>
            </a:r>
            <a:endParaRPr/>
          </a:p>
        </p:txBody>
      </p:sp>
      <p:sp>
        <p:nvSpPr>
          <p:cNvPr id="867" name="Google Shape;867;p13"/>
          <p:cNvSpPr txBox="1"/>
          <p:nvPr/>
        </p:nvSpPr>
        <p:spPr>
          <a:xfrm>
            <a:off x="3635646" y="3577228"/>
            <a:ext cx="1149926" cy="39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+22%</a:t>
            </a:r>
            <a:endParaRPr/>
          </a:p>
        </p:txBody>
      </p:sp>
      <p:sp>
        <p:nvSpPr>
          <p:cNvPr id="868" name="Google Shape;868;p13"/>
          <p:cNvSpPr txBox="1"/>
          <p:nvPr/>
        </p:nvSpPr>
        <p:spPr>
          <a:xfrm>
            <a:off x="3381874" y="3882954"/>
            <a:ext cx="1728185" cy="27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Revenue</a:t>
            </a:r>
            <a:endParaRPr/>
          </a:p>
        </p:txBody>
      </p:sp>
      <p:sp>
        <p:nvSpPr>
          <p:cNvPr id="869" name="Google Shape;869;p13"/>
          <p:cNvSpPr txBox="1"/>
          <p:nvPr/>
        </p:nvSpPr>
        <p:spPr>
          <a:xfrm>
            <a:off x="3635646" y="1971353"/>
            <a:ext cx="1149926" cy="39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-15%</a:t>
            </a:r>
            <a:endParaRPr/>
          </a:p>
        </p:txBody>
      </p:sp>
      <p:sp>
        <p:nvSpPr>
          <p:cNvPr id="870" name="Google Shape;870;p13"/>
          <p:cNvSpPr txBox="1"/>
          <p:nvPr/>
        </p:nvSpPr>
        <p:spPr>
          <a:xfrm>
            <a:off x="3381874" y="2300806"/>
            <a:ext cx="1728185" cy="27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Operational Cost</a:t>
            </a:r>
            <a:endParaRPr/>
          </a:p>
        </p:txBody>
      </p:sp>
      <p:sp>
        <p:nvSpPr>
          <p:cNvPr id="871" name="Google Shape;871;p13"/>
          <p:cNvSpPr/>
          <p:nvPr/>
        </p:nvSpPr>
        <p:spPr>
          <a:xfrm flipH="1">
            <a:off x="8979890" y="3132366"/>
            <a:ext cx="2542793" cy="1503015"/>
          </a:xfrm>
          <a:prstGeom prst="roundRect">
            <a:avLst>
              <a:gd name="adj" fmla="val 9960"/>
            </a:avLst>
          </a:prstGeom>
          <a:gradFill>
            <a:gsLst>
              <a:gs pos="0">
                <a:schemeClr val="accent5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2" name="Google Shape;872;p13"/>
          <p:cNvSpPr/>
          <p:nvPr/>
        </p:nvSpPr>
        <p:spPr>
          <a:xfrm flipH="1">
            <a:off x="8979890" y="4719351"/>
            <a:ext cx="2542793" cy="1503015"/>
          </a:xfrm>
          <a:prstGeom prst="roundRect">
            <a:avLst>
              <a:gd name="adj" fmla="val 9960"/>
            </a:avLst>
          </a:prstGeom>
          <a:gradFill>
            <a:gsLst>
              <a:gs pos="0">
                <a:schemeClr val="accent5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3" name="Google Shape;873;p13"/>
          <p:cNvSpPr/>
          <p:nvPr/>
        </p:nvSpPr>
        <p:spPr>
          <a:xfrm flipH="1">
            <a:off x="8979890" y="1532166"/>
            <a:ext cx="2542793" cy="1503015"/>
          </a:xfrm>
          <a:prstGeom prst="roundRect">
            <a:avLst>
              <a:gd name="adj" fmla="val 9960"/>
            </a:avLst>
          </a:prstGeom>
          <a:gradFill>
            <a:gsLst>
              <a:gs pos="0">
                <a:schemeClr val="accent5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4" name="Google Shape;874;p13"/>
          <p:cNvSpPr/>
          <p:nvPr/>
        </p:nvSpPr>
        <p:spPr>
          <a:xfrm>
            <a:off x="5317239" y="3776329"/>
            <a:ext cx="213662" cy="21366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2</a:t>
            </a:r>
            <a:endParaRPr sz="105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75" name="Google Shape;875;p13"/>
          <p:cNvSpPr/>
          <p:nvPr/>
        </p:nvSpPr>
        <p:spPr>
          <a:xfrm>
            <a:off x="5317239" y="4215376"/>
            <a:ext cx="213662" cy="21366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3</a:t>
            </a:r>
            <a:endParaRPr sz="105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76" name="Google Shape;876;p13"/>
          <p:cNvSpPr/>
          <p:nvPr/>
        </p:nvSpPr>
        <p:spPr>
          <a:xfrm>
            <a:off x="5317239" y="3335887"/>
            <a:ext cx="213662" cy="21366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1</a:t>
            </a:r>
            <a:endParaRPr sz="105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77" name="Google Shape;877;p13"/>
          <p:cNvSpPr/>
          <p:nvPr/>
        </p:nvSpPr>
        <p:spPr>
          <a:xfrm>
            <a:off x="5317239" y="5388499"/>
            <a:ext cx="213662" cy="21366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2</a:t>
            </a:r>
            <a:endParaRPr sz="105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78" name="Google Shape;878;p13"/>
          <p:cNvSpPr/>
          <p:nvPr/>
        </p:nvSpPr>
        <p:spPr>
          <a:xfrm>
            <a:off x="5317239" y="5827546"/>
            <a:ext cx="213662" cy="21366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3</a:t>
            </a:r>
            <a:endParaRPr sz="105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79" name="Google Shape;879;p13"/>
          <p:cNvSpPr/>
          <p:nvPr/>
        </p:nvSpPr>
        <p:spPr>
          <a:xfrm>
            <a:off x="5317239" y="4948057"/>
            <a:ext cx="213662" cy="21366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1</a:t>
            </a:r>
            <a:endParaRPr sz="105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80" name="Google Shape;880;p13"/>
          <p:cNvSpPr/>
          <p:nvPr/>
        </p:nvSpPr>
        <p:spPr>
          <a:xfrm>
            <a:off x="5317239" y="2156677"/>
            <a:ext cx="213662" cy="21366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2</a:t>
            </a:r>
            <a:endParaRPr sz="105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81" name="Google Shape;881;p13"/>
          <p:cNvSpPr/>
          <p:nvPr/>
        </p:nvSpPr>
        <p:spPr>
          <a:xfrm>
            <a:off x="5317239" y="2595724"/>
            <a:ext cx="213662" cy="21366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3</a:t>
            </a:r>
            <a:endParaRPr sz="105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82" name="Google Shape;882;p13"/>
          <p:cNvSpPr/>
          <p:nvPr/>
        </p:nvSpPr>
        <p:spPr>
          <a:xfrm>
            <a:off x="5317239" y="1716235"/>
            <a:ext cx="213662" cy="213662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1</a:t>
            </a:r>
            <a:endParaRPr sz="105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883" name="Google Shape;883;p13"/>
          <p:cNvSpPr txBox="1"/>
          <p:nvPr/>
        </p:nvSpPr>
        <p:spPr>
          <a:xfrm>
            <a:off x="5678424" y="2613779"/>
            <a:ext cx="221830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Deploy AI-powered data platforms</a:t>
            </a:r>
            <a:endParaRPr/>
          </a:p>
        </p:txBody>
      </p:sp>
      <p:sp>
        <p:nvSpPr>
          <p:cNvPr id="884" name="Google Shape;884;p13"/>
          <p:cNvSpPr txBox="1"/>
          <p:nvPr/>
        </p:nvSpPr>
        <p:spPr>
          <a:xfrm>
            <a:off x="5678424" y="2162598"/>
            <a:ext cx="221830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 predictive analytics to allocate resources </a:t>
            </a:r>
            <a:endParaRPr/>
          </a:p>
        </p:txBody>
      </p:sp>
      <p:sp>
        <p:nvSpPr>
          <p:cNvPr id="885" name="Google Shape;885;p13"/>
          <p:cNvSpPr txBox="1"/>
          <p:nvPr/>
        </p:nvSpPr>
        <p:spPr>
          <a:xfrm>
            <a:off x="5678424" y="1698689"/>
            <a:ext cx="221830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Implement AI-driven automation tools</a:t>
            </a:r>
            <a:endParaRPr/>
          </a:p>
        </p:txBody>
      </p:sp>
      <p:sp>
        <p:nvSpPr>
          <p:cNvPr id="886" name="Google Shape;886;p13"/>
          <p:cNvSpPr txBox="1"/>
          <p:nvPr/>
        </p:nvSpPr>
        <p:spPr>
          <a:xfrm>
            <a:off x="5678424" y="4161173"/>
            <a:ext cx="2218305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Implement AI-powered sales tools to optimize lead generation</a:t>
            </a:r>
            <a:endParaRPr/>
          </a:p>
        </p:txBody>
      </p:sp>
      <p:sp>
        <p:nvSpPr>
          <p:cNvPr id="887" name="Google Shape;887;p13"/>
          <p:cNvSpPr txBox="1"/>
          <p:nvPr/>
        </p:nvSpPr>
        <p:spPr>
          <a:xfrm>
            <a:off x="5678424" y="3709992"/>
            <a:ext cx="2218305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 AI analytics to identify high-potential markets</a:t>
            </a:r>
            <a:endParaRPr/>
          </a:p>
        </p:txBody>
      </p:sp>
      <p:sp>
        <p:nvSpPr>
          <p:cNvPr id="888" name="Google Shape;888;p13"/>
          <p:cNvSpPr txBox="1"/>
          <p:nvPr/>
        </p:nvSpPr>
        <p:spPr>
          <a:xfrm>
            <a:off x="5678424" y="3319949"/>
            <a:ext cx="221830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Develop AI-driven recommendation engines</a:t>
            </a:r>
            <a:endParaRPr/>
          </a:p>
        </p:txBody>
      </p:sp>
      <p:sp>
        <p:nvSpPr>
          <p:cNvPr id="889" name="Google Shape;889;p13"/>
          <p:cNvSpPr txBox="1"/>
          <p:nvPr/>
        </p:nvSpPr>
        <p:spPr>
          <a:xfrm>
            <a:off x="5678424" y="5781375"/>
            <a:ext cx="2218305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proprietary AI solutions that differentiate the organization</a:t>
            </a:r>
            <a:endParaRPr/>
          </a:p>
        </p:txBody>
      </p:sp>
      <p:sp>
        <p:nvSpPr>
          <p:cNvPr id="890" name="Google Shape;890;p13"/>
          <p:cNvSpPr txBox="1"/>
          <p:nvPr/>
        </p:nvSpPr>
        <p:spPr>
          <a:xfrm>
            <a:off x="5678424" y="5330194"/>
            <a:ext cx="2218305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Develop training programs and incentives to upskill</a:t>
            </a:r>
            <a:endParaRPr/>
          </a:p>
        </p:txBody>
      </p:sp>
      <p:sp>
        <p:nvSpPr>
          <p:cNvPr id="891" name="Google Shape;891;p13"/>
          <p:cNvSpPr txBox="1"/>
          <p:nvPr/>
        </p:nvSpPr>
        <p:spPr>
          <a:xfrm>
            <a:off x="5678424" y="4940151"/>
            <a:ext cx="221830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Collaborate with academic institutions</a:t>
            </a:r>
            <a:endParaRPr/>
          </a:p>
        </p:txBody>
      </p:sp>
      <p:cxnSp>
        <p:nvCxnSpPr>
          <p:cNvPr id="892" name="Google Shape;892;p13"/>
          <p:cNvCxnSpPr/>
          <p:nvPr/>
        </p:nvCxnSpPr>
        <p:spPr>
          <a:xfrm>
            <a:off x="9053880" y="2029926"/>
            <a:ext cx="2305050" cy="0"/>
          </a:xfrm>
          <a:prstGeom prst="straightConnector1">
            <a:avLst/>
          </a:prstGeom>
          <a:noFill/>
          <a:ln w="9525" cap="flat" cmpd="sng">
            <a:solidFill>
              <a:schemeClr val="lt1">
                <a:alpha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3" name="Google Shape;893;p13"/>
          <p:cNvCxnSpPr/>
          <p:nvPr/>
        </p:nvCxnSpPr>
        <p:spPr>
          <a:xfrm>
            <a:off x="9053880" y="2498549"/>
            <a:ext cx="2305050" cy="0"/>
          </a:xfrm>
          <a:prstGeom prst="straightConnector1">
            <a:avLst/>
          </a:prstGeom>
          <a:noFill/>
          <a:ln w="9525" cap="flat" cmpd="sng">
            <a:solidFill>
              <a:schemeClr val="lt1">
                <a:alpha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4" name="Google Shape;894;p13"/>
          <p:cNvCxnSpPr/>
          <p:nvPr/>
        </p:nvCxnSpPr>
        <p:spPr>
          <a:xfrm>
            <a:off x="9053880" y="3642066"/>
            <a:ext cx="2305050" cy="0"/>
          </a:xfrm>
          <a:prstGeom prst="straightConnector1">
            <a:avLst/>
          </a:prstGeom>
          <a:noFill/>
          <a:ln w="9525" cap="flat" cmpd="sng">
            <a:solidFill>
              <a:schemeClr val="lt1">
                <a:alpha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5" name="Google Shape;895;p13"/>
          <p:cNvCxnSpPr/>
          <p:nvPr/>
        </p:nvCxnSpPr>
        <p:spPr>
          <a:xfrm>
            <a:off x="9053880" y="4110689"/>
            <a:ext cx="2305050" cy="0"/>
          </a:xfrm>
          <a:prstGeom prst="straightConnector1">
            <a:avLst/>
          </a:prstGeom>
          <a:noFill/>
          <a:ln w="9525" cap="flat" cmpd="sng">
            <a:solidFill>
              <a:schemeClr val="lt1">
                <a:alpha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6" name="Google Shape;896;p13"/>
          <p:cNvCxnSpPr/>
          <p:nvPr/>
        </p:nvCxnSpPr>
        <p:spPr>
          <a:xfrm>
            <a:off x="9053880" y="5271102"/>
            <a:ext cx="2305050" cy="0"/>
          </a:xfrm>
          <a:prstGeom prst="straightConnector1">
            <a:avLst/>
          </a:prstGeom>
          <a:noFill/>
          <a:ln w="9525" cap="flat" cmpd="sng">
            <a:solidFill>
              <a:schemeClr val="lt1">
                <a:alpha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97" name="Google Shape;897;p13"/>
          <p:cNvCxnSpPr/>
          <p:nvPr/>
        </p:nvCxnSpPr>
        <p:spPr>
          <a:xfrm>
            <a:off x="9053880" y="5739725"/>
            <a:ext cx="2305050" cy="0"/>
          </a:xfrm>
          <a:prstGeom prst="straightConnector1">
            <a:avLst/>
          </a:prstGeom>
          <a:noFill/>
          <a:ln w="9525" cap="flat" cmpd="sng">
            <a:solidFill>
              <a:schemeClr val="lt1">
                <a:alpha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98" name="Google Shape;898;p13"/>
          <p:cNvSpPr txBox="1"/>
          <p:nvPr/>
        </p:nvSpPr>
        <p:spPr>
          <a:xfrm>
            <a:off x="8100167" y="3326792"/>
            <a:ext cx="53730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$750K</a:t>
            </a:r>
            <a:endParaRPr/>
          </a:p>
        </p:txBody>
      </p:sp>
      <p:sp>
        <p:nvSpPr>
          <p:cNvPr id="899" name="Google Shape;899;p13"/>
          <p:cNvSpPr txBox="1"/>
          <p:nvPr/>
        </p:nvSpPr>
        <p:spPr>
          <a:xfrm>
            <a:off x="8100167" y="3774262"/>
            <a:ext cx="53730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$600K</a:t>
            </a:r>
            <a:endParaRPr/>
          </a:p>
        </p:txBody>
      </p:sp>
      <p:sp>
        <p:nvSpPr>
          <p:cNvPr id="900" name="Google Shape;900;p13"/>
          <p:cNvSpPr txBox="1"/>
          <p:nvPr/>
        </p:nvSpPr>
        <p:spPr>
          <a:xfrm>
            <a:off x="8100167" y="4221732"/>
            <a:ext cx="53730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$400K</a:t>
            </a:r>
            <a:endParaRPr/>
          </a:p>
        </p:txBody>
      </p:sp>
      <p:sp>
        <p:nvSpPr>
          <p:cNvPr id="901" name="Google Shape;901;p13"/>
          <p:cNvSpPr txBox="1"/>
          <p:nvPr/>
        </p:nvSpPr>
        <p:spPr>
          <a:xfrm>
            <a:off x="8100167" y="4936721"/>
            <a:ext cx="53730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$2M</a:t>
            </a:r>
            <a:endParaRPr/>
          </a:p>
        </p:txBody>
      </p:sp>
      <p:sp>
        <p:nvSpPr>
          <p:cNvPr id="902" name="Google Shape;902;p13"/>
          <p:cNvSpPr txBox="1"/>
          <p:nvPr/>
        </p:nvSpPr>
        <p:spPr>
          <a:xfrm>
            <a:off x="8100167" y="5393463"/>
            <a:ext cx="53730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$3M</a:t>
            </a:r>
            <a:endParaRPr/>
          </a:p>
        </p:txBody>
      </p:sp>
      <p:sp>
        <p:nvSpPr>
          <p:cNvPr id="903" name="Google Shape;903;p13"/>
          <p:cNvSpPr txBox="1"/>
          <p:nvPr/>
        </p:nvSpPr>
        <p:spPr>
          <a:xfrm>
            <a:off x="8100167" y="5838166"/>
            <a:ext cx="53730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$1M</a:t>
            </a:r>
            <a:endParaRPr/>
          </a:p>
        </p:txBody>
      </p:sp>
      <p:sp>
        <p:nvSpPr>
          <p:cNvPr id="904" name="Google Shape;904;p13"/>
          <p:cNvSpPr txBox="1"/>
          <p:nvPr/>
        </p:nvSpPr>
        <p:spPr>
          <a:xfrm>
            <a:off x="8100167" y="2610973"/>
            <a:ext cx="53730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$200K</a:t>
            </a:r>
            <a:endParaRPr/>
          </a:p>
        </p:txBody>
      </p:sp>
      <p:sp>
        <p:nvSpPr>
          <p:cNvPr id="905" name="Google Shape;905;p13"/>
          <p:cNvSpPr txBox="1"/>
          <p:nvPr/>
        </p:nvSpPr>
        <p:spPr>
          <a:xfrm>
            <a:off x="8100167" y="2144847"/>
            <a:ext cx="53730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$300K</a:t>
            </a:r>
            <a:endParaRPr/>
          </a:p>
        </p:txBody>
      </p:sp>
      <p:sp>
        <p:nvSpPr>
          <p:cNvPr id="906" name="Google Shape;906;p13"/>
          <p:cNvSpPr txBox="1"/>
          <p:nvPr/>
        </p:nvSpPr>
        <p:spPr>
          <a:xfrm>
            <a:off x="8100167" y="1696749"/>
            <a:ext cx="53730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$500K</a:t>
            </a:r>
            <a:endParaRPr/>
          </a:p>
        </p:txBody>
      </p:sp>
      <p:sp>
        <p:nvSpPr>
          <p:cNvPr id="907" name="Google Shape;907;p13"/>
          <p:cNvSpPr txBox="1"/>
          <p:nvPr/>
        </p:nvSpPr>
        <p:spPr>
          <a:xfrm>
            <a:off x="9053880" y="5330194"/>
            <a:ext cx="49696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+3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-37%</a:t>
            </a:r>
            <a:endParaRPr/>
          </a:p>
        </p:txBody>
      </p:sp>
      <p:sp>
        <p:nvSpPr>
          <p:cNvPr id="908" name="Google Shape;908;p13"/>
          <p:cNvSpPr txBox="1"/>
          <p:nvPr/>
        </p:nvSpPr>
        <p:spPr>
          <a:xfrm>
            <a:off x="9053880" y="5777488"/>
            <a:ext cx="49696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+25%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+10%</a:t>
            </a:r>
            <a:endParaRPr/>
          </a:p>
        </p:txBody>
      </p:sp>
      <p:sp>
        <p:nvSpPr>
          <p:cNvPr id="909" name="Google Shape;909;p13"/>
          <p:cNvSpPr txBox="1"/>
          <p:nvPr/>
        </p:nvSpPr>
        <p:spPr>
          <a:xfrm>
            <a:off x="9053880" y="4862854"/>
            <a:ext cx="49696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+40%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+5%</a:t>
            </a:r>
            <a:endParaRPr/>
          </a:p>
        </p:txBody>
      </p:sp>
      <p:sp>
        <p:nvSpPr>
          <p:cNvPr id="910" name="Google Shape;910;p13"/>
          <p:cNvSpPr txBox="1"/>
          <p:nvPr/>
        </p:nvSpPr>
        <p:spPr>
          <a:xfrm>
            <a:off x="9053880" y="4146207"/>
            <a:ext cx="49696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+10%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+5%</a:t>
            </a:r>
            <a:endParaRPr/>
          </a:p>
        </p:txBody>
      </p:sp>
      <p:sp>
        <p:nvSpPr>
          <p:cNvPr id="911" name="Google Shape;911;p13"/>
          <p:cNvSpPr txBox="1"/>
          <p:nvPr/>
        </p:nvSpPr>
        <p:spPr>
          <a:xfrm>
            <a:off x="9053880" y="3725531"/>
            <a:ext cx="49696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+20%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+15%</a:t>
            </a:r>
            <a:endParaRPr/>
          </a:p>
        </p:txBody>
      </p:sp>
      <p:sp>
        <p:nvSpPr>
          <p:cNvPr id="912" name="Google Shape;912;p13"/>
          <p:cNvSpPr txBox="1"/>
          <p:nvPr/>
        </p:nvSpPr>
        <p:spPr>
          <a:xfrm>
            <a:off x="9053880" y="3250454"/>
            <a:ext cx="49696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+42%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+55%</a:t>
            </a:r>
            <a:endParaRPr/>
          </a:p>
        </p:txBody>
      </p:sp>
      <p:sp>
        <p:nvSpPr>
          <p:cNvPr id="913" name="Google Shape;913;p13"/>
          <p:cNvSpPr txBox="1"/>
          <p:nvPr/>
        </p:nvSpPr>
        <p:spPr>
          <a:xfrm>
            <a:off x="9053880" y="2555584"/>
            <a:ext cx="49696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+11%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+31%</a:t>
            </a:r>
            <a:endParaRPr/>
          </a:p>
        </p:txBody>
      </p:sp>
      <p:sp>
        <p:nvSpPr>
          <p:cNvPr id="914" name="Google Shape;914;p13"/>
          <p:cNvSpPr txBox="1"/>
          <p:nvPr/>
        </p:nvSpPr>
        <p:spPr>
          <a:xfrm>
            <a:off x="9053880" y="2098883"/>
            <a:ext cx="49696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-36%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+33%</a:t>
            </a:r>
            <a:endParaRPr/>
          </a:p>
        </p:txBody>
      </p:sp>
      <p:sp>
        <p:nvSpPr>
          <p:cNvPr id="915" name="Google Shape;915;p13"/>
          <p:cNvSpPr txBox="1"/>
          <p:nvPr/>
        </p:nvSpPr>
        <p:spPr>
          <a:xfrm>
            <a:off x="9053880" y="1632345"/>
            <a:ext cx="496961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-82%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+37%</a:t>
            </a:r>
            <a:endParaRPr/>
          </a:p>
        </p:txBody>
      </p:sp>
      <p:sp>
        <p:nvSpPr>
          <p:cNvPr id="916" name="Google Shape;916;p13"/>
          <p:cNvSpPr txBox="1"/>
          <p:nvPr/>
        </p:nvSpPr>
        <p:spPr>
          <a:xfrm>
            <a:off x="10149256" y="5330194"/>
            <a:ext cx="1206824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Competitive Edge</a:t>
            </a:r>
            <a:endParaRPr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Intellectual Property</a:t>
            </a:r>
            <a:endParaRPr/>
          </a:p>
        </p:txBody>
      </p:sp>
      <p:sp>
        <p:nvSpPr>
          <p:cNvPr id="917" name="Google Shape;917;p13"/>
          <p:cNvSpPr txBox="1"/>
          <p:nvPr/>
        </p:nvSpPr>
        <p:spPr>
          <a:xfrm>
            <a:off x="10149256" y="5777488"/>
            <a:ext cx="1206824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Brand Reputation</a:t>
            </a:r>
            <a:endParaRPr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Future-Readiness</a:t>
            </a:r>
            <a:endParaRPr/>
          </a:p>
        </p:txBody>
      </p:sp>
      <p:sp>
        <p:nvSpPr>
          <p:cNvPr id="918" name="Google Shape;918;p13"/>
          <p:cNvSpPr txBox="1"/>
          <p:nvPr/>
        </p:nvSpPr>
        <p:spPr>
          <a:xfrm>
            <a:off x="10149256" y="4862854"/>
            <a:ext cx="1206824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Thought Leadership</a:t>
            </a:r>
            <a:endParaRPr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Innovation Pipeline</a:t>
            </a:r>
            <a:endParaRPr/>
          </a:p>
        </p:txBody>
      </p:sp>
      <p:sp>
        <p:nvSpPr>
          <p:cNvPr id="919" name="Google Shape;919;p13"/>
          <p:cNvSpPr txBox="1"/>
          <p:nvPr/>
        </p:nvSpPr>
        <p:spPr>
          <a:xfrm>
            <a:off x="10149256" y="4146207"/>
            <a:ext cx="1206824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Cross-Selling </a:t>
            </a:r>
            <a:endParaRPr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Brand Loyalty</a:t>
            </a:r>
            <a:endParaRPr/>
          </a:p>
        </p:txBody>
      </p:sp>
      <p:sp>
        <p:nvSpPr>
          <p:cNvPr id="920" name="Google Shape;920;p13"/>
          <p:cNvSpPr txBox="1"/>
          <p:nvPr/>
        </p:nvSpPr>
        <p:spPr>
          <a:xfrm>
            <a:off x="10149256" y="3725531"/>
            <a:ext cx="1206824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Market Penetration</a:t>
            </a:r>
            <a:endParaRPr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Sales Conversion</a:t>
            </a:r>
            <a:endParaRPr/>
          </a:p>
        </p:txBody>
      </p:sp>
      <p:sp>
        <p:nvSpPr>
          <p:cNvPr id="921" name="Google Shape;921;p13"/>
          <p:cNvSpPr txBox="1"/>
          <p:nvPr/>
        </p:nvSpPr>
        <p:spPr>
          <a:xfrm>
            <a:off x="9956426" y="3250454"/>
            <a:ext cx="1399654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Revenue Growth</a:t>
            </a:r>
            <a:endParaRPr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Customer Retention</a:t>
            </a:r>
            <a:endParaRPr/>
          </a:p>
        </p:txBody>
      </p:sp>
      <p:sp>
        <p:nvSpPr>
          <p:cNvPr id="922" name="Google Shape;922;p13"/>
          <p:cNvSpPr txBox="1"/>
          <p:nvPr/>
        </p:nvSpPr>
        <p:spPr>
          <a:xfrm>
            <a:off x="10149256" y="2555584"/>
            <a:ext cx="1206824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Scalability</a:t>
            </a:r>
            <a:endParaRPr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Operational Agility</a:t>
            </a:r>
            <a:endParaRPr/>
          </a:p>
        </p:txBody>
      </p:sp>
      <p:sp>
        <p:nvSpPr>
          <p:cNvPr id="923" name="Google Shape;923;p13"/>
          <p:cNvSpPr txBox="1"/>
          <p:nvPr/>
        </p:nvSpPr>
        <p:spPr>
          <a:xfrm>
            <a:off x="10149256" y="2098883"/>
            <a:ext cx="1206824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Time Saving</a:t>
            </a:r>
            <a:endParaRPr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Error Minimization</a:t>
            </a:r>
            <a:endParaRPr/>
          </a:p>
        </p:txBody>
      </p:sp>
      <p:sp>
        <p:nvSpPr>
          <p:cNvPr id="924" name="Google Shape;924;p13"/>
          <p:cNvSpPr txBox="1"/>
          <p:nvPr/>
        </p:nvSpPr>
        <p:spPr>
          <a:xfrm>
            <a:off x="10149256" y="1632345"/>
            <a:ext cx="1206824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Operational Savings</a:t>
            </a:r>
            <a:endParaRPr/>
          </a:p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Productivity Gains</a:t>
            </a:r>
            <a:endParaRPr/>
          </a:p>
        </p:txBody>
      </p:sp>
      <p:sp>
        <p:nvSpPr>
          <p:cNvPr id="925" name="Google Shape;925;p13"/>
          <p:cNvSpPr txBox="1"/>
          <p:nvPr/>
        </p:nvSpPr>
        <p:spPr>
          <a:xfrm>
            <a:off x="7757752" y="1213930"/>
            <a:ext cx="122213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INVESTMENT</a:t>
            </a:r>
            <a:endParaRPr/>
          </a:p>
        </p:txBody>
      </p:sp>
      <p:sp>
        <p:nvSpPr>
          <p:cNvPr id="926" name="Google Shape;926;p13"/>
          <p:cNvSpPr txBox="1"/>
          <p:nvPr/>
        </p:nvSpPr>
        <p:spPr>
          <a:xfrm>
            <a:off x="9640217" y="1213930"/>
            <a:ext cx="122213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PROJECTED ROI</a:t>
            </a:r>
            <a:endParaRPr/>
          </a:p>
        </p:txBody>
      </p:sp>
      <p:sp>
        <p:nvSpPr>
          <p:cNvPr id="927" name="Google Shape;927;p13"/>
          <p:cNvSpPr txBox="1"/>
          <p:nvPr/>
        </p:nvSpPr>
        <p:spPr>
          <a:xfrm>
            <a:off x="5678424" y="1213930"/>
            <a:ext cx="163681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STRATEGIC INITIATIVE</a:t>
            </a:r>
            <a:endParaRPr/>
          </a:p>
        </p:txBody>
      </p:sp>
      <p:sp>
        <p:nvSpPr>
          <p:cNvPr id="928" name="Google Shape;928;p13"/>
          <p:cNvSpPr txBox="1"/>
          <p:nvPr/>
        </p:nvSpPr>
        <p:spPr>
          <a:xfrm>
            <a:off x="513531" y="1091834"/>
            <a:ext cx="4803707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Strategic ROI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9" name="Google Shape;929;p13"/>
          <p:cNvSpPr txBox="1"/>
          <p:nvPr/>
        </p:nvSpPr>
        <p:spPr>
          <a:xfrm>
            <a:off x="506746" y="601983"/>
            <a:ext cx="1084933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 dirty="0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 dirty="0"/>
          </a:p>
        </p:txBody>
      </p:sp>
      <p:cxnSp>
        <p:nvCxnSpPr>
          <p:cNvPr id="930" name="Google Shape;930;p13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4"/>
          <p:cNvSpPr/>
          <p:nvPr/>
        </p:nvSpPr>
        <p:spPr>
          <a:xfrm>
            <a:off x="2511899" y="5244394"/>
            <a:ext cx="4803298" cy="68712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6" name="Google Shape;936;p14"/>
          <p:cNvSpPr/>
          <p:nvPr/>
        </p:nvSpPr>
        <p:spPr>
          <a:xfrm>
            <a:off x="898537" y="1620205"/>
            <a:ext cx="1547321" cy="11427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7" name="Google Shape;937;p14"/>
          <p:cNvSpPr/>
          <p:nvPr/>
        </p:nvSpPr>
        <p:spPr>
          <a:xfrm>
            <a:off x="898537" y="2829564"/>
            <a:ext cx="1547321" cy="11427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8" name="Google Shape;938;p14"/>
          <p:cNvSpPr/>
          <p:nvPr/>
        </p:nvSpPr>
        <p:spPr>
          <a:xfrm>
            <a:off x="898537" y="4038924"/>
            <a:ext cx="1547321" cy="114277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9" name="Google Shape;939;p14"/>
          <p:cNvSpPr/>
          <p:nvPr/>
        </p:nvSpPr>
        <p:spPr>
          <a:xfrm rot="-5400000" flipH="1">
            <a:off x="7691904" y="2367258"/>
            <a:ext cx="1022223" cy="266869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65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/>
          </a:p>
        </p:txBody>
      </p:sp>
      <p:sp>
        <p:nvSpPr>
          <p:cNvPr id="940" name="Google Shape;940;p14"/>
          <p:cNvSpPr/>
          <p:nvPr/>
        </p:nvSpPr>
        <p:spPr>
          <a:xfrm rot="-5400000" flipH="1">
            <a:off x="7691904" y="3834429"/>
            <a:ext cx="1022223" cy="266868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/>
          </a:p>
        </p:txBody>
      </p:sp>
      <p:sp>
        <p:nvSpPr>
          <p:cNvPr id="941" name="Google Shape;941;p14"/>
          <p:cNvSpPr/>
          <p:nvPr/>
        </p:nvSpPr>
        <p:spPr>
          <a:xfrm rot="-5400000" flipH="1">
            <a:off x="7684287" y="5320201"/>
            <a:ext cx="1022223" cy="266867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BFBFBF"/>
              </a:gs>
              <a:gs pos="100000">
                <a:srgbClr val="A5A5A5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/>
          </a:p>
        </p:txBody>
      </p:sp>
      <p:sp>
        <p:nvSpPr>
          <p:cNvPr id="942" name="Google Shape;942;p14"/>
          <p:cNvSpPr txBox="1"/>
          <p:nvPr/>
        </p:nvSpPr>
        <p:spPr>
          <a:xfrm>
            <a:off x="513532" y="1091834"/>
            <a:ext cx="3133182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Al Initiative Matrix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4" name="Google Shape;944;p14"/>
          <p:cNvSpPr/>
          <p:nvPr/>
        </p:nvSpPr>
        <p:spPr>
          <a:xfrm rot="-5400000" flipH="1">
            <a:off x="-1033031" y="3250132"/>
            <a:ext cx="3561496" cy="301641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45" name="Google Shape;945;p14"/>
          <p:cNvSpPr/>
          <p:nvPr/>
        </p:nvSpPr>
        <p:spPr>
          <a:xfrm>
            <a:off x="2511899" y="1620205"/>
            <a:ext cx="1554940" cy="11427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DRIVE &amp; EXPAND</a:t>
            </a:r>
            <a:endParaRPr/>
          </a:p>
        </p:txBody>
      </p:sp>
      <p:sp>
        <p:nvSpPr>
          <p:cNvPr id="946" name="Google Shape;946;p14"/>
          <p:cNvSpPr/>
          <p:nvPr/>
        </p:nvSpPr>
        <p:spPr>
          <a:xfrm>
            <a:off x="2511899" y="2829564"/>
            <a:ext cx="1554940" cy="11427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SELECTIVELS DRIVE &amp; EXPAND</a:t>
            </a:r>
            <a:endParaRPr/>
          </a:p>
        </p:txBody>
      </p:sp>
      <p:sp>
        <p:nvSpPr>
          <p:cNvPr id="947" name="Google Shape;947;p14"/>
          <p:cNvSpPr/>
          <p:nvPr/>
        </p:nvSpPr>
        <p:spPr>
          <a:xfrm>
            <a:off x="2511899" y="4038924"/>
            <a:ext cx="1554940" cy="11427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GO ZONE</a:t>
            </a:r>
            <a:endParaRPr/>
          </a:p>
        </p:txBody>
      </p:sp>
      <p:sp>
        <p:nvSpPr>
          <p:cNvPr id="948" name="Google Shape;948;p14"/>
          <p:cNvSpPr/>
          <p:nvPr/>
        </p:nvSpPr>
        <p:spPr>
          <a:xfrm>
            <a:off x="4140500" y="1620205"/>
            <a:ext cx="1554940" cy="1142778"/>
          </a:xfrm>
          <a:prstGeom prst="rect">
            <a:avLst/>
          </a:prstGeom>
          <a:solidFill>
            <a:srgbClr val="D8D8D8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ACCELERATE GO TO MARKET</a:t>
            </a:r>
            <a:endParaRPr/>
          </a:p>
        </p:txBody>
      </p:sp>
      <p:sp>
        <p:nvSpPr>
          <p:cNvPr id="949" name="Google Shape;949;p14"/>
          <p:cNvSpPr/>
          <p:nvPr/>
        </p:nvSpPr>
        <p:spPr>
          <a:xfrm>
            <a:off x="4140500" y="2829564"/>
            <a:ext cx="1554940" cy="11427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 GO TO MARKET</a:t>
            </a:r>
            <a:endParaRPr/>
          </a:p>
        </p:txBody>
      </p:sp>
      <p:sp>
        <p:nvSpPr>
          <p:cNvPr id="950" name="Google Shape;950;p14"/>
          <p:cNvSpPr/>
          <p:nvPr/>
        </p:nvSpPr>
        <p:spPr>
          <a:xfrm>
            <a:off x="4140500" y="4038924"/>
            <a:ext cx="1554940" cy="11427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SELECTIVE PLAN GO TO MARKET</a:t>
            </a:r>
            <a:endParaRPr/>
          </a:p>
        </p:txBody>
      </p:sp>
      <p:sp>
        <p:nvSpPr>
          <p:cNvPr id="951" name="Google Shape;951;p14"/>
          <p:cNvSpPr/>
          <p:nvPr/>
        </p:nvSpPr>
        <p:spPr>
          <a:xfrm>
            <a:off x="5752640" y="1620205"/>
            <a:ext cx="1554940" cy="1142778"/>
          </a:xfrm>
          <a:prstGeom prst="round1Rect">
            <a:avLst>
              <a:gd name="adj" fmla="val 16667"/>
            </a:avLst>
          </a:prstGeom>
          <a:solidFill>
            <a:srgbClr val="BFBFBF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UNICORN – INVEST HEAVILY</a:t>
            </a:r>
            <a:endParaRPr/>
          </a:p>
        </p:txBody>
      </p:sp>
      <p:sp>
        <p:nvSpPr>
          <p:cNvPr id="952" name="Google Shape;952;p14"/>
          <p:cNvSpPr/>
          <p:nvPr/>
        </p:nvSpPr>
        <p:spPr>
          <a:xfrm>
            <a:off x="5752640" y="2829564"/>
            <a:ext cx="1554940" cy="1142778"/>
          </a:xfrm>
          <a:prstGeom prst="rect">
            <a:avLst/>
          </a:prstGeom>
          <a:solidFill>
            <a:srgbClr val="D8D8D8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INCREASE INVESTMENTS</a:t>
            </a:r>
            <a:endParaRPr/>
          </a:p>
        </p:txBody>
      </p:sp>
      <p:sp>
        <p:nvSpPr>
          <p:cNvPr id="953" name="Google Shape;953;p14"/>
          <p:cNvSpPr/>
          <p:nvPr/>
        </p:nvSpPr>
        <p:spPr>
          <a:xfrm rot="-5400000" flipH="1">
            <a:off x="7990124" y="2031285"/>
            <a:ext cx="4548206" cy="3855553"/>
          </a:xfrm>
          <a:prstGeom prst="round2SameRect">
            <a:avLst>
              <a:gd name="adj1" fmla="val 5167"/>
              <a:gd name="adj2" fmla="val 0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954" name="Google Shape;954;p14"/>
          <p:cNvCxnSpPr/>
          <p:nvPr/>
        </p:nvCxnSpPr>
        <p:spPr>
          <a:xfrm rot="10800000" flipH="1">
            <a:off x="8459252" y="3124811"/>
            <a:ext cx="3570153" cy="18869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55" name="Google Shape;955;p14"/>
          <p:cNvCxnSpPr/>
          <p:nvPr/>
        </p:nvCxnSpPr>
        <p:spPr>
          <a:xfrm rot="10800000" flipH="1">
            <a:off x="8459252" y="4742728"/>
            <a:ext cx="3570153" cy="18869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6" name="Google Shape;956;p14"/>
          <p:cNvSpPr txBox="1"/>
          <p:nvPr/>
        </p:nvSpPr>
        <p:spPr>
          <a:xfrm>
            <a:off x="8459251" y="1831820"/>
            <a:ext cx="1432137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ADAPT CORE</a:t>
            </a:r>
            <a:endParaRPr dirty="0"/>
          </a:p>
        </p:txBody>
      </p:sp>
      <p:sp>
        <p:nvSpPr>
          <p:cNvPr id="957" name="Google Shape;957;p14"/>
          <p:cNvSpPr txBox="1"/>
          <p:nvPr/>
        </p:nvSpPr>
        <p:spPr>
          <a:xfrm>
            <a:off x="8459252" y="2061758"/>
            <a:ext cx="2909788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Sustain and enhance existing business</a:t>
            </a:r>
            <a:endParaRPr/>
          </a:p>
        </p:txBody>
      </p:sp>
      <p:sp>
        <p:nvSpPr>
          <p:cNvPr id="958" name="Google Shape;958;p14"/>
          <p:cNvSpPr txBox="1"/>
          <p:nvPr/>
        </p:nvSpPr>
        <p:spPr>
          <a:xfrm>
            <a:off x="8459252" y="2309610"/>
            <a:ext cx="3238166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Digital process optimization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experience enhancement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Core product line expansion</a:t>
            </a:r>
            <a:endParaRPr/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Supply chain resilience</a:t>
            </a:r>
            <a:endParaRPr/>
          </a:p>
        </p:txBody>
      </p:sp>
      <p:sp>
        <p:nvSpPr>
          <p:cNvPr id="959" name="Google Shape;959;p14"/>
          <p:cNvSpPr txBox="1"/>
          <p:nvPr/>
        </p:nvSpPr>
        <p:spPr>
          <a:xfrm>
            <a:off x="8459251" y="3280958"/>
            <a:ext cx="2243723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BUILD NEW BUSINESS</a:t>
            </a:r>
            <a:endParaRPr/>
          </a:p>
        </p:txBody>
      </p:sp>
      <p:sp>
        <p:nvSpPr>
          <p:cNvPr id="960" name="Google Shape;960;p14"/>
          <p:cNvSpPr txBox="1"/>
          <p:nvPr/>
        </p:nvSpPr>
        <p:spPr>
          <a:xfrm>
            <a:off x="8459252" y="3514498"/>
            <a:ext cx="340356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Invest in emerging opportunities to drive medium-term growth</a:t>
            </a:r>
            <a:endParaRPr/>
          </a:p>
        </p:txBody>
      </p:sp>
      <p:sp>
        <p:nvSpPr>
          <p:cNvPr id="961" name="Google Shape;961;p14"/>
          <p:cNvSpPr txBox="1"/>
          <p:nvPr/>
        </p:nvSpPr>
        <p:spPr>
          <a:xfrm>
            <a:off x="8459252" y="3754784"/>
            <a:ext cx="3238167" cy="815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New market entry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Innovative product development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Strategic alliances and partnerships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Ecommerce expansion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Eco-friendly product alternatives</a:t>
            </a:r>
            <a:endParaRPr/>
          </a:p>
        </p:txBody>
      </p:sp>
      <p:sp>
        <p:nvSpPr>
          <p:cNvPr id="962" name="Google Shape;962;p14"/>
          <p:cNvSpPr txBox="1"/>
          <p:nvPr/>
        </p:nvSpPr>
        <p:spPr>
          <a:xfrm>
            <a:off x="8459251" y="4852503"/>
            <a:ext cx="2655789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SHAPE OVERALL PORTFOLIO</a:t>
            </a:r>
            <a:endParaRPr/>
          </a:p>
        </p:txBody>
      </p:sp>
      <p:sp>
        <p:nvSpPr>
          <p:cNvPr id="963" name="Google Shape;963;p14"/>
          <p:cNvSpPr txBox="1"/>
          <p:nvPr/>
        </p:nvSpPr>
        <p:spPr>
          <a:xfrm>
            <a:off x="8459252" y="5086043"/>
            <a:ext cx="340356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Long term bets on transformative opportunities</a:t>
            </a:r>
            <a:endParaRPr/>
          </a:p>
        </p:txBody>
      </p:sp>
      <p:sp>
        <p:nvSpPr>
          <p:cNvPr id="964" name="Google Shape;964;p14"/>
          <p:cNvSpPr txBox="1"/>
          <p:nvPr/>
        </p:nvSpPr>
        <p:spPr>
          <a:xfrm>
            <a:off x="8459251" y="5381089"/>
            <a:ext cx="3238167" cy="52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Invest In emerging technologies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Strengthen market position via M&amp;A targets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Business model disruption</a:t>
            </a:r>
            <a:endParaRPr/>
          </a:p>
        </p:txBody>
      </p:sp>
      <p:sp>
        <p:nvSpPr>
          <p:cNvPr id="965" name="Google Shape;965;p14"/>
          <p:cNvSpPr/>
          <p:nvPr/>
        </p:nvSpPr>
        <p:spPr>
          <a:xfrm rot="10800000" flipH="1">
            <a:off x="2502402" y="5948775"/>
            <a:ext cx="4805178" cy="301641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6" name="Google Shape;966;p14"/>
          <p:cNvSpPr/>
          <p:nvPr/>
        </p:nvSpPr>
        <p:spPr>
          <a:xfrm>
            <a:off x="5752640" y="4037037"/>
            <a:ext cx="1554940" cy="114277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LONG TERM R&amp;D INVEST</a:t>
            </a:r>
            <a:endParaRPr/>
          </a:p>
        </p:txBody>
      </p:sp>
      <p:sp>
        <p:nvSpPr>
          <p:cNvPr id="967" name="Google Shape;967;p14"/>
          <p:cNvSpPr txBox="1"/>
          <p:nvPr/>
        </p:nvSpPr>
        <p:spPr>
          <a:xfrm>
            <a:off x="3741412" y="5959661"/>
            <a:ext cx="2243723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TIME</a:t>
            </a:r>
            <a:endParaRPr/>
          </a:p>
        </p:txBody>
      </p:sp>
      <p:sp>
        <p:nvSpPr>
          <p:cNvPr id="968" name="Google Shape;968;p14"/>
          <p:cNvSpPr txBox="1"/>
          <p:nvPr/>
        </p:nvSpPr>
        <p:spPr>
          <a:xfrm>
            <a:off x="2502403" y="5249977"/>
            <a:ext cx="77604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1-2 years</a:t>
            </a:r>
            <a:endParaRPr/>
          </a:p>
        </p:txBody>
      </p:sp>
      <p:sp>
        <p:nvSpPr>
          <p:cNvPr id="969" name="Google Shape;969;p14"/>
          <p:cNvSpPr txBox="1"/>
          <p:nvPr/>
        </p:nvSpPr>
        <p:spPr>
          <a:xfrm>
            <a:off x="941684" y="1878880"/>
            <a:ext cx="144741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Distinctive knowledge surpassing customers, invests in initiatives already owned by the company or easily acquired</a:t>
            </a:r>
            <a:endParaRPr dirty="0"/>
          </a:p>
        </p:txBody>
      </p:sp>
      <p:sp>
        <p:nvSpPr>
          <p:cNvPr id="970" name="Google Shape;970;p14"/>
          <p:cNvSpPr txBox="1"/>
          <p:nvPr/>
        </p:nvSpPr>
        <p:spPr>
          <a:xfrm>
            <a:off x="4144253" y="5249977"/>
            <a:ext cx="77604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2-3 years</a:t>
            </a:r>
            <a:endParaRPr/>
          </a:p>
        </p:txBody>
      </p:sp>
      <p:sp>
        <p:nvSpPr>
          <p:cNvPr id="971" name="Google Shape;971;p14"/>
          <p:cNvSpPr txBox="1"/>
          <p:nvPr/>
        </p:nvSpPr>
        <p:spPr>
          <a:xfrm>
            <a:off x="4144252" y="5450247"/>
            <a:ext cx="1628767" cy="37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medium term growth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Operationalize processes</a:t>
            </a:r>
            <a:endParaRPr/>
          </a:p>
        </p:txBody>
      </p:sp>
      <p:sp>
        <p:nvSpPr>
          <p:cNvPr id="972" name="Google Shape;972;p14"/>
          <p:cNvSpPr txBox="1"/>
          <p:nvPr/>
        </p:nvSpPr>
        <p:spPr>
          <a:xfrm>
            <a:off x="5755153" y="5249977"/>
            <a:ext cx="77604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3+ years</a:t>
            </a:r>
            <a:endParaRPr/>
          </a:p>
        </p:txBody>
      </p:sp>
      <p:sp>
        <p:nvSpPr>
          <p:cNvPr id="973" name="Google Shape;973;p14"/>
          <p:cNvSpPr txBox="1"/>
          <p:nvPr/>
        </p:nvSpPr>
        <p:spPr>
          <a:xfrm>
            <a:off x="5755153" y="5437852"/>
            <a:ext cx="1542870" cy="52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Generate portfolio of high-return options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long-term growth</a:t>
            </a:r>
            <a:endParaRPr/>
          </a:p>
        </p:txBody>
      </p:sp>
      <p:sp>
        <p:nvSpPr>
          <p:cNvPr id="974" name="Google Shape;974;p14"/>
          <p:cNvSpPr txBox="1"/>
          <p:nvPr/>
        </p:nvSpPr>
        <p:spPr>
          <a:xfrm rot="-5400000">
            <a:off x="-368974" y="3244051"/>
            <a:ext cx="2243723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TIME</a:t>
            </a:r>
            <a:endParaRPr/>
          </a:p>
        </p:txBody>
      </p:sp>
      <p:sp>
        <p:nvSpPr>
          <p:cNvPr id="975" name="Google Shape;975;p14"/>
          <p:cNvSpPr txBox="1"/>
          <p:nvPr/>
        </p:nvSpPr>
        <p:spPr>
          <a:xfrm>
            <a:off x="941684" y="1669430"/>
            <a:ext cx="738953" cy="25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Familiar</a:t>
            </a:r>
            <a:endParaRPr dirty="0"/>
          </a:p>
        </p:txBody>
      </p:sp>
      <p:sp>
        <p:nvSpPr>
          <p:cNvPr id="976" name="Google Shape;976;p14"/>
          <p:cNvSpPr txBox="1"/>
          <p:nvPr/>
        </p:nvSpPr>
        <p:spPr>
          <a:xfrm>
            <a:off x="941684" y="3223052"/>
            <a:ext cx="1447413" cy="52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Competitors are better, but small investments are made to gain familiarity</a:t>
            </a:r>
            <a:endParaRPr/>
          </a:p>
        </p:txBody>
      </p:sp>
      <p:sp>
        <p:nvSpPr>
          <p:cNvPr id="977" name="Google Shape;977;p14"/>
          <p:cNvSpPr txBox="1"/>
          <p:nvPr/>
        </p:nvSpPr>
        <p:spPr>
          <a:xfrm>
            <a:off x="941684" y="2999541"/>
            <a:ext cx="90415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Unfamiliar</a:t>
            </a:r>
            <a:endParaRPr dirty="0"/>
          </a:p>
        </p:txBody>
      </p:sp>
      <p:sp>
        <p:nvSpPr>
          <p:cNvPr id="978" name="Google Shape;978;p14"/>
          <p:cNvSpPr txBox="1"/>
          <p:nvPr/>
        </p:nvSpPr>
        <p:spPr>
          <a:xfrm>
            <a:off x="941684" y="4419365"/>
            <a:ext cx="1447413" cy="52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Success is difficult to estimate, but a good bet if successful</a:t>
            </a:r>
            <a:endParaRPr/>
          </a:p>
        </p:txBody>
      </p:sp>
      <p:sp>
        <p:nvSpPr>
          <p:cNvPr id="979" name="Google Shape;979;p14"/>
          <p:cNvSpPr txBox="1"/>
          <p:nvPr/>
        </p:nvSpPr>
        <p:spPr>
          <a:xfrm>
            <a:off x="941684" y="4194148"/>
            <a:ext cx="90415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Uncertain</a:t>
            </a:r>
            <a:endParaRPr dirty="0"/>
          </a:p>
        </p:txBody>
      </p:sp>
      <p:sp>
        <p:nvSpPr>
          <p:cNvPr id="980" name="Google Shape;980;p14"/>
          <p:cNvSpPr txBox="1"/>
          <p:nvPr/>
        </p:nvSpPr>
        <p:spPr>
          <a:xfrm>
            <a:off x="2502402" y="5429948"/>
            <a:ext cx="1628767" cy="52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Meet current earnings expectations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</a:pPr>
            <a:r>
              <a:rPr lang="en-U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Extend &amp; defend core</a:t>
            </a:r>
            <a:endParaRPr/>
          </a:p>
        </p:txBody>
      </p:sp>
      <p:sp>
        <p:nvSpPr>
          <p:cNvPr id="981" name="Google Shape;981;p14"/>
          <p:cNvSpPr/>
          <p:nvPr/>
        </p:nvSpPr>
        <p:spPr>
          <a:xfrm>
            <a:off x="5198695" y="3659401"/>
            <a:ext cx="464826" cy="464826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/>
          </a:p>
        </p:txBody>
      </p:sp>
      <p:sp>
        <p:nvSpPr>
          <p:cNvPr id="982" name="Google Shape;982;p14"/>
          <p:cNvSpPr/>
          <p:nvPr/>
        </p:nvSpPr>
        <p:spPr>
          <a:xfrm>
            <a:off x="3702632" y="2326571"/>
            <a:ext cx="464826" cy="464826"/>
          </a:xfrm>
          <a:prstGeom prst="ellipse">
            <a:avLst/>
          </a:prstGeom>
          <a:gradFill>
            <a:gsLst>
              <a:gs pos="0">
                <a:schemeClr val="accent3"/>
              </a:gs>
              <a:gs pos="65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/>
          </a:p>
        </p:txBody>
      </p:sp>
      <p:sp>
        <p:nvSpPr>
          <p:cNvPr id="983" name="Google Shape;983;p14"/>
          <p:cNvSpPr/>
          <p:nvPr/>
        </p:nvSpPr>
        <p:spPr>
          <a:xfrm>
            <a:off x="3981221" y="2893030"/>
            <a:ext cx="333076" cy="333076"/>
          </a:xfrm>
          <a:prstGeom prst="ellipse">
            <a:avLst/>
          </a:prstGeom>
          <a:gradFill>
            <a:gsLst>
              <a:gs pos="0">
                <a:schemeClr val="accent3"/>
              </a:gs>
              <a:gs pos="65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/>
          </a:p>
        </p:txBody>
      </p:sp>
      <p:sp>
        <p:nvSpPr>
          <p:cNvPr id="984" name="Google Shape;984;p14"/>
          <p:cNvSpPr/>
          <p:nvPr/>
        </p:nvSpPr>
        <p:spPr>
          <a:xfrm>
            <a:off x="3025807" y="2136702"/>
            <a:ext cx="333076" cy="333076"/>
          </a:xfrm>
          <a:prstGeom prst="ellipse">
            <a:avLst/>
          </a:prstGeom>
          <a:gradFill>
            <a:gsLst>
              <a:gs pos="0">
                <a:schemeClr val="accent3"/>
              </a:gs>
              <a:gs pos="65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/>
          </a:p>
        </p:txBody>
      </p:sp>
      <p:sp>
        <p:nvSpPr>
          <p:cNvPr id="985" name="Google Shape;985;p14"/>
          <p:cNvSpPr/>
          <p:nvPr/>
        </p:nvSpPr>
        <p:spPr>
          <a:xfrm>
            <a:off x="4404466" y="3272509"/>
            <a:ext cx="288621" cy="288621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/>
          </a:p>
        </p:txBody>
      </p:sp>
      <p:sp>
        <p:nvSpPr>
          <p:cNvPr id="986" name="Google Shape;986;p14"/>
          <p:cNvSpPr/>
          <p:nvPr/>
        </p:nvSpPr>
        <p:spPr>
          <a:xfrm>
            <a:off x="3701843" y="3272509"/>
            <a:ext cx="288621" cy="288621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/>
          </a:p>
        </p:txBody>
      </p:sp>
      <p:sp>
        <p:nvSpPr>
          <p:cNvPr id="987" name="Google Shape;987;p14"/>
          <p:cNvSpPr/>
          <p:nvPr/>
        </p:nvSpPr>
        <p:spPr>
          <a:xfrm>
            <a:off x="4257366" y="3714334"/>
            <a:ext cx="349231" cy="349231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/>
          </a:p>
        </p:txBody>
      </p:sp>
      <p:sp>
        <p:nvSpPr>
          <p:cNvPr id="988" name="Google Shape;988;p14"/>
          <p:cNvSpPr/>
          <p:nvPr/>
        </p:nvSpPr>
        <p:spPr>
          <a:xfrm>
            <a:off x="5105857" y="3127897"/>
            <a:ext cx="349231" cy="349231"/>
          </a:xfrm>
          <a:prstGeom prst="ellipse">
            <a:avLst/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endParaRPr/>
          </a:p>
        </p:txBody>
      </p:sp>
      <p:sp>
        <p:nvSpPr>
          <p:cNvPr id="989" name="Google Shape;989;p14"/>
          <p:cNvSpPr/>
          <p:nvPr/>
        </p:nvSpPr>
        <p:spPr>
          <a:xfrm>
            <a:off x="4653575" y="2623461"/>
            <a:ext cx="275269" cy="275269"/>
          </a:xfrm>
          <a:prstGeom prst="ellipse">
            <a:avLst/>
          </a:prstGeom>
          <a:gradFill>
            <a:gsLst>
              <a:gs pos="0">
                <a:schemeClr val="accent3"/>
              </a:gs>
              <a:gs pos="65000">
                <a:schemeClr val="accent1"/>
              </a:gs>
              <a:gs pos="100000">
                <a:schemeClr val="accent1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endParaRPr/>
          </a:p>
        </p:txBody>
      </p:sp>
      <p:sp>
        <p:nvSpPr>
          <p:cNvPr id="990" name="Google Shape;990;p14"/>
          <p:cNvSpPr/>
          <p:nvPr/>
        </p:nvSpPr>
        <p:spPr>
          <a:xfrm>
            <a:off x="4579613" y="4114373"/>
            <a:ext cx="349231" cy="349231"/>
          </a:xfrm>
          <a:prstGeom prst="ellipse">
            <a:avLst/>
          </a:prstGeom>
          <a:gradFill>
            <a:gsLst>
              <a:gs pos="0">
                <a:srgbClr val="BFBFBF"/>
              </a:gs>
              <a:gs pos="100000">
                <a:srgbClr val="A5A5A5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/>
          </a:p>
        </p:txBody>
      </p:sp>
      <p:sp>
        <p:nvSpPr>
          <p:cNvPr id="991" name="Google Shape;991;p14"/>
          <p:cNvSpPr/>
          <p:nvPr/>
        </p:nvSpPr>
        <p:spPr>
          <a:xfrm>
            <a:off x="5437807" y="4438571"/>
            <a:ext cx="349231" cy="349231"/>
          </a:xfrm>
          <a:prstGeom prst="ellipse">
            <a:avLst/>
          </a:prstGeom>
          <a:gradFill>
            <a:gsLst>
              <a:gs pos="0">
                <a:srgbClr val="BFBFBF"/>
              </a:gs>
              <a:gs pos="100000">
                <a:srgbClr val="A5A5A5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/>
          </a:p>
        </p:txBody>
      </p:sp>
      <p:sp>
        <p:nvSpPr>
          <p:cNvPr id="992" name="Google Shape;992;p14"/>
          <p:cNvSpPr/>
          <p:nvPr/>
        </p:nvSpPr>
        <p:spPr>
          <a:xfrm>
            <a:off x="6347552" y="4562661"/>
            <a:ext cx="349231" cy="349231"/>
          </a:xfrm>
          <a:prstGeom prst="ellipse">
            <a:avLst/>
          </a:prstGeom>
          <a:gradFill>
            <a:gsLst>
              <a:gs pos="0">
                <a:srgbClr val="BFBFBF"/>
              </a:gs>
              <a:gs pos="100000">
                <a:srgbClr val="A5A5A5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/>
          </a:p>
        </p:txBody>
      </p:sp>
      <p:sp>
        <p:nvSpPr>
          <p:cNvPr id="993" name="Google Shape;993;p14"/>
          <p:cNvSpPr/>
          <p:nvPr/>
        </p:nvSpPr>
        <p:spPr>
          <a:xfrm>
            <a:off x="5868287" y="3972458"/>
            <a:ext cx="317483" cy="317483"/>
          </a:xfrm>
          <a:prstGeom prst="ellipse">
            <a:avLst/>
          </a:prstGeom>
          <a:gradFill>
            <a:gsLst>
              <a:gs pos="0">
                <a:srgbClr val="BFBFBF"/>
              </a:gs>
              <a:gs pos="100000">
                <a:srgbClr val="A5A5A5"/>
              </a:gs>
            </a:gsLst>
            <a:lin ang="2700000" scaled="0"/>
          </a:gradFill>
          <a:ln w="158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endParaRPr/>
          </a:p>
        </p:txBody>
      </p:sp>
      <p:sp>
        <p:nvSpPr>
          <p:cNvPr id="994" name="Google Shape;994;p14"/>
          <p:cNvSpPr/>
          <p:nvPr/>
        </p:nvSpPr>
        <p:spPr>
          <a:xfrm rot="2166282">
            <a:off x="2369740" y="2543298"/>
            <a:ext cx="4980784" cy="1933800"/>
          </a:xfrm>
          <a:prstGeom prst="ellipse">
            <a:avLst/>
          </a:prstGeom>
          <a:noFill/>
          <a:ln w="12700" cap="flat" cmpd="sng">
            <a:solidFill>
              <a:srgbClr val="A5A5A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5" name="Google Shape;995;p14"/>
          <p:cNvSpPr txBox="1"/>
          <p:nvPr/>
        </p:nvSpPr>
        <p:spPr>
          <a:xfrm>
            <a:off x="506746" y="601983"/>
            <a:ext cx="1095373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996" name="Google Shape;996;p14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5"/>
          <p:cNvSpPr/>
          <p:nvPr/>
        </p:nvSpPr>
        <p:spPr>
          <a:xfrm>
            <a:off x="811667" y="2239974"/>
            <a:ext cx="5249340" cy="3897975"/>
          </a:xfrm>
          <a:prstGeom prst="round1Rect">
            <a:avLst>
              <a:gd name="adj" fmla="val 493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2" name="Google Shape;1002;p15"/>
          <p:cNvSpPr txBox="1"/>
          <p:nvPr/>
        </p:nvSpPr>
        <p:spPr>
          <a:xfrm>
            <a:off x="513531" y="1091834"/>
            <a:ext cx="5439423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Potential Risk of Strategic Plan 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03" name="Google Shape;1003;p15"/>
          <p:cNvGrpSpPr/>
          <p:nvPr/>
        </p:nvGrpSpPr>
        <p:grpSpPr>
          <a:xfrm>
            <a:off x="6514458" y="544487"/>
            <a:ext cx="4833972" cy="1071543"/>
            <a:chOff x="6673914" y="1372293"/>
            <a:chExt cx="4833972" cy="1071543"/>
          </a:xfrm>
        </p:grpSpPr>
        <p:sp>
          <p:nvSpPr>
            <p:cNvPr id="1004" name="Google Shape;1004;p15"/>
            <p:cNvSpPr/>
            <p:nvPr/>
          </p:nvSpPr>
          <p:spPr>
            <a:xfrm rot="10800000" flipH="1">
              <a:off x="6673914" y="1656758"/>
              <a:ext cx="2445702" cy="787078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05" name="Google Shape;1005;p15"/>
            <p:cNvSpPr/>
            <p:nvPr/>
          </p:nvSpPr>
          <p:spPr>
            <a:xfrm rot="10800000">
              <a:off x="9119616" y="1656758"/>
              <a:ext cx="2388270" cy="787078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06" name="Google Shape;1006;p15"/>
            <p:cNvSpPr/>
            <p:nvPr/>
          </p:nvSpPr>
          <p:spPr>
            <a:xfrm flipH="1">
              <a:off x="6673914" y="1374833"/>
              <a:ext cx="4833972" cy="281925"/>
            </a:xfrm>
            <a:prstGeom prst="round2SameRect">
              <a:avLst>
                <a:gd name="adj1" fmla="val 44036"/>
                <a:gd name="adj2" fmla="val 0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07" name="Google Shape;1007;p15"/>
            <p:cNvSpPr/>
            <p:nvPr/>
          </p:nvSpPr>
          <p:spPr>
            <a:xfrm flipH="1">
              <a:off x="6673914" y="1374833"/>
              <a:ext cx="641286" cy="281925"/>
            </a:xfrm>
            <a:prstGeom prst="round2SameRect">
              <a:avLst>
                <a:gd name="adj1" fmla="val 44036"/>
                <a:gd name="adj2" fmla="val 0"/>
              </a:avLst>
            </a:prstGeom>
            <a:gradFill>
              <a:gsLst>
                <a:gs pos="0">
                  <a:srgbClr val="9D9AFA"/>
                </a:gs>
                <a:gs pos="100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R1</a:t>
              </a:r>
              <a:endParaRPr/>
            </a:p>
          </p:txBody>
        </p:sp>
        <p:sp>
          <p:nvSpPr>
            <p:cNvPr id="1008" name="Google Shape;1008;p15"/>
            <p:cNvSpPr txBox="1"/>
            <p:nvPr/>
          </p:nvSpPr>
          <p:spPr>
            <a:xfrm>
              <a:off x="7360920" y="1372293"/>
              <a:ext cx="1448199" cy="291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AI Model Failure</a:t>
              </a:r>
              <a:endParaRPr/>
            </a:p>
          </p:txBody>
        </p:sp>
        <p:cxnSp>
          <p:nvCxnSpPr>
            <p:cNvPr id="1009" name="Google Shape;1009;p15"/>
            <p:cNvCxnSpPr/>
            <p:nvPr/>
          </p:nvCxnSpPr>
          <p:spPr>
            <a:xfrm>
              <a:off x="6673914" y="1889760"/>
              <a:ext cx="2445702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10" name="Google Shape;1010;p15"/>
            <p:cNvCxnSpPr/>
            <p:nvPr/>
          </p:nvCxnSpPr>
          <p:spPr>
            <a:xfrm>
              <a:off x="6673914" y="2148840"/>
              <a:ext cx="2445702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11" name="Google Shape;1011;p15"/>
            <p:cNvSpPr txBox="1"/>
            <p:nvPr/>
          </p:nvSpPr>
          <p:spPr>
            <a:xfrm>
              <a:off x="6673914" y="1650075"/>
              <a:ext cx="880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Category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12" name="Google Shape;1012;p15"/>
            <p:cNvSpPr txBox="1"/>
            <p:nvPr/>
          </p:nvSpPr>
          <p:spPr>
            <a:xfrm>
              <a:off x="6673914" y="1888836"/>
              <a:ext cx="1388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Strategic Risk Type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13" name="Google Shape;1013;p15"/>
            <p:cNvSpPr txBox="1"/>
            <p:nvPr/>
          </p:nvSpPr>
          <p:spPr>
            <a:xfrm>
              <a:off x="6673914" y="2168236"/>
              <a:ext cx="7784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Priority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14" name="Google Shape;1014;p15"/>
            <p:cNvSpPr txBox="1"/>
            <p:nvPr/>
          </p:nvSpPr>
          <p:spPr>
            <a:xfrm>
              <a:off x="8239570" y="1650075"/>
              <a:ext cx="880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Extreme (16)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15" name="Google Shape;1015;p15"/>
            <p:cNvSpPr txBox="1"/>
            <p:nvPr/>
          </p:nvSpPr>
          <p:spPr>
            <a:xfrm>
              <a:off x="7731570" y="1888836"/>
              <a:ext cx="1388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R,O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16" name="Google Shape;1016;p15"/>
            <p:cNvSpPr txBox="1"/>
            <p:nvPr/>
          </p:nvSpPr>
          <p:spPr>
            <a:xfrm>
              <a:off x="8341170" y="2168236"/>
              <a:ext cx="7784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High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17" name="Google Shape;1017;p15"/>
            <p:cNvSpPr txBox="1"/>
            <p:nvPr/>
          </p:nvSpPr>
          <p:spPr>
            <a:xfrm>
              <a:off x="9254264" y="1741100"/>
              <a:ext cx="2099535" cy="573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Faulty AI outputs could lead I biased decision-making, regulatory scrutiny, and customer distrust.</a:t>
              </a:r>
              <a:endParaRPr/>
            </a:p>
          </p:txBody>
        </p:sp>
      </p:grpSp>
      <p:grpSp>
        <p:nvGrpSpPr>
          <p:cNvPr id="1018" name="Google Shape;1018;p15"/>
          <p:cNvGrpSpPr/>
          <p:nvPr/>
        </p:nvGrpSpPr>
        <p:grpSpPr>
          <a:xfrm>
            <a:off x="6514458" y="1691344"/>
            <a:ext cx="4833972" cy="1071543"/>
            <a:chOff x="6673914" y="1372293"/>
            <a:chExt cx="4833972" cy="1071543"/>
          </a:xfrm>
        </p:grpSpPr>
        <p:sp>
          <p:nvSpPr>
            <p:cNvPr id="1019" name="Google Shape;1019;p15"/>
            <p:cNvSpPr/>
            <p:nvPr/>
          </p:nvSpPr>
          <p:spPr>
            <a:xfrm rot="10800000" flipH="1">
              <a:off x="6673914" y="1656758"/>
              <a:ext cx="2445702" cy="787078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20" name="Google Shape;1020;p15"/>
            <p:cNvSpPr/>
            <p:nvPr/>
          </p:nvSpPr>
          <p:spPr>
            <a:xfrm rot="10800000">
              <a:off x="9119616" y="1656758"/>
              <a:ext cx="2388270" cy="787078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21" name="Google Shape;1021;p15"/>
            <p:cNvSpPr/>
            <p:nvPr/>
          </p:nvSpPr>
          <p:spPr>
            <a:xfrm flipH="1">
              <a:off x="6673914" y="1374833"/>
              <a:ext cx="4833972" cy="281925"/>
            </a:xfrm>
            <a:prstGeom prst="round2SameRect">
              <a:avLst>
                <a:gd name="adj1" fmla="val 44036"/>
                <a:gd name="adj2" fmla="val 0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22" name="Google Shape;1022;p15"/>
            <p:cNvSpPr/>
            <p:nvPr/>
          </p:nvSpPr>
          <p:spPr>
            <a:xfrm flipH="1">
              <a:off x="6673914" y="1374833"/>
              <a:ext cx="641286" cy="281925"/>
            </a:xfrm>
            <a:prstGeom prst="round2SameRect">
              <a:avLst>
                <a:gd name="adj1" fmla="val 44036"/>
                <a:gd name="adj2" fmla="val 0"/>
              </a:avLst>
            </a:prstGeom>
            <a:gradFill>
              <a:gsLst>
                <a:gs pos="0">
                  <a:srgbClr val="9D9AFA"/>
                </a:gs>
                <a:gs pos="100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R2</a:t>
              </a:r>
              <a:endParaRPr/>
            </a:p>
          </p:txBody>
        </p:sp>
        <p:sp>
          <p:nvSpPr>
            <p:cNvPr id="1023" name="Google Shape;1023;p15"/>
            <p:cNvSpPr txBox="1"/>
            <p:nvPr/>
          </p:nvSpPr>
          <p:spPr>
            <a:xfrm>
              <a:off x="7360920" y="1372293"/>
              <a:ext cx="1448199" cy="291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AI Model Failure</a:t>
              </a:r>
              <a:endParaRPr/>
            </a:p>
          </p:txBody>
        </p:sp>
        <p:cxnSp>
          <p:nvCxnSpPr>
            <p:cNvPr id="1024" name="Google Shape;1024;p15"/>
            <p:cNvCxnSpPr/>
            <p:nvPr/>
          </p:nvCxnSpPr>
          <p:spPr>
            <a:xfrm>
              <a:off x="6673914" y="1889760"/>
              <a:ext cx="2445702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25" name="Google Shape;1025;p15"/>
            <p:cNvCxnSpPr/>
            <p:nvPr/>
          </p:nvCxnSpPr>
          <p:spPr>
            <a:xfrm>
              <a:off x="6673914" y="2148840"/>
              <a:ext cx="2445702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26" name="Google Shape;1026;p15"/>
            <p:cNvSpPr txBox="1"/>
            <p:nvPr/>
          </p:nvSpPr>
          <p:spPr>
            <a:xfrm>
              <a:off x="6673914" y="1650075"/>
              <a:ext cx="880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Category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27" name="Google Shape;1027;p15"/>
            <p:cNvSpPr txBox="1"/>
            <p:nvPr/>
          </p:nvSpPr>
          <p:spPr>
            <a:xfrm>
              <a:off x="6673914" y="1888836"/>
              <a:ext cx="1388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Strategic Risk Type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28" name="Google Shape;1028;p15"/>
            <p:cNvSpPr txBox="1"/>
            <p:nvPr/>
          </p:nvSpPr>
          <p:spPr>
            <a:xfrm>
              <a:off x="6673914" y="2168236"/>
              <a:ext cx="7784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Priority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29" name="Google Shape;1029;p15"/>
            <p:cNvSpPr txBox="1"/>
            <p:nvPr/>
          </p:nvSpPr>
          <p:spPr>
            <a:xfrm>
              <a:off x="8002206" y="1650075"/>
              <a:ext cx="1117410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Very High (15)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30" name="Google Shape;1030;p15"/>
            <p:cNvSpPr txBox="1"/>
            <p:nvPr/>
          </p:nvSpPr>
          <p:spPr>
            <a:xfrm>
              <a:off x="7731570" y="1888836"/>
              <a:ext cx="1388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G, R, F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31" name="Google Shape;1031;p15"/>
            <p:cNvSpPr txBox="1"/>
            <p:nvPr/>
          </p:nvSpPr>
          <p:spPr>
            <a:xfrm>
              <a:off x="8341170" y="2168236"/>
              <a:ext cx="7784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High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32" name="Google Shape;1032;p15"/>
            <p:cNvSpPr txBox="1"/>
            <p:nvPr/>
          </p:nvSpPr>
          <p:spPr>
            <a:xfrm>
              <a:off x="9254264" y="1741100"/>
              <a:ext cx="2099535" cy="573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 data breach could result in financial loss, legal penalties and serve reputational damage.</a:t>
              </a:r>
              <a:endParaRPr/>
            </a:p>
          </p:txBody>
        </p:sp>
      </p:grpSp>
      <p:grpSp>
        <p:nvGrpSpPr>
          <p:cNvPr id="1033" name="Google Shape;1033;p15"/>
          <p:cNvGrpSpPr/>
          <p:nvPr/>
        </p:nvGrpSpPr>
        <p:grpSpPr>
          <a:xfrm>
            <a:off x="6514458" y="2838201"/>
            <a:ext cx="4833972" cy="1071543"/>
            <a:chOff x="6673914" y="1372293"/>
            <a:chExt cx="4833972" cy="1071543"/>
          </a:xfrm>
        </p:grpSpPr>
        <p:sp>
          <p:nvSpPr>
            <p:cNvPr id="1034" name="Google Shape;1034;p15"/>
            <p:cNvSpPr/>
            <p:nvPr/>
          </p:nvSpPr>
          <p:spPr>
            <a:xfrm rot="10800000" flipH="1">
              <a:off x="6673914" y="1656758"/>
              <a:ext cx="2445702" cy="787078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5" name="Google Shape;1035;p15"/>
            <p:cNvSpPr/>
            <p:nvPr/>
          </p:nvSpPr>
          <p:spPr>
            <a:xfrm rot="10800000">
              <a:off x="9119616" y="1656758"/>
              <a:ext cx="2388270" cy="787078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6" name="Google Shape;1036;p15"/>
            <p:cNvSpPr/>
            <p:nvPr/>
          </p:nvSpPr>
          <p:spPr>
            <a:xfrm flipH="1">
              <a:off x="6673914" y="1374833"/>
              <a:ext cx="4833972" cy="281925"/>
            </a:xfrm>
            <a:prstGeom prst="round2SameRect">
              <a:avLst>
                <a:gd name="adj1" fmla="val 44036"/>
                <a:gd name="adj2" fmla="val 0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7" name="Google Shape;1037;p15"/>
            <p:cNvSpPr/>
            <p:nvPr/>
          </p:nvSpPr>
          <p:spPr>
            <a:xfrm flipH="1">
              <a:off x="6673914" y="1374833"/>
              <a:ext cx="641286" cy="281925"/>
            </a:xfrm>
            <a:prstGeom prst="round2SameRect">
              <a:avLst>
                <a:gd name="adj1" fmla="val 44036"/>
                <a:gd name="adj2" fmla="val 0"/>
              </a:avLst>
            </a:prstGeom>
            <a:gradFill>
              <a:gsLst>
                <a:gs pos="0">
                  <a:srgbClr val="9D9AFA"/>
                </a:gs>
                <a:gs pos="100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R3</a:t>
              </a:r>
              <a:endParaRPr/>
            </a:p>
          </p:txBody>
        </p:sp>
        <p:sp>
          <p:nvSpPr>
            <p:cNvPr id="1038" name="Google Shape;1038;p15"/>
            <p:cNvSpPr txBox="1"/>
            <p:nvPr/>
          </p:nvSpPr>
          <p:spPr>
            <a:xfrm>
              <a:off x="7360920" y="1372293"/>
              <a:ext cx="1448199" cy="291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AI Model Failure</a:t>
              </a:r>
              <a:endParaRPr/>
            </a:p>
          </p:txBody>
        </p:sp>
        <p:cxnSp>
          <p:nvCxnSpPr>
            <p:cNvPr id="1039" name="Google Shape;1039;p15"/>
            <p:cNvCxnSpPr/>
            <p:nvPr/>
          </p:nvCxnSpPr>
          <p:spPr>
            <a:xfrm>
              <a:off x="6673914" y="1889760"/>
              <a:ext cx="2445702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40" name="Google Shape;1040;p15"/>
            <p:cNvCxnSpPr/>
            <p:nvPr/>
          </p:nvCxnSpPr>
          <p:spPr>
            <a:xfrm>
              <a:off x="6673914" y="2148840"/>
              <a:ext cx="2445702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41" name="Google Shape;1041;p15"/>
            <p:cNvSpPr txBox="1"/>
            <p:nvPr/>
          </p:nvSpPr>
          <p:spPr>
            <a:xfrm>
              <a:off x="6673914" y="1650075"/>
              <a:ext cx="880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Category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42" name="Google Shape;1042;p15"/>
            <p:cNvSpPr txBox="1"/>
            <p:nvPr/>
          </p:nvSpPr>
          <p:spPr>
            <a:xfrm>
              <a:off x="6673914" y="1888836"/>
              <a:ext cx="1388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Strategic Risk Type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43" name="Google Shape;1043;p15"/>
            <p:cNvSpPr txBox="1"/>
            <p:nvPr/>
          </p:nvSpPr>
          <p:spPr>
            <a:xfrm>
              <a:off x="6673914" y="2168236"/>
              <a:ext cx="7784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Priority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44" name="Google Shape;1044;p15"/>
            <p:cNvSpPr txBox="1"/>
            <p:nvPr/>
          </p:nvSpPr>
          <p:spPr>
            <a:xfrm>
              <a:off x="8239570" y="1650075"/>
              <a:ext cx="880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Medium (8)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45" name="Google Shape;1045;p15"/>
            <p:cNvSpPr txBox="1"/>
            <p:nvPr/>
          </p:nvSpPr>
          <p:spPr>
            <a:xfrm>
              <a:off x="7731570" y="1888836"/>
              <a:ext cx="1388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O, C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46" name="Google Shape;1046;p15"/>
            <p:cNvSpPr txBox="1"/>
            <p:nvPr/>
          </p:nvSpPr>
          <p:spPr>
            <a:xfrm>
              <a:off x="8196608" y="2168236"/>
              <a:ext cx="923008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Manageable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47" name="Google Shape;1047;p15"/>
            <p:cNvSpPr txBox="1"/>
            <p:nvPr/>
          </p:nvSpPr>
          <p:spPr>
            <a:xfrm>
              <a:off x="9254264" y="1741100"/>
              <a:ext cx="2099535" cy="573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Service outages could disrupt customer operations, leading to loss of trust and potential revenue impact.</a:t>
              </a:r>
              <a:endParaRPr/>
            </a:p>
          </p:txBody>
        </p:sp>
      </p:grpSp>
      <p:grpSp>
        <p:nvGrpSpPr>
          <p:cNvPr id="1048" name="Google Shape;1048;p15"/>
          <p:cNvGrpSpPr/>
          <p:nvPr/>
        </p:nvGrpSpPr>
        <p:grpSpPr>
          <a:xfrm>
            <a:off x="6514458" y="3985058"/>
            <a:ext cx="4833972" cy="1071543"/>
            <a:chOff x="6673914" y="1372293"/>
            <a:chExt cx="4833972" cy="1071543"/>
          </a:xfrm>
        </p:grpSpPr>
        <p:sp>
          <p:nvSpPr>
            <p:cNvPr id="1049" name="Google Shape;1049;p15"/>
            <p:cNvSpPr/>
            <p:nvPr/>
          </p:nvSpPr>
          <p:spPr>
            <a:xfrm rot="10800000" flipH="1">
              <a:off x="6673914" y="1656758"/>
              <a:ext cx="2445702" cy="787078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0" name="Google Shape;1050;p15"/>
            <p:cNvSpPr/>
            <p:nvPr/>
          </p:nvSpPr>
          <p:spPr>
            <a:xfrm rot="10800000">
              <a:off x="9119616" y="1656758"/>
              <a:ext cx="2388270" cy="787078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1" name="Google Shape;1051;p15"/>
            <p:cNvSpPr/>
            <p:nvPr/>
          </p:nvSpPr>
          <p:spPr>
            <a:xfrm flipH="1">
              <a:off x="6673914" y="1374833"/>
              <a:ext cx="4833972" cy="281925"/>
            </a:xfrm>
            <a:prstGeom prst="round2SameRect">
              <a:avLst>
                <a:gd name="adj1" fmla="val 44036"/>
                <a:gd name="adj2" fmla="val 0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2" name="Google Shape;1052;p15"/>
            <p:cNvSpPr/>
            <p:nvPr/>
          </p:nvSpPr>
          <p:spPr>
            <a:xfrm flipH="1">
              <a:off x="6673914" y="1374833"/>
              <a:ext cx="641286" cy="281925"/>
            </a:xfrm>
            <a:prstGeom prst="round2SameRect">
              <a:avLst>
                <a:gd name="adj1" fmla="val 44036"/>
                <a:gd name="adj2" fmla="val 0"/>
              </a:avLst>
            </a:prstGeom>
            <a:gradFill>
              <a:gsLst>
                <a:gs pos="0">
                  <a:srgbClr val="9D9AFA"/>
                </a:gs>
                <a:gs pos="100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R4</a:t>
              </a:r>
              <a:endParaRPr/>
            </a:p>
          </p:txBody>
        </p:sp>
        <p:sp>
          <p:nvSpPr>
            <p:cNvPr id="1053" name="Google Shape;1053;p15"/>
            <p:cNvSpPr txBox="1"/>
            <p:nvPr/>
          </p:nvSpPr>
          <p:spPr>
            <a:xfrm>
              <a:off x="7360920" y="1372293"/>
              <a:ext cx="1448199" cy="291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AI Model Failure</a:t>
              </a:r>
              <a:endParaRPr/>
            </a:p>
          </p:txBody>
        </p:sp>
        <p:cxnSp>
          <p:nvCxnSpPr>
            <p:cNvPr id="1054" name="Google Shape;1054;p15"/>
            <p:cNvCxnSpPr/>
            <p:nvPr/>
          </p:nvCxnSpPr>
          <p:spPr>
            <a:xfrm>
              <a:off x="6673914" y="1889760"/>
              <a:ext cx="2445702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55" name="Google Shape;1055;p15"/>
            <p:cNvCxnSpPr/>
            <p:nvPr/>
          </p:nvCxnSpPr>
          <p:spPr>
            <a:xfrm>
              <a:off x="6673914" y="2148840"/>
              <a:ext cx="2445702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56" name="Google Shape;1056;p15"/>
            <p:cNvSpPr txBox="1"/>
            <p:nvPr/>
          </p:nvSpPr>
          <p:spPr>
            <a:xfrm>
              <a:off x="6673914" y="1650075"/>
              <a:ext cx="880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Category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7" name="Google Shape;1057;p15"/>
            <p:cNvSpPr txBox="1"/>
            <p:nvPr/>
          </p:nvSpPr>
          <p:spPr>
            <a:xfrm>
              <a:off x="6673914" y="1888836"/>
              <a:ext cx="1388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Strategic Risk Type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8" name="Google Shape;1058;p15"/>
            <p:cNvSpPr txBox="1"/>
            <p:nvPr/>
          </p:nvSpPr>
          <p:spPr>
            <a:xfrm>
              <a:off x="6673914" y="2168236"/>
              <a:ext cx="7784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Priority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59" name="Google Shape;1059;p15"/>
            <p:cNvSpPr txBox="1"/>
            <p:nvPr/>
          </p:nvSpPr>
          <p:spPr>
            <a:xfrm>
              <a:off x="8239570" y="1650075"/>
              <a:ext cx="880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High (12)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60" name="Google Shape;1060;p15"/>
            <p:cNvSpPr txBox="1"/>
            <p:nvPr/>
          </p:nvSpPr>
          <p:spPr>
            <a:xfrm>
              <a:off x="7731570" y="1888836"/>
              <a:ext cx="1388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G, F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61" name="Google Shape;1061;p15"/>
            <p:cNvSpPr txBox="1"/>
            <p:nvPr/>
          </p:nvSpPr>
          <p:spPr>
            <a:xfrm>
              <a:off x="8341170" y="2168236"/>
              <a:ext cx="7784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High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62" name="Google Shape;1062;p15"/>
            <p:cNvSpPr txBox="1"/>
            <p:nvPr/>
          </p:nvSpPr>
          <p:spPr>
            <a:xfrm>
              <a:off x="9254264" y="1741100"/>
              <a:ext cx="2099535" cy="573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Non-compliance with AI ethics laws could lead to fines, operational restrictions and reputational damage.</a:t>
              </a:r>
              <a:endParaRPr/>
            </a:p>
          </p:txBody>
        </p:sp>
      </p:grpSp>
      <p:grpSp>
        <p:nvGrpSpPr>
          <p:cNvPr id="1063" name="Google Shape;1063;p15"/>
          <p:cNvGrpSpPr/>
          <p:nvPr/>
        </p:nvGrpSpPr>
        <p:grpSpPr>
          <a:xfrm>
            <a:off x="6514458" y="5131913"/>
            <a:ext cx="4833972" cy="1071543"/>
            <a:chOff x="6673914" y="1372293"/>
            <a:chExt cx="4833972" cy="1071543"/>
          </a:xfrm>
        </p:grpSpPr>
        <p:sp>
          <p:nvSpPr>
            <p:cNvPr id="1064" name="Google Shape;1064;p15"/>
            <p:cNvSpPr/>
            <p:nvPr/>
          </p:nvSpPr>
          <p:spPr>
            <a:xfrm rot="10800000" flipH="1">
              <a:off x="6673914" y="1656758"/>
              <a:ext cx="2445702" cy="787078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65" name="Google Shape;1065;p15"/>
            <p:cNvSpPr/>
            <p:nvPr/>
          </p:nvSpPr>
          <p:spPr>
            <a:xfrm rot="10800000">
              <a:off x="9119616" y="1656758"/>
              <a:ext cx="2388270" cy="787078"/>
            </a:xfrm>
            <a:prstGeom prst="snipRoundRect">
              <a:avLst>
                <a:gd name="adj1" fmla="val 16667"/>
                <a:gd name="adj2" fmla="val 0"/>
              </a:avLst>
            </a:prstGeom>
            <a:solidFill>
              <a:schemeClr val="accent5"/>
            </a:soli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66" name="Google Shape;1066;p15"/>
            <p:cNvSpPr/>
            <p:nvPr/>
          </p:nvSpPr>
          <p:spPr>
            <a:xfrm flipH="1">
              <a:off x="6673914" y="1374833"/>
              <a:ext cx="4833972" cy="281925"/>
            </a:xfrm>
            <a:prstGeom prst="round2SameRect">
              <a:avLst>
                <a:gd name="adj1" fmla="val 44036"/>
                <a:gd name="adj2" fmla="val 0"/>
              </a:avLst>
            </a:pr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67" name="Google Shape;1067;p15"/>
            <p:cNvSpPr/>
            <p:nvPr/>
          </p:nvSpPr>
          <p:spPr>
            <a:xfrm flipH="1">
              <a:off x="6673914" y="1374833"/>
              <a:ext cx="641286" cy="281925"/>
            </a:xfrm>
            <a:prstGeom prst="round2SameRect">
              <a:avLst>
                <a:gd name="adj1" fmla="val 44036"/>
                <a:gd name="adj2" fmla="val 0"/>
              </a:avLst>
            </a:prstGeom>
            <a:gradFill>
              <a:gsLst>
                <a:gs pos="0">
                  <a:srgbClr val="9D9AFA"/>
                </a:gs>
                <a:gs pos="100000">
                  <a:schemeClr val="accent4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R4</a:t>
              </a:r>
              <a:endParaRPr/>
            </a:p>
          </p:txBody>
        </p:sp>
        <p:sp>
          <p:nvSpPr>
            <p:cNvPr id="1068" name="Google Shape;1068;p15"/>
            <p:cNvSpPr txBox="1"/>
            <p:nvPr/>
          </p:nvSpPr>
          <p:spPr>
            <a:xfrm>
              <a:off x="7360920" y="1372293"/>
              <a:ext cx="1448199" cy="2912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AI Model Failure</a:t>
              </a:r>
              <a:endParaRPr/>
            </a:p>
          </p:txBody>
        </p:sp>
        <p:cxnSp>
          <p:nvCxnSpPr>
            <p:cNvPr id="1069" name="Google Shape;1069;p15"/>
            <p:cNvCxnSpPr/>
            <p:nvPr/>
          </p:nvCxnSpPr>
          <p:spPr>
            <a:xfrm>
              <a:off x="6673914" y="1889760"/>
              <a:ext cx="2445702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070" name="Google Shape;1070;p15"/>
            <p:cNvCxnSpPr/>
            <p:nvPr/>
          </p:nvCxnSpPr>
          <p:spPr>
            <a:xfrm>
              <a:off x="6673914" y="2148840"/>
              <a:ext cx="2445702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71" name="Google Shape;1071;p15"/>
            <p:cNvSpPr txBox="1"/>
            <p:nvPr/>
          </p:nvSpPr>
          <p:spPr>
            <a:xfrm>
              <a:off x="6673914" y="1650075"/>
              <a:ext cx="880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Category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72" name="Google Shape;1072;p15"/>
            <p:cNvSpPr txBox="1"/>
            <p:nvPr/>
          </p:nvSpPr>
          <p:spPr>
            <a:xfrm>
              <a:off x="6673914" y="1888836"/>
              <a:ext cx="1388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Strategic Risk Type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73" name="Google Shape;1073;p15"/>
            <p:cNvSpPr txBox="1"/>
            <p:nvPr/>
          </p:nvSpPr>
          <p:spPr>
            <a:xfrm>
              <a:off x="6673914" y="2168236"/>
              <a:ext cx="7784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Priority</a:t>
              </a:r>
              <a:endParaRPr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74" name="Google Shape;1074;p15"/>
            <p:cNvSpPr txBox="1"/>
            <p:nvPr/>
          </p:nvSpPr>
          <p:spPr>
            <a:xfrm>
              <a:off x="8239570" y="1650075"/>
              <a:ext cx="880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Medium (9)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75" name="Google Shape;1075;p15"/>
            <p:cNvSpPr txBox="1"/>
            <p:nvPr/>
          </p:nvSpPr>
          <p:spPr>
            <a:xfrm>
              <a:off x="7731570" y="1888836"/>
              <a:ext cx="1388046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C, F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76" name="Google Shape;1076;p15"/>
            <p:cNvSpPr txBox="1"/>
            <p:nvPr/>
          </p:nvSpPr>
          <p:spPr>
            <a:xfrm>
              <a:off x="7914897" y="2168236"/>
              <a:ext cx="1204719" cy="2415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000000"/>
                  </a:solidFill>
                  <a:latin typeface="Lato Black"/>
                  <a:ea typeface="Lato Black"/>
                  <a:cs typeface="Lato Black"/>
                  <a:sym typeface="Lato Black"/>
                </a:rPr>
                <a:t>Monitor &amp; MTGT</a:t>
              </a:r>
              <a:endParaRPr sz="9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endParaRPr>
            </a:p>
          </p:txBody>
        </p:sp>
        <p:sp>
          <p:nvSpPr>
            <p:cNvPr id="1077" name="Google Shape;1077;p15"/>
            <p:cNvSpPr txBox="1"/>
            <p:nvPr/>
          </p:nvSpPr>
          <p:spPr>
            <a:xfrm>
              <a:off x="9251698" y="1741100"/>
              <a:ext cx="2199730" cy="5739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Expansion failure could lead to lost investments, difficulty penetrating new markets, and failing customer needs.</a:t>
              </a:r>
              <a:endParaRPr/>
            </a:p>
          </p:txBody>
        </p:sp>
      </p:grpSp>
      <p:sp>
        <p:nvSpPr>
          <p:cNvPr id="1078" name="Google Shape;1078;p15"/>
          <p:cNvSpPr txBox="1"/>
          <p:nvPr/>
        </p:nvSpPr>
        <p:spPr>
          <a:xfrm>
            <a:off x="513533" y="1546115"/>
            <a:ext cx="1071428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STRATEGIC </a:t>
            </a:r>
            <a:endParaRPr/>
          </a:p>
        </p:txBody>
      </p:sp>
      <p:sp>
        <p:nvSpPr>
          <p:cNvPr id="1079" name="Google Shape;1079;p15"/>
          <p:cNvSpPr txBox="1"/>
          <p:nvPr/>
        </p:nvSpPr>
        <p:spPr>
          <a:xfrm>
            <a:off x="513533" y="1801692"/>
            <a:ext cx="1071428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RISK TYPE</a:t>
            </a:r>
            <a:endParaRPr/>
          </a:p>
        </p:txBody>
      </p:sp>
      <p:sp>
        <p:nvSpPr>
          <p:cNvPr id="1080" name="Google Shape;1080;p15"/>
          <p:cNvSpPr txBox="1"/>
          <p:nvPr/>
        </p:nvSpPr>
        <p:spPr>
          <a:xfrm>
            <a:off x="1630943" y="1546115"/>
            <a:ext cx="448329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R =</a:t>
            </a:r>
            <a:endParaRPr/>
          </a:p>
        </p:txBody>
      </p:sp>
      <p:sp>
        <p:nvSpPr>
          <p:cNvPr id="1081" name="Google Shape;1081;p15"/>
          <p:cNvSpPr txBox="1"/>
          <p:nvPr/>
        </p:nvSpPr>
        <p:spPr>
          <a:xfrm>
            <a:off x="1630943" y="1801692"/>
            <a:ext cx="448329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C =</a:t>
            </a:r>
            <a:endParaRPr/>
          </a:p>
        </p:txBody>
      </p:sp>
      <p:sp>
        <p:nvSpPr>
          <p:cNvPr id="1082" name="Google Shape;1082;p15"/>
          <p:cNvSpPr txBox="1"/>
          <p:nvPr/>
        </p:nvSpPr>
        <p:spPr>
          <a:xfrm>
            <a:off x="1909931" y="1578065"/>
            <a:ext cx="857613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Reputational</a:t>
            </a:r>
            <a:endParaRPr/>
          </a:p>
        </p:txBody>
      </p:sp>
      <p:sp>
        <p:nvSpPr>
          <p:cNvPr id="1083" name="Google Shape;1083;p15"/>
          <p:cNvSpPr txBox="1"/>
          <p:nvPr/>
        </p:nvSpPr>
        <p:spPr>
          <a:xfrm>
            <a:off x="1918557" y="1831666"/>
            <a:ext cx="857613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Competitive</a:t>
            </a:r>
            <a:endParaRPr/>
          </a:p>
        </p:txBody>
      </p:sp>
      <p:sp>
        <p:nvSpPr>
          <p:cNvPr id="1084" name="Google Shape;1084;p15"/>
          <p:cNvSpPr txBox="1"/>
          <p:nvPr/>
        </p:nvSpPr>
        <p:spPr>
          <a:xfrm>
            <a:off x="2767660" y="1546115"/>
            <a:ext cx="448329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F =</a:t>
            </a:r>
            <a:endParaRPr/>
          </a:p>
        </p:txBody>
      </p:sp>
      <p:sp>
        <p:nvSpPr>
          <p:cNvPr id="1085" name="Google Shape;1085;p15"/>
          <p:cNvSpPr txBox="1"/>
          <p:nvPr/>
        </p:nvSpPr>
        <p:spPr>
          <a:xfrm>
            <a:off x="2767660" y="1801692"/>
            <a:ext cx="448329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G =</a:t>
            </a:r>
            <a:endParaRPr/>
          </a:p>
        </p:txBody>
      </p:sp>
      <p:sp>
        <p:nvSpPr>
          <p:cNvPr id="1086" name="Google Shape;1086;p15"/>
          <p:cNvSpPr txBox="1"/>
          <p:nvPr/>
        </p:nvSpPr>
        <p:spPr>
          <a:xfrm>
            <a:off x="3046648" y="1578065"/>
            <a:ext cx="857613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Financial</a:t>
            </a:r>
            <a:endParaRPr/>
          </a:p>
        </p:txBody>
      </p:sp>
      <p:sp>
        <p:nvSpPr>
          <p:cNvPr id="1087" name="Google Shape;1087;p15"/>
          <p:cNvSpPr txBox="1"/>
          <p:nvPr/>
        </p:nvSpPr>
        <p:spPr>
          <a:xfrm>
            <a:off x="3063900" y="1831666"/>
            <a:ext cx="857613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Governance </a:t>
            </a:r>
            <a:endParaRPr/>
          </a:p>
        </p:txBody>
      </p:sp>
      <p:sp>
        <p:nvSpPr>
          <p:cNvPr id="1088" name="Google Shape;1088;p15"/>
          <p:cNvSpPr txBox="1"/>
          <p:nvPr/>
        </p:nvSpPr>
        <p:spPr>
          <a:xfrm>
            <a:off x="3849437" y="1546115"/>
            <a:ext cx="448329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accent4"/>
                </a:solidFill>
                <a:latin typeface="Lato Black"/>
                <a:ea typeface="Lato Black"/>
                <a:cs typeface="Lato Black"/>
                <a:sym typeface="Lato Black"/>
              </a:rPr>
              <a:t>O =</a:t>
            </a:r>
            <a:endParaRPr/>
          </a:p>
        </p:txBody>
      </p:sp>
      <p:sp>
        <p:nvSpPr>
          <p:cNvPr id="1089" name="Google Shape;1089;p15"/>
          <p:cNvSpPr txBox="1"/>
          <p:nvPr/>
        </p:nvSpPr>
        <p:spPr>
          <a:xfrm>
            <a:off x="4145677" y="1578065"/>
            <a:ext cx="857613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Operational</a:t>
            </a:r>
            <a:endParaRPr/>
          </a:p>
        </p:txBody>
      </p:sp>
      <p:cxnSp>
        <p:nvCxnSpPr>
          <p:cNvPr id="1090" name="Google Shape;1090;p15"/>
          <p:cNvCxnSpPr/>
          <p:nvPr/>
        </p:nvCxnSpPr>
        <p:spPr>
          <a:xfrm rot="10800000">
            <a:off x="811667" y="2239974"/>
            <a:ext cx="0" cy="391775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91" name="Google Shape;1091;p15"/>
          <p:cNvCxnSpPr/>
          <p:nvPr/>
        </p:nvCxnSpPr>
        <p:spPr>
          <a:xfrm>
            <a:off x="811667" y="6157732"/>
            <a:ext cx="524935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92" name="Google Shape;1092;p15"/>
          <p:cNvSpPr/>
          <p:nvPr/>
        </p:nvSpPr>
        <p:spPr>
          <a:xfrm flipH="1">
            <a:off x="1629726" y="2339478"/>
            <a:ext cx="825706" cy="674454"/>
          </a:xfrm>
          <a:prstGeom prst="round1Rect">
            <a:avLst>
              <a:gd name="adj" fmla="val 1254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3" name="Google Shape;1093;p15"/>
          <p:cNvSpPr/>
          <p:nvPr/>
        </p:nvSpPr>
        <p:spPr>
          <a:xfrm>
            <a:off x="5127249" y="2339478"/>
            <a:ext cx="825706" cy="674454"/>
          </a:xfrm>
          <a:prstGeom prst="round1Rect">
            <a:avLst>
              <a:gd name="adj" fmla="val 12548"/>
            </a:avLst>
          </a:prstGeom>
          <a:solidFill>
            <a:srgbClr val="BDB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4" name="Google Shape;1094;p15"/>
          <p:cNvSpPr/>
          <p:nvPr/>
        </p:nvSpPr>
        <p:spPr>
          <a:xfrm>
            <a:off x="2504107" y="5236559"/>
            <a:ext cx="825706" cy="674454"/>
          </a:xfrm>
          <a:prstGeom prst="rect">
            <a:avLst/>
          </a:prstGeom>
          <a:solidFill>
            <a:srgbClr val="EEDC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5" name="Google Shape;1095;p15"/>
          <p:cNvSpPr/>
          <p:nvPr/>
        </p:nvSpPr>
        <p:spPr>
          <a:xfrm>
            <a:off x="4252869" y="2339478"/>
            <a:ext cx="825706" cy="674454"/>
          </a:xfrm>
          <a:prstGeom prst="rect">
            <a:avLst/>
          </a:prstGeom>
          <a:solidFill>
            <a:srgbClr val="DDDC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6" name="Google Shape;1096;p15"/>
          <p:cNvSpPr/>
          <p:nvPr/>
        </p:nvSpPr>
        <p:spPr>
          <a:xfrm>
            <a:off x="3378488" y="2339478"/>
            <a:ext cx="825706" cy="674454"/>
          </a:xfrm>
          <a:prstGeom prst="rect">
            <a:avLst/>
          </a:prstGeom>
          <a:solidFill>
            <a:srgbClr val="DDDCFD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7" name="Google Shape;1097;p15"/>
          <p:cNvSpPr/>
          <p:nvPr/>
        </p:nvSpPr>
        <p:spPr>
          <a:xfrm>
            <a:off x="2504107" y="2339477"/>
            <a:ext cx="825706" cy="674454"/>
          </a:xfrm>
          <a:prstGeom prst="rect">
            <a:avLst/>
          </a:prstGeom>
          <a:solidFill>
            <a:srgbClr val="DDDCFD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8" name="Google Shape;1098;p15"/>
          <p:cNvSpPr/>
          <p:nvPr/>
        </p:nvSpPr>
        <p:spPr>
          <a:xfrm>
            <a:off x="2504107" y="3056405"/>
            <a:ext cx="825706" cy="6744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9" name="Google Shape;1099;p15"/>
          <p:cNvSpPr/>
          <p:nvPr/>
        </p:nvSpPr>
        <p:spPr>
          <a:xfrm>
            <a:off x="2504107" y="3783123"/>
            <a:ext cx="825706" cy="67445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0" name="Google Shape;1100;p15"/>
          <p:cNvSpPr/>
          <p:nvPr/>
        </p:nvSpPr>
        <p:spPr>
          <a:xfrm>
            <a:off x="2504107" y="4509841"/>
            <a:ext cx="825706" cy="674454"/>
          </a:xfrm>
          <a:prstGeom prst="rect">
            <a:avLst/>
          </a:prstGeom>
          <a:solidFill>
            <a:srgbClr val="E4C5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1" name="Google Shape;1101;p15"/>
          <p:cNvSpPr/>
          <p:nvPr/>
        </p:nvSpPr>
        <p:spPr>
          <a:xfrm>
            <a:off x="3378488" y="5236559"/>
            <a:ext cx="825706" cy="674454"/>
          </a:xfrm>
          <a:prstGeom prst="rect">
            <a:avLst/>
          </a:prstGeom>
          <a:solidFill>
            <a:srgbClr val="E4C5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2" name="Google Shape;1102;p15"/>
          <p:cNvSpPr/>
          <p:nvPr/>
        </p:nvSpPr>
        <p:spPr>
          <a:xfrm>
            <a:off x="3378488" y="3056405"/>
            <a:ext cx="825706" cy="674454"/>
          </a:xfrm>
          <a:prstGeom prst="rect">
            <a:avLst/>
          </a:prstGeom>
          <a:solidFill>
            <a:srgbClr val="DDDCFD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3" name="Google Shape;1103;p15"/>
          <p:cNvSpPr/>
          <p:nvPr/>
        </p:nvSpPr>
        <p:spPr>
          <a:xfrm>
            <a:off x="3378488" y="3783123"/>
            <a:ext cx="825706" cy="6744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4" name="Google Shape;1104;p15"/>
          <p:cNvSpPr/>
          <p:nvPr/>
        </p:nvSpPr>
        <p:spPr>
          <a:xfrm>
            <a:off x="3378488" y="4509841"/>
            <a:ext cx="825706" cy="67445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5" name="Google Shape;1105;p15"/>
          <p:cNvSpPr/>
          <p:nvPr/>
        </p:nvSpPr>
        <p:spPr>
          <a:xfrm>
            <a:off x="4252869" y="5236559"/>
            <a:ext cx="825706" cy="67445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6" name="Google Shape;1106;p15"/>
          <p:cNvSpPr/>
          <p:nvPr/>
        </p:nvSpPr>
        <p:spPr>
          <a:xfrm>
            <a:off x="4252869" y="3056405"/>
            <a:ext cx="825706" cy="674454"/>
          </a:xfrm>
          <a:prstGeom prst="rect">
            <a:avLst/>
          </a:prstGeom>
          <a:solidFill>
            <a:srgbClr val="DDDCFD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7" name="Google Shape;1107;p15"/>
          <p:cNvSpPr/>
          <p:nvPr/>
        </p:nvSpPr>
        <p:spPr>
          <a:xfrm>
            <a:off x="4252869" y="3783123"/>
            <a:ext cx="825706" cy="674454"/>
          </a:xfrm>
          <a:prstGeom prst="rect">
            <a:avLst/>
          </a:prstGeom>
          <a:solidFill>
            <a:srgbClr val="DDDCFD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8" name="Google Shape;1108;p15"/>
          <p:cNvSpPr/>
          <p:nvPr/>
        </p:nvSpPr>
        <p:spPr>
          <a:xfrm>
            <a:off x="4252869" y="4509841"/>
            <a:ext cx="825706" cy="67445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9" name="Google Shape;1109;p15"/>
          <p:cNvSpPr/>
          <p:nvPr/>
        </p:nvSpPr>
        <p:spPr>
          <a:xfrm>
            <a:off x="5127249" y="3056405"/>
            <a:ext cx="825706" cy="674454"/>
          </a:xfrm>
          <a:prstGeom prst="rect">
            <a:avLst/>
          </a:prstGeom>
          <a:solidFill>
            <a:srgbClr val="DDDC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0" name="Google Shape;1110;p15"/>
          <p:cNvSpPr/>
          <p:nvPr/>
        </p:nvSpPr>
        <p:spPr>
          <a:xfrm>
            <a:off x="5127249" y="3783123"/>
            <a:ext cx="825706" cy="674454"/>
          </a:xfrm>
          <a:prstGeom prst="rect">
            <a:avLst/>
          </a:prstGeom>
          <a:solidFill>
            <a:srgbClr val="DDDCFD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1" name="Google Shape;1111;p15"/>
          <p:cNvSpPr/>
          <p:nvPr/>
        </p:nvSpPr>
        <p:spPr>
          <a:xfrm>
            <a:off x="5127249" y="4509841"/>
            <a:ext cx="825706" cy="674454"/>
          </a:xfrm>
          <a:prstGeom prst="rect">
            <a:avLst/>
          </a:prstGeom>
          <a:solidFill>
            <a:srgbClr val="DDDCFD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2" name="Google Shape;1112;p15"/>
          <p:cNvSpPr/>
          <p:nvPr/>
        </p:nvSpPr>
        <p:spPr>
          <a:xfrm>
            <a:off x="1629726" y="3056405"/>
            <a:ext cx="825706" cy="67445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3" name="Google Shape;1113;p15"/>
          <p:cNvSpPr/>
          <p:nvPr/>
        </p:nvSpPr>
        <p:spPr>
          <a:xfrm>
            <a:off x="1629726" y="3783123"/>
            <a:ext cx="825706" cy="674454"/>
          </a:xfrm>
          <a:prstGeom prst="rect">
            <a:avLst/>
          </a:prstGeom>
          <a:solidFill>
            <a:srgbClr val="E4C5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4" name="Google Shape;1114;p15"/>
          <p:cNvSpPr/>
          <p:nvPr/>
        </p:nvSpPr>
        <p:spPr>
          <a:xfrm>
            <a:off x="1629726" y="4509841"/>
            <a:ext cx="825706" cy="674454"/>
          </a:xfrm>
          <a:prstGeom prst="rect">
            <a:avLst/>
          </a:prstGeom>
          <a:solidFill>
            <a:srgbClr val="EEDC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5" name="Google Shape;1115;p15"/>
          <p:cNvSpPr/>
          <p:nvPr/>
        </p:nvSpPr>
        <p:spPr>
          <a:xfrm rot="10800000">
            <a:off x="1629726" y="5234019"/>
            <a:ext cx="825706" cy="674454"/>
          </a:xfrm>
          <a:prstGeom prst="round1Rect">
            <a:avLst>
              <a:gd name="adj" fmla="val 12548"/>
            </a:avLst>
          </a:prstGeom>
          <a:solidFill>
            <a:srgbClr val="EEDCFD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6" name="Google Shape;1116;p15"/>
          <p:cNvSpPr/>
          <p:nvPr/>
        </p:nvSpPr>
        <p:spPr>
          <a:xfrm rot="10800000" flipH="1">
            <a:off x="5127249" y="5234019"/>
            <a:ext cx="825706" cy="674454"/>
          </a:xfrm>
          <a:prstGeom prst="round1Rect">
            <a:avLst>
              <a:gd name="adj" fmla="val 1254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7" name="Google Shape;1117;p15"/>
          <p:cNvSpPr txBox="1"/>
          <p:nvPr/>
        </p:nvSpPr>
        <p:spPr>
          <a:xfrm>
            <a:off x="1656350" y="5288206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8" name="Google Shape;1118;p15"/>
          <p:cNvSpPr txBox="1"/>
          <p:nvPr/>
        </p:nvSpPr>
        <p:spPr>
          <a:xfrm>
            <a:off x="1656350" y="4563806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9" name="Google Shape;1119;p15"/>
          <p:cNvSpPr txBox="1"/>
          <p:nvPr/>
        </p:nvSpPr>
        <p:spPr>
          <a:xfrm>
            <a:off x="1656350" y="3840879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0" name="Google Shape;1120;p15"/>
          <p:cNvSpPr txBox="1"/>
          <p:nvPr/>
        </p:nvSpPr>
        <p:spPr>
          <a:xfrm>
            <a:off x="1656350" y="3116479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1" name="Google Shape;1121;p15"/>
          <p:cNvSpPr txBox="1"/>
          <p:nvPr/>
        </p:nvSpPr>
        <p:spPr>
          <a:xfrm>
            <a:off x="1656350" y="2400858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2" name="Google Shape;1122;p15"/>
          <p:cNvSpPr txBox="1"/>
          <p:nvPr/>
        </p:nvSpPr>
        <p:spPr>
          <a:xfrm>
            <a:off x="2555067" y="5288206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3" name="Google Shape;1123;p15"/>
          <p:cNvSpPr txBox="1"/>
          <p:nvPr/>
        </p:nvSpPr>
        <p:spPr>
          <a:xfrm>
            <a:off x="2555067" y="4563806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4" name="Google Shape;1124;p15"/>
          <p:cNvSpPr txBox="1"/>
          <p:nvPr/>
        </p:nvSpPr>
        <p:spPr>
          <a:xfrm>
            <a:off x="2555067" y="3840879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5" name="Google Shape;1125;p15"/>
          <p:cNvSpPr txBox="1"/>
          <p:nvPr/>
        </p:nvSpPr>
        <p:spPr>
          <a:xfrm>
            <a:off x="2555067" y="3116479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6" name="Google Shape;1126;p15"/>
          <p:cNvSpPr txBox="1"/>
          <p:nvPr/>
        </p:nvSpPr>
        <p:spPr>
          <a:xfrm>
            <a:off x="2555067" y="2400858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7" name="Google Shape;1127;p15"/>
          <p:cNvSpPr txBox="1"/>
          <p:nvPr/>
        </p:nvSpPr>
        <p:spPr>
          <a:xfrm>
            <a:off x="3422225" y="5288206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8" name="Google Shape;1128;p15"/>
          <p:cNvSpPr txBox="1"/>
          <p:nvPr/>
        </p:nvSpPr>
        <p:spPr>
          <a:xfrm>
            <a:off x="3422225" y="4563806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9" name="Google Shape;1129;p15"/>
          <p:cNvSpPr txBox="1"/>
          <p:nvPr/>
        </p:nvSpPr>
        <p:spPr>
          <a:xfrm>
            <a:off x="3422225" y="3840879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0" name="Google Shape;1130;p15"/>
          <p:cNvSpPr txBox="1"/>
          <p:nvPr/>
        </p:nvSpPr>
        <p:spPr>
          <a:xfrm>
            <a:off x="3422225" y="3116479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1" name="Google Shape;1131;p15"/>
          <p:cNvSpPr txBox="1"/>
          <p:nvPr/>
        </p:nvSpPr>
        <p:spPr>
          <a:xfrm>
            <a:off x="3422225" y="2400858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2" name="Google Shape;1132;p15"/>
          <p:cNvSpPr txBox="1"/>
          <p:nvPr/>
        </p:nvSpPr>
        <p:spPr>
          <a:xfrm>
            <a:off x="4296606" y="5288206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3" name="Google Shape;1133;p15"/>
          <p:cNvSpPr txBox="1"/>
          <p:nvPr/>
        </p:nvSpPr>
        <p:spPr>
          <a:xfrm>
            <a:off x="4296606" y="4563806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4" name="Google Shape;1134;p15"/>
          <p:cNvSpPr txBox="1"/>
          <p:nvPr/>
        </p:nvSpPr>
        <p:spPr>
          <a:xfrm>
            <a:off x="4296606" y="3840879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5" name="Google Shape;1135;p15"/>
          <p:cNvSpPr txBox="1"/>
          <p:nvPr/>
        </p:nvSpPr>
        <p:spPr>
          <a:xfrm>
            <a:off x="4296606" y="3116479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16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6" name="Google Shape;1136;p15"/>
          <p:cNvSpPr txBox="1"/>
          <p:nvPr/>
        </p:nvSpPr>
        <p:spPr>
          <a:xfrm>
            <a:off x="4296606" y="2400858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20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7" name="Google Shape;1137;p15"/>
          <p:cNvSpPr txBox="1"/>
          <p:nvPr/>
        </p:nvSpPr>
        <p:spPr>
          <a:xfrm>
            <a:off x="5194579" y="5288206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8" name="Google Shape;1138;p15"/>
          <p:cNvSpPr txBox="1"/>
          <p:nvPr/>
        </p:nvSpPr>
        <p:spPr>
          <a:xfrm>
            <a:off x="5194579" y="4563806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9" name="Google Shape;1139;p15"/>
          <p:cNvSpPr txBox="1"/>
          <p:nvPr/>
        </p:nvSpPr>
        <p:spPr>
          <a:xfrm>
            <a:off x="5194579" y="3840879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0" name="Google Shape;1140;p15"/>
          <p:cNvSpPr txBox="1"/>
          <p:nvPr/>
        </p:nvSpPr>
        <p:spPr>
          <a:xfrm>
            <a:off x="5194579" y="3116479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20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1" name="Google Shape;1141;p15"/>
          <p:cNvSpPr txBox="1"/>
          <p:nvPr/>
        </p:nvSpPr>
        <p:spPr>
          <a:xfrm>
            <a:off x="5194579" y="2400858"/>
            <a:ext cx="369115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2" name="Google Shape;1142;p15"/>
          <p:cNvSpPr/>
          <p:nvPr/>
        </p:nvSpPr>
        <p:spPr>
          <a:xfrm flipH="1">
            <a:off x="4449155" y="4760301"/>
            <a:ext cx="481807" cy="21181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R2</a:t>
            </a:r>
            <a:endParaRPr/>
          </a:p>
        </p:txBody>
      </p:sp>
      <p:sp>
        <p:nvSpPr>
          <p:cNvPr id="1143" name="Google Shape;1143;p15"/>
          <p:cNvSpPr/>
          <p:nvPr/>
        </p:nvSpPr>
        <p:spPr>
          <a:xfrm flipH="1">
            <a:off x="3550437" y="4058624"/>
            <a:ext cx="481807" cy="21181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R5</a:t>
            </a:r>
            <a:endParaRPr/>
          </a:p>
        </p:txBody>
      </p:sp>
      <p:sp>
        <p:nvSpPr>
          <p:cNvPr id="1144" name="Google Shape;1144;p15"/>
          <p:cNvSpPr/>
          <p:nvPr/>
        </p:nvSpPr>
        <p:spPr>
          <a:xfrm flipH="1">
            <a:off x="3550437" y="3344956"/>
            <a:ext cx="481807" cy="21181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R4</a:t>
            </a:r>
            <a:endParaRPr/>
          </a:p>
        </p:txBody>
      </p:sp>
      <p:sp>
        <p:nvSpPr>
          <p:cNvPr id="1145" name="Google Shape;1145;p15"/>
          <p:cNvSpPr/>
          <p:nvPr/>
        </p:nvSpPr>
        <p:spPr>
          <a:xfrm flipH="1">
            <a:off x="4438204" y="3344956"/>
            <a:ext cx="481807" cy="21181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R1</a:t>
            </a:r>
            <a:endParaRPr/>
          </a:p>
        </p:txBody>
      </p:sp>
      <p:sp>
        <p:nvSpPr>
          <p:cNvPr id="1146" name="Google Shape;1146;p15"/>
          <p:cNvSpPr/>
          <p:nvPr/>
        </p:nvSpPr>
        <p:spPr>
          <a:xfrm flipH="1">
            <a:off x="5299198" y="4068826"/>
            <a:ext cx="481807" cy="21181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R2</a:t>
            </a:r>
            <a:endParaRPr/>
          </a:p>
        </p:txBody>
      </p:sp>
      <p:sp>
        <p:nvSpPr>
          <p:cNvPr id="1147" name="Google Shape;1147;p15"/>
          <p:cNvSpPr txBox="1"/>
          <p:nvPr/>
        </p:nvSpPr>
        <p:spPr>
          <a:xfrm>
            <a:off x="900027" y="2467983"/>
            <a:ext cx="681024" cy="407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Almost Certain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8" name="Google Shape;1148;p15"/>
          <p:cNvSpPr txBox="1"/>
          <p:nvPr/>
        </p:nvSpPr>
        <p:spPr>
          <a:xfrm>
            <a:off x="900027" y="3312077"/>
            <a:ext cx="681024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Likely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9" name="Google Shape;1149;p15"/>
          <p:cNvSpPr txBox="1"/>
          <p:nvPr/>
        </p:nvSpPr>
        <p:spPr>
          <a:xfrm>
            <a:off x="900027" y="4004590"/>
            <a:ext cx="756322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Moderate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0" name="Google Shape;1150;p15"/>
          <p:cNvSpPr txBox="1"/>
          <p:nvPr/>
        </p:nvSpPr>
        <p:spPr>
          <a:xfrm>
            <a:off x="900027" y="4751160"/>
            <a:ext cx="756322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Unlikely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1" name="Google Shape;1151;p15"/>
          <p:cNvSpPr txBox="1"/>
          <p:nvPr/>
        </p:nvSpPr>
        <p:spPr>
          <a:xfrm>
            <a:off x="900027" y="5421465"/>
            <a:ext cx="756322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Rare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2" name="Google Shape;1152;p15"/>
          <p:cNvSpPr txBox="1"/>
          <p:nvPr/>
        </p:nvSpPr>
        <p:spPr>
          <a:xfrm>
            <a:off x="1629729" y="5916760"/>
            <a:ext cx="82570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Insignificant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3" name="Google Shape;1153;p15"/>
          <p:cNvSpPr txBox="1"/>
          <p:nvPr/>
        </p:nvSpPr>
        <p:spPr>
          <a:xfrm>
            <a:off x="2504104" y="5916760"/>
            <a:ext cx="82570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Minor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4" name="Google Shape;1154;p15"/>
          <p:cNvSpPr txBox="1"/>
          <p:nvPr/>
        </p:nvSpPr>
        <p:spPr>
          <a:xfrm>
            <a:off x="3383692" y="5916760"/>
            <a:ext cx="82570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Significant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5" name="Google Shape;1155;p15"/>
          <p:cNvSpPr txBox="1"/>
          <p:nvPr/>
        </p:nvSpPr>
        <p:spPr>
          <a:xfrm>
            <a:off x="4264923" y="5916760"/>
            <a:ext cx="82570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Major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6" name="Google Shape;1156;p15"/>
          <p:cNvSpPr txBox="1"/>
          <p:nvPr/>
        </p:nvSpPr>
        <p:spPr>
          <a:xfrm>
            <a:off x="5127249" y="5916760"/>
            <a:ext cx="825700" cy="2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Severe</a:t>
            </a:r>
            <a:endParaRPr sz="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7" name="Google Shape;1157;p15"/>
          <p:cNvSpPr txBox="1"/>
          <p:nvPr/>
        </p:nvSpPr>
        <p:spPr>
          <a:xfrm>
            <a:off x="3378488" y="6168182"/>
            <a:ext cx="825700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IMPACT</a:t>
            </a:r>
            <a:endParaRPr sz="10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158" name="Google Shape;1158;p15"/>
          <p:cNvSpPr txBox="1"/>
          <p:nvPr/>
        </p:nvSpPr>
        <p:spPr>
          <a:xfrm rot="-5400000">
            <a:off x="87632" y="4035456"/>
            <a:ext cx="1109949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PROBABILITY</a:t>
            </a:r>
            <a:endParaRPr sz="10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159" name="Google Shape;1159;p15"/>
          <p:cNvSpPr txBox="1"/>
          <p:nvPr/>
        </p:nvSpPr>
        <p:spPr>
          <a:xfrm>
            <a:off x="506746" y="601983"/>
            <a:ext cx="544620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1160" name="Google Shape;1160;p15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6"/>
          <p:cNvSpPr/>
          <p:nvPr/>
        </p:nvSpPr>
        <p:spPr>
          <a:xfrm>
            <a:off x="524257" y="1696834"/>
            <a:ext cx="11143484" cy="4483091"/>
          </a:xfrm>
          <a:prstGeom prst="roundRect">
            <a:avLst>
              <a:gd name="adj" fmla="val 320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6" name="Google Shape;1166;p16"/>
          <p:cNvSpPr/>
          <p:nvPr/>
        </p:nvSpPr>
        <p:spPr>
          <a:xfrm>
            <a:off x="2798064" y="2202542"/>
            <a:ext cx="8869677" cy="16417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7" name="Google Shape;1167;p16"/>
          <p:cNvSpPr/>
          <p:nvPr/>
        </p:nvSpPr>
        <p:spPr>
          <a:xfrm flipH="1">
            <a:off x="524258" y="1702063"/>
            <a:ext cx="2493262" cy="500482"/>
          </a:xfrm>
          <a:prstGeom prst="round2SameRect">
            <a:avLst>
              <a:gd name="adj1" fmla="val 27784"/>
              <a:gd name="adj2" fmla="val 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8" name="Google Shape;1168;p16"/>
          <p:cNvSpPr/>
          <p:nvPr/>
        </p:nvSpPr>
        <p:spPr>
          <a:xfrm flipH="1">
            <a:off x="2798064" y="1702063"/>
            <a:ext cx="8869677" cy="500482"/>
          </a:xfrm>
          <a:prstGeom prst="round2SameRect">
            <a:avLst>
              <a:gd name="adj1" fmla="val 27784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9" name="Google Shape;1169;p16"/>
          <p:cNvSpPr txBox="1"/>
          <p:nvPr/>
        </p:nvSpPr>
        <p:spPr>
          <a:xfrm>
            <a:off x="513532" y="1125013"/>
            <a:ext cx="10907688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Al Strategy implementation is expected to be carried out over the next 5 years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0" name="Google Shape;1170;p16"/>
          <p:cNvSpPr txBox="1"/>
          <p:nvPr/>
        </p:nvSpPr>
        <p:spPr>
          <a:xfrm>
            <a:off x="3147085" y="1773472"/>
            <a:ext cx="1534724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PHASE 1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1" name="Google Shape;1171;p16"/>
          <p:cNvSpPr txBox="1"/>
          <p:nvPr/>
        </p:nvSpPr>
        <p:spPr>
          <a:xfrm>
            <a:off x="5424876" y="1773472"/>
            <a:ext cx="1534724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PHASE 2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2" name="Google Shape;1172;p16"/>
          <p:cNvSpPr txBox="1"/>
          <p:nvPr/>
        </p:nvSpPr>
        <p:spPr>
          <a:xfrm>
            <a:off x="7409406" y="1773472"/>
            <a:ext cx="1534724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PHASE 3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3" name="Google Shape;1173;p16"/>
          <p:cNvSpPr txBox="1"/>
          <p:nvPr/>
        </p:nvSpPr>
        <p:spPr>
          <a:xfrm>
            <a:off x="9705450" y="1773472"/>
            <a:ext cx="1534724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PHASE4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74" name="Google Shape;1174;p16"/>
          <p:cNvGrpSpPr/>
          <p:nvPr/>
        </p:nvGrpSpPr>
        <p:grpSpPr>
          <a:xfrm rot="-5400000">
            <a:off x="9209310" y="1753560"/>
            <a:ext cx="133648" cy="397485"/>
            <a:chOff x="8797156" y="3203243"/>
            <a:chExt cx="133648" cy="397485"/>
          </a:xfrm>
        </p:grpSpPr>
        <p:sp>
          <p:nvSpPr>
            <p:cNvPr id="1175" name="Google Shape;1175;p16"/>
            <p:cNvSpPr/>
            <p:nvPr/>
          </p:nvSpPr>
          <p:spPr>
            <a:xfrm rot="10800000">
              <a:off x="8797156" y="3203243"/>
              <a:ext cx="133648" cy="108614"/>
            </a:xfrm>
            <a:prstGeom prst="triangle">
              <a:avLst>
                <a:gd name="adj" fmla="val 50000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76" name="Google Shape;1176;p16"/>
            <p:cNvSpPr/>
            <p:nvPr/>
          </p:nvSpPr>
          <p:spPr>
            <a:xfrm rot="10800000">
              <a:off x="8797156" y="3337549"/>
              <a:ext cx="133648" cy="108614"/>
            </a:xfrm>
            <a:prstGeom prst="triangle">
              <a:avLst>
                <a:gd name="adj" fmla="val 50000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77" name="Google Shape;1177;p16"/>
            <p:cNvSpPr/>
            <p:nvPr/>
          </p:nvSpPr>
          <p:spPr>
            <a:xfrm rot="10800000">
              <a:off x="8797156" y="3492114"/>
              <a:ext cx="133648" cy="108614"/>
            </a:xfrm>
            <a:prstGeom prst="triangle">
              <a:avLst>
                <a:gd name="adj" fmla="val 50000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178" name="Google Shape;1178;p16"/>
          <p:cNvGrpSpPr/>
          <p:nvPr/>
        </p:nvGrpSpPr>
        <p:grpSpPr>
          <a:xfrm rot="-5400000">
            <a:off x="7166077" y="1753560"/>
            <a:ext cx="133648" cy="397485"/>
            <a:chOff x="8797156" y="3203243"/>
            <a:chExt cx="133648" cy="397485"/>
          </a:xfrm>
        </p:grpSpPr>
        <p:sp>
          <p:nvSpPr>
            <p:cNvPr id="1179" name="Google Shape;1179;p16"/>
            <p:cNvSpPr/>
            <p:nvPr/>
          </p:nvSpPr>
          <p:spPr>
            <a:xfrm rot="10800000">
              <a:off x="8797156" y="3203243"/>
              <a:ext cx="133648" cy="108614"/>
            </a:xfrm>
            <a:prstGeom prst="triangle">
              <a:avLst>
                <a:gd name="adj" fmla="val 50000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80" name="Google Shape;1180;p16"/>
            <p:cNvSpPr/>
            <p:nvPr/>
          </p:nvSpPr>
          <p:spPr>
            <a:xfrm rot="10800000">
              <a:off x="8797156" y="3337549"/>
              <a:ext cx="133648" cy="108614"/>
            </a:xfrm>
            <a:prstGeom prst="triangle">
              <a:avLst>
                <a:gd name="adj" fmla="val 50000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81" name="Google Shape;1181;p16"/>
            <p:cNvSpPr/>
            <p:nvPr/>
          </p:nvSpPr>
          <p:spPr>
            <a:xfrm rot="10800000">
              <a:off x="8797156" y="3492114"/>
              <a:ext cx="133648" cy="108614"/>
            </a:xfrm>
            <a:prstGeom prst="triangle">
              <a:avLst>
                <a:gd name="adj" fmla="val 50000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182" name="Google Shape;1182;p16"/>
          <p:cNvGrpSpPr/>
          <p:nvPr/>
        </p:nvGrpSpPr>
        <p:grpSpPr>
          <a:xfrm rot="-5400000">
            <a:off x="5106988" y="1753560"/>
            <a:ext cx="133648" cy="397485"/>
            <a:chOff x="8797156" y="3203243"/>
            <a:chExt cx="133648" cy="397485"/>
          </a:xfrm>
        </p:grpSpPr>
        <p:sp>
          <p:nvSpPr>
            <p:cNvPr id="1183" name="Google Shape;1183;p16"/>
            <p:cNvSpPr/>
            <p:nvPr/>
          </p:nvSpPr>
          <p:spPr>
            <a:xfrm rot="10800000">
              <a:off x="8797156" y="3203243"/>
              <a:ext cx="133648" cy="108614"/>
            </a:xfrm>
            <a:prstGeom prst="triangle">
              <a:avLst>
                <a:gd name="adj" fmla="val 50000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84" name="Google Shape;1184;p16"/>
            <p:cNvSpPr/>
            <p:nvPr/>
          </p:nvSpPr>
          <p:spPr>
            <a:xfrm rot="10800000">
              <a:off x="8797156" y="3337549"/>
              <a:ext cx="133648" cy="108614"/>
            </a:xfrm>
            <a:prstGeom prst="triangle">
              <a:avLst>
                <a:gd name="adj" fmla="val 50000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85" name="Google Shape;1185;p16"/>
            <p:cNvSpPr/>
            <p:nvPr/>
          </p:nvSpPr>
          <p:spPr>
            <a:xfrm rot="10800000">
              <a:off x="8797156" y="3492114"/>
              <a:ext cx="133648" cy="108614"/>
            </a:xfrm>
            <a:prstGeom prst="triangle">
              <a:avLst>
                <a:gd name="adj" fmla="val 50000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186" name="Google Shape;1186;p16"/>
          <p:cNvSpPr/>
          <p:nvPr/>
        </p:nvSpPr>
        <p:spPr>
          <a:xfrm>
            <a:off x="2798064" y="2348310"/>
            <a:ext cx="8869680" cy="1313099"/>
          </a:xfrm>
          <a:custGeom>
            <a:avLst/>
            <a:gdLst/>
            <a:ahLst/>
            <a:cxnLst/>
            <a:rect l="l" t="t" r="r" b="b"/>
            <a:pathLst>
              <a:path w="8869680" h="658368" extrusionOk="0">
                <a:moveTo>
                  <a:pt x="0" y="548640"/>
                </a:moveTo>
                <a:lnTo>
                  <a:pt x="4041648" y="548640"/>
                </a:lnTo>
                <a:lnTo>
                  <a:pt x="4498848" y="329184"/>
                </a:lnTo>
                <a:lnTo>
                  <a:pt x="6510528" y="329184"/>
                </a:lnTo>
                <a:lnTo>
                  <a:pt x="6986016" y="0"/>
                </a:lnTo>
                <a:lnTo>
                  <a:pt x="8869680" y="0"/>
                </a:lnTo>
                <a:lnTo>
                  <a:pt x="8869680" y="658368"/>
                </a:lnTo>
                <a:lnTo>
                  <a:pt x="18288" y="658368"/>
                </a:lnTo>
                <a:lnTo>
                  <a:pt x="0" y="54864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7" name="Google Shape;1187;p16"/>
          <p:cNvSpPr/>
          <p:nvPr/>
        </p:nvSpPr>
        <p:spPr>
          <a:xfrm>
            <a:off x="2798064" y="2838450"/>
            <a:ext cx="8869680" cy="953589"/>
          </a:xfrm>
          <a:custGeom>
            <a:avLst/>
            <a:gdLst/>
            <a:ahLst/>
            <a:cxnLst/>
            <a:rect l="l" t="t" r="r" b="b"/>
            <a:pathLst>
              <a:path w="8869680" h="658368" extrusionOk="0">
                <a:moveTo>
                  <a:pt x="0" y="548640"/>
                </a:moveTo>
                <a:lnTo>
                  <a:pt x="4041648" y="548640"/>
                </a:lnTo>
                <a:lnTo>
                  <a:pt x="4498848" y="329184"/>
                </a:lnTo>
                <a:lnTo>
                  <a:pt x="6510528" y="329184"/>
                </a:lnTo>
                <a:lnTo>
                  <a:pt x="6986016" y="0"/>
                </a:lnTo>
                <a:lnTo>
                  <a:pt x="8869680" y="0"/>
                </a:lnTo>
                <a:lnTo>
                  <a:pt x="8869680" y="658368"/>
                </a:lnTo>
                <a:lnTo>
                  <a:pt x="18288" y="658368"/>
                </a:lnTo>
                <a:lnTo>
                  <a:pt x="0" y="548640"/>
                </a:lnTo>
                <a:close/>
              </a:path>
            </a:pathLst>
          </a:custGeom>
          <a:solidFill>
            <a:srgbClr val="DEBA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8" name="Google Shape;1188;p16"/>
          <p:cNvSpPr/>
          <p:nvPr/>
        </p:nvSpPr>
        <p:spPr>
          <a:xfrm>
            <a:off x="2798064" y="3167634"/>
            <a:ext cx="8869680" cy="658368"/>
          </a:xfrm>
          <a:custGeom>
            <a:avLst/>
            <a:gdLst/>
            <a:ahLst/>
            <a:cxnLst/>
            <a:rect l="l" t="t" r="r" b="b"/>
            <a:pathLst>
              <a:path w="8869680" h="658368" extrusionOk="0">
                <a:moveTo>
                  <a:pt x="0" y="548640"/>
                </a:moveTo>
                <a:lnTo>
                  <a:pt x="4041648" y="548640"/>
                </a:lnTo>
                <a:lnTo>
                  <a:pt x="4498848" y="329184"/>
                </a:lnTo>
                <a:lnTo>
                  <a:pt x="6510528" y="329184"/>
                </a:lnTo>
                <a:lnTo>
                  <a:pt x="6986016" y="0"/>
                </a:lnTo>
                <a:lnTo>
                  <a:pt x="8869680" y="0"/>
                </a:lnTo>
                <a:lnTo>
                  <a:pt x="8869680" y="658368"/>
                </a:lnTo>
                <a:lnTo>
                  <a:pt x="18288" y="658368"/>
                </a:lnTo>
                <a:lnTo>
                  <a:pt x="0" y="54864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89" name="Google Shape;1189;p16"/>
          <p:cNvCxnSpPr/>
          <p:nvPr/>
        </p:nvCxnSpPr>
        <p:spPr>
          <a:xfrm>
            <a:off x="5199702" y="2199908"/>
            <a:ext cx="0" cy="1641748"/>
          </a:xfrm>
          <a:prstGeom prst="straightConnector1">
            <a:avLst/>
          </a:prstGeom>
          <a:noFill/>
          <a:ln w="22225" cap="flat" cmpd="sng">
            <a:solidFill>
              <a:schemeClr val="dk1">
                <a:alpha val="2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90" name="Google Shape;1190;p16"/>
          <p:cNvCxnSpPr/>
          <p:nvPr/>
        </p:nvCxnSpPr>
        <p:spPr>
          <a:xfrm>
            <a:off x="7307881" y="2199908"/>
            <a:ext cx="0" cy="1849862"/>
          </a:xfrm>
          <a:prstGeom prst="straightConnector1">
            <a:avLst/>
          </a:prstGeom>
          <a:noFill/>
          <a:ln w="22225" cap="flat" cmpd="sng">
            <a:solidFill>
              <a:schemeClr val="dk1">
                <a:alpha val="2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91" name="Google Shape;1191;p16"/>
          <p:cNvCxnSpPr/>
          <p:nvPr/>
        </p:nvCxnSpPr>
        <p:spPr>
          <a:xfrm>
            <a:off x="9274893" y="2199908"/>
            <a:ext cx="0" cy="1641748"/>
          </a:xfrm>
          <a:prstGeom prst="straightConnector1">
            <a:avLst/>
          </a:prstGeom>
          <a:noFill/>
          <a:ln w="22225" cap="flat" cmpd="sng">
            <a:solidFill>
              <a:schemeClr val="dk1">
                <a:alpha val="2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2" name="Google Shape;1192;p16"/>
          <p:cNvSpPr/>
          <p:nvPr/>
        </p:nvSpPr>
        <p:spPr>
          <a:xfrm rot="-5400000" flipH="1">
            <a:off x="2345550" y="2767472"/>
            <a:ext cx="905021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Year 1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3" name="Google Shape;1193;p16"/>
          <p:cNvSpPr/>
          <p:nvPr/>
        </p:nvSpPr>
        <p:spPr>
          <a:xfrm rot="-5400000" flipH="1">
            <a:off x="4753959" y="2767473"/>
            <a:ext cx="905021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Year 2-3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4" name="Google Shape;1194;p16"/>
          <p:cNvSpPr/>
          <p:nvPr/>
        </p:nvSpPr>
        <p:spPr>
          <a:xfrm rot="-5400000" flipH="1">
            <a:off x="6847710" y="2767474"/>
            <a:ext cx="905021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Year 4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5" name="Google Shape;1195;p16"/>
          <p:cNvSpPr/>
          <p:nvPr/>
        </p:nvSpPr>
        <p:spPr>
          <a:xfrm rot="-5400000" flipH="1">
            <a:off x="8823624" y="2767476"/>
            <a:ext cx="905021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Year 5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6" name="Google Shape;1196;p16"/>
          <p:cNvSpPr/>
          <p:nvPr/>
        </p:nvSpPr>
        <p:spPr>
          <a:xfrm>
            <a:off x="2798064" y="3601678"/>
            <a:ext cx="8869680" cy="235520"/>
          </a:xfrm>
          <a:custGeom>
            <a:avLst/>
            <a:gdLst/>
            <a:ahLst/>
            <a:cxnLst/>
            <a:rect l="l" t="t" r="r" b="b"/>
            <a:pathLst>
              <a:path w="8869680" h="658368" extrusionOk="0">
                <a:moveTo>
                  <a:pt x="0" y="548640"/>
                </a:moveTo>
                <a:lnTo>
                  <a:pt x="4041648" y="548640"/>
                </a:lnTo>
                <a:lnTo>
                  <a:pt x="4498848" y="329184"/>
                </a:lnTo>
                <a:lnTo>
                  <a:pt x="6510528" y="329184"/>
                </a:lnTo>
                <a:lnTo>
                  <a:pt x="6986016" y="0"/>
                </a:lnTo>
                <a:lnTo>
                  <a:pt x="8869680" y="0"/>
                </a:lnTo>
                <a:lnTo>
                  <a:pt x="8869680" y="658368"/>
                </a:lnTo>
                <a:lnTo>
                  <a:pt x="18288" y="658368"/>
                </a:lnTo>
                <a:lnTo>
                  <a:pt x="0" y="54864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7" name="Google Shape;1197;p16"/>
          <p:cNvSpPr txBox="1"/>
          <p:nvPr/>
        </p:nvSpPr>
        <p:spPr>
          <a:xfrm>
            <a:off x="629862" y="4428746"/>
            <a:ext cx="1579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OBJECTIVE</a:t>
            </a:r>
            <a:endParaRPr sz="1800" b="1" i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8" name="Google Shape;1198;p16"/>
          <p:cNvSpPr txBox="1"/>
          <p:nvPr/>
        </p:nvSpPr>
        <p:spPr>
          <a:xfrm>
            <a:off x="629862" y="5413171"/>
            <a:ext cx="1579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757070"/>
                </a:solidFill>
                <a:latin typeface="Lato"/>
                <a:ea typeface="Lato"/>
                <a:cs typeface="Lato"/>
                <a:sym typeface="Lato"/>
              </a:rPr>
              <a:t>INITIATIVE</a:t>
            </a:r>
            <a:endParaRPr sz="1800" b="1" i="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9" name="Google Shape;1199;p16"/>
          <p:cNvSpPr txBox="1"/>
          <p:nvPr/>
        </p:nvSpPr>
        <p:spPr>
          <a:xfrm>
            <a:off x="629862" y="1761802"/>
            <a:ext cx="15799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FTE NEEDS</a:t>
            </a:r>
            <a:endParaRPr sz="1800" b="0" i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00" name="Google Shape;1200;p16"/>
          <p:cNvCxnSpPr/>
          <p:nvPr/>
        </p:nvCxnSpPr>
        <p:spPr>
          <a:xfrm>
            <a:off x="524257" y="5122627"/>
            <a:ext cx="11143484" cy="0"/>
          </a:xfrm>
          <a:prstGeom prst="straightConnector1">
            <a:avLst/>
          </a:prstGeom>
          <a:noFill/>
          <a:ln w="22225" cap="flat" cmpd="sng">
            <a:solidFill>
              <a:schemeClr val="dk1">
                <a:alpha val="2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01" name="Google Shape;1201;p16"/>
          <p:cNvSpPr txBox="1"/>
          <p:nvPr/>
        </p:nvSpPr>
        <p:spPr>
          <a:xfrm>
            <a:off x="2877113" y="5275028"/>
            <a:ext cx="2968077" cy="62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Conduct a comprehensive audit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or enhance data pipelines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Provide foundational training on AI concepts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2" name="Google Shape;1202;p16"/>
          <p:cNvSpPr/>
          <p:nvPr/>
        </p:nvSpPr>
        <p:spPr>
          <a:xfrm flipH="1">
            <a:off x="5983530" y="3984531"/>
            <a:ext cx="2633380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ACCELERATION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3" name="Google Shape;1203;p16"/>
          <p:cNvSpPr/>
          <p:nvPr/>
        </p:nvSpPr>
        <p:spPr>
          <a:xfrm>
            <a:off x="4012986" y="3789790"/>
            <a:ext cx="1188720" cy="182880"/>
          </a:xfrm>
          <a:custGeom>
            <a:avLst/>
            <a:gdLst/>
            <a:ahLst/>
            <a:cxnLst/>
            <a:rect l="l" t="t" r="r" b="b"/>
            <a:pathLst>
              <a:path w="1188720" h="182880" extrusionOk="0">
                <a:moveTo>
                  <a:pt x="0" y="182880"/>
                </a:moveTo>
                <a:lnTo>
                  <a:pt x="0" y="106680"/>
                </a:lnTo>
                <a:lnTo>
                  <a:pt x="1188720" y="106680"/>
                </a:lnTo>
                <a:lnTo>
                  <a:pt x="1188720" y="0"/>
                </a:lnTo>
              </a:path>
            </a:pathLst>
          </a:custGeom>
          <a:noFill/>
          <a:ln w="22225" cap="flat" cmpd="sng">
            <a:solidFill>
              <a:schemeClr val="accent1">
                <a:alpha val="2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4" name="Google Shape;1204;p16"/>
          <p:cNvSpPr/>
          <p:nvPr/>
        </p:nvSpPr>
        <p:spPr>
          <a:xfrm flipH="1">
            <a:off x="2932700" y="3984531"/>
            <a:ext cx="2678206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GROUNDWORK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5" name="Google Shape;1205;p16"/>
          <p:cNvSpPr/>
          <p:nvPr/>
        </p:nvSpPr>
        <p:spPr>
          <a:xfrm flipH="1">
            <a:off x="9266004" y="3789790"/>
            <a:ext cx="949387" cy="182880"/>
          </a:xfrm>
          <a:custGeom>
            <a:avLst/>
            <a:gdLst/>
            <a:ahLst/>
            <a:cxnLst/>
            <a:rect l="l" t="t" r="r" b="b"/>
            <a:pathLst>
              <a:path w="1188720" h="182880" extrusionOk="0">
                <a:moveTo>
                  <a:pt x="0" y="182880"/>
                </a:moveTo>
                <a:lnTo>
                  <a:pt x="0" y="106680"/>
                </a:lnTo>
                <a:lnTo>
                  <a:pt x="1188720" y="106680"/>
                </a:lnTo>
                <a:lnTo>
                  <a:pt x="1188720" y="0"/>
                </a:lnTo>
              </a:path>
            </a:pathLst>
          </a:custGeom>
          <a:noFill/>
          <a:ln w="22225" cap="flat" cmpd="sng">
            <a:solidFill>
              <a:schemeClr val="accent1">
                <a:alpha val="2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6" name="Google Shape;1206;p16"/>
          <p:cNvSpPr/>
          <p:nvPr/>
        </p:nvSpPr>
        <p:spPr>
          <a:xfrm flipH="1">
            <a:off x="8944130" y="3984531"/>
            <a:ext cx="2477090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GROWTH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7" name="Google Shape;1207;p16"/>
          <p:cNvSpPr txBox="1"/>
          <p:nvPr/>
        </p:nvSpPr>
        <p:spPr>
          <a:xfrm>
            <a:off x="1123669" y="2476199"/>
            <a:ext cx="821077" cy="81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Scenario A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Scenario B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Scenario C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Scenario D</a:t>
            </a:r>
            <a:endParaRPr/>
          </a:p>
        </p:txBody>
      </p:sp>
      <p:sp>
        <p:nvSpPr>
          <p:cNvPr id="1208" name="Google Shape;1208;p16"/>
          <p:cNvSpPr txBox="1"/>
          <p:nvPr/>
        </p:nvSpPr>
        <p:spPr>
          <a:xfrm>
            <a:off x="5983530" y="4372840"/>
            <a:ext cx="2789378" cy="62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Scale AI adoption across key business functions and drive measurable improvements in operational efficiency and decision-making.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9" name="Google Shape;1209;p16"/>
          <p:cNvSpPr txBox="1"/>
          <p:nvPr/>
        </p:nvSpPr>
        <p:spPr>
          <a:xfrm>
            <a:off x="8944130" y="4372840"/>
            <a:ext cx="2789378" cy="62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Embed AI into the organization's DNA by integrating it into core business strategies and fostering a culture of innovation.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0" name="Google Shape;1210;p16"/>
          <p:cNvSpPr txBox="1"/>
          <p:nvPr/>
        </p:nvSpPr>
        <p:spPr>
          <a:xfrm>
            <a:off x="5983530" y="5275028"/>
            <a:ext cx="2789378" cy="62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Launch small-scale AI pilots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Identify and implement AI-driven solutions 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Strengthen data management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1" name="Google Shape;1211;p16"/>
          <p:cNvSpPr txBox="1"/>
          <p:nvPr/>
        </p:nvSpPr>
        <p:spPr>
          <a:xfrm>
            <a:off x="8911247" y="5275028"/>
            <a:ext cx="2509973" cy="62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Scale successful AI solutions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Invest in R&amp;D 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Implement ongoing training programs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2" name="Google Shape;1212;p16"/>
          <p:cNvSpPr/>
          <p:nvPr/>
        </p:nvSpPr>
        <p:spPr>
          <a:xfrm>
            <a:off x="898635" y="2551378"/>
            <a:ext cx="131632" cy="131632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3" name="Google Shape;1213;p16"/>
          <p:cNvSpPr/>
          <p:nvPr/>
        </p:nvSpPr>
        <p:spPr>
          <a:xfrm>
            <a:off x="898635" y="2731274"/>
            <a:ext cx="131632" cy="13163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4" name="Google Shape;1214;p16"/>
          <p:cNvSpPr/>
          <p:nvPr/>
        </p:nvSpPr>
        <p:spPr>
          <a:xfrm>
            <a:off x="898635" y="2915404"/>
            <a:ext cx="131632" cy="131632"/>
          </a:xfrm>
          <a:prstGeom prst="ellipse">
            <a:avLst/>
          </a:prstGeom>
          <a:solidFill>
            <a:srgbClr val="CB9AE8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5" name="Google Shape;1215;p16"/>
          <p:cNvSpPr/>
          <p:nvPr/>
        </p:nvSpPr>
        <p:spPr>
          <a:xfrm>
            <a:off x="898635" y="3104825"/>
            <a:ext cx="131632" cy="131632"/>
          </a:xfrm>
          <a:prstGeom prst="ellipse">
            <a:avLst/>
          </a:prstGeom>
          <a:solidFill>
            <a:srgbClr val="BFBFBF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16" name="Google Shape;1216;p16"/>
          <p:cNvCxnSpPr/>
          <p:nvPr/>
        </p:nvCxnSpPr>
        <p:spPr>
          <a:xfrm>
            <a:off x="524257" y="3826002"/>
            <a:ext cx="11143484" cy="0"/>
          </a:xfrm>
          <a:prstGeom prst="straightConnector1">
            <a:avLst/>
          </a:prstGeom>
          <a:noFill/>
          <a:ln w="22225" cap="flat" cmpd="sng">
            <a:solidFill>
              <a:schemeClr val="accent1">
                <a:alpha val="2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7" name="Google Shape;1217;p16"/>
          <p:cNvSpPr txBox="1"/>
          <p:nvPr/>
        </p:nvSpPr>
        <p:spPr>
          <a:xfrm>
            <a:off x="506746" y="601983"/>
            <a:ext cx="1114348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1218" name="Google Shape;1218;p16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17"/>
          <p:cNvSpPr/>
          <p:nvPr/>
        </p:nvSpPr>
        <p:spPr>
          <a:xfrm flipH="1">
            <a:off x="3249225" y="4914863"/>
            <a:ext cx="6722116" cy="403171"/>
          </a:xfrm>
          <a:prstGeom prst="triangle">
            <a:avLst>
              <a:gd name="adj" fmla="val 52765"/>
            </a:avLst>
          </a:prstGeom>
          <a:gradFill>
            <a:gsLst>
              <a:gs pos="0">
                <a:srgbClr val="B056F6">
                  <a:alpha val="25882"/>
                </a:srgbClr>
              </a:gs>
              <a:gs pos="100000">
                <a:srgbClr val="BF74F8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4" name="Google Shape;1224;p17"/>
          <p:cNvSpPr/>
          <p:nvPr/>
        </p:nvSpPr>
        <p:spPr>
          <a:xfrm rot="5400000" flipH="1">
            <a:off x="1819040" y="2761435"/>
            <a:ext cx="3667754" cy="726966"/>
          </a:xfrm>
          <a:prstGeom prst="triangle">
            <a:avLst>
              <a:gd name="adj" fmla="val 58206"/>
            </a:avLst>
          </a:prstGeom>
          <a:gradFill>
            <a:gsLst>
              <a:gs pos="0">
                <a:srgbClr val="B056F6">
                  <a:alpha val="25882"/>
                </a:srgbClr>
              </a:gs>
              <a:gs pos="100000">
                <a:srgbClr val="BF74F8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5" name="Google Shape;1225;p17"/>
          <p:cNvSpPr/>
          <p:nvPr/>
        </p:nvSpPr>
        <p:spPr>
          <a:xfrm rot="-5400000">
            <a:off x="8323299" y="2410264"/>
            <a:ext cx="1652599" cy="726966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B056F6">
                  <a:alpha val="25882"/>
                </a:srgbClr>
              </a:gs>
              <a:gs pos="100000">
                <a:srgbClr val="BF74F8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6" name="Google Shape;1226;p17"/>
          <p:cNvSpPr/>
          <p:nvPr/>
        </p:nvSpPr>
        <p:spPr>
          <a:xfrm rot="10800000">
            <a:off x="559972" y="1603819"/>
            <a:ext cx="2650588" cy="566059"/>
          </a:xfrm>
          <a:prstGeom prst="round2SameRect">
            <a:avLst>
              <a:gd name="adj1" fmla="val 19433"/>
              <a:gd name="adj2" fmla="val 0"/>
            </a:avLst>
          </a:prstGeom>
          <a:solidFill>
            <a:schemeClr val="lt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7" name="Google Shape;1227;p17"/>
          <p:cNvSpPr/>
          <p:nvPr/>
        </p:nvSpPr>
        <p:spPr>
          <a:xfrm flipH="1">
            <a:off x="559972" y="1291041"/>
            <a:ext cx="2650588" cy="312783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DATA GATHERING </a:t>
            </a:r>
            <a:endParaRPr/>
          </a:p>
        </p:txBody>
      </p:sp>
      <p:sp>
        <p:nvSpPr>
          <p:cNvPr id="1228" name="Google Shape;1228;p17"/>
          <p:cNvSpPr txBox="1"/>
          <p:nvPr/>
        </p:nvSpPr>
        <p:spPr>
          <a:xfrm>
            <a:off x="723981" y="1661524"/>
            <a:ext cx="2361235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Gather high-quality data from diverse sources to fuel AI models.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9" name="Google Shape;1229;p17"/>
          <p:cNvSpPr/>
          <p:nvPr/>
        </p:nvSpPr>
        <p:spPr>
          <a:xfrm rot="10800000">
            <a:off x="559972" y="2533458"/>
            <a:ext cx="2650588" cy="566059"/>
          </a:xfrm>
          <a:prstGeom prst="round2SameRect">
            <a:avLst>
              <a:gd name="adj1" fmla="val 19433"/>
              <a:gd name="adj2" fmla="val 0"/>
            </a:avLst>
          </a:prstGeom>
          <a:solidFill>
            <a:schemeClr val="lt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0" name="Google Shape;1230;p17"/>
          <p:cNvSpPr/>
          <p:nvPr/>
        </p:nvSpPr>
        <p:spPr>
          <a:xfrm flipH="1">
            <a:off x="559972" y="2220680"/>
            <a:ext cx="2650588" cy="312783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DATA PIPELINE</a:t>
            </a:r>
            <a:endParaRPr/>
          </a:p>
        </p:txBody>
      </p:sp>
      <p:sp>
        <p:nvSpPr>
          <p:cNvPr id="1231" name="Google Shape;1231;p17"/>
          <p:cNvSpPr txBox="1"/>
          <p:nvPr/>
        </p:nvSpPr>
        <p:spPr>
          <a:xfrm>
            <a:off x="723981" y="2591163"/>
            <a:ext cx="2361235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 robust pipelines for data ingestion, transformation, and storage.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2" name="Google Shape;1232;p17"/>
          <p:cNvSpPr/>
          <p:nvPr/>
        </p:nvSpPr>
        <p:spPr>
          <a:xfrm rot="10800000">
            <a:off x="559972" y="3463097"/>
            <a:ext cx="2650588" cy="566059"/>
          </a:xfrm>
          <a:prstGeom prst="round2SameRect">
            <a:avLst>
              <a:gd name="adj1" fmla="val 19433"/>
              <a:gd name="adj2" fmla="val 0"/>
            </a:avLst>
          </a:prstGeom>
          <a:solidFill>
            <a:schemeClr val="lt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3" name="Google Shape;1233;p17"/>
          <p:cNvSpPr/>
          <p:nvPr/>
        </p:nvSpPr>
        <p:spPr>
          <a:xfrm flipH="1">
            <a:off x="559972" y="3150319"/>
            <a:ext cx="2650588" cy="312783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DATA VALIDATION, CLEANUP</a:t>
            </a:r>
            <a:endParaRPr/>
          </a:p>
        </p:txBody>
      </p:sp>
      <p:sp>
        <p:nvSpPr>
          <p:cNvPr id="1234" name="Google Shape;1234;p17"/>
          <p:cNvSpPr txBox="1"/>
          <p:nvPr/>
        </p:nvSpPr>
        <p:spPr>
          <a:xfrm>
            <a:off x="723981" y="3520802"/>
            <a:ext cx="2361235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Clean and preprocess data to ensure accuracy and consistency.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5" name="Google Shape;1235;p17"/>
          <p:cNvSpPr/>
          <p:nvPr/>
        </p:nvSpPr>
        <p:spPr>
          <a:xfrm rot="10800000">
            <a:off x="559972" y="4392736"/>
            <a:ext cx="2650588" cy="566059"/>
          </a:xfrm>
          <a:prstGeom prst="round2SameRect">
            <a:avLst>
              <a:gd name="adj1" fmla="val 19433"/>
              <a:gd name="adj2" fmla="val 0"/>
            </a:avLst>
          </a:prstGeom>
          <a:solidFill>
            <a:schemeClr val="lt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6" name="Google Shape;1236;p17"/>
          <p:cNvSpPr/>
          <p:nvPr/>
        </p:nvSpPr>
        <p:spPr>
          <a:xfrm flipH="1">
            <a:off x="559972" y="4079958"/>
            <a:ext cx="2650588" cy="312783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DATA EXPLORATION, ANALYSIS</a:t>
            </a:r>
            <a:endParaRPr/>
          </a:p>
        </p:txBody>
      </p:sp>
      <p:sp>
        <p:nvSpPr>
          <p:cNvPr id="1237" name="Google Shape;1237;p17"/>
          <p:cNvSpPr txBox="1"/>
          <p:nvPr/>
        </p:nvSpPr>
        <p:spPr>
          <a:xfrm>
            <a:off x="723981" y="4450441"/>
            <a:ext cx="2361235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Analyze data to identify patterns, trends, and insights.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8" name="Google Shape;1238;p17"/>
          <p:cNvSpPr/>
          <p:nvPr/>
        </p:nvSpPr>
        <p:spPr>
          <a:xfrm rot="10800000">
            <a:off x="2862217" y="5666421"/>
            <a:ext cx="2353253" cy="566059"/>
          </a:xfrm>
          <a:prstGeom prst="round2SameRect">
            <a:avLst>
              <a:gd name="adj1" fmla="val 19433"/>
              <a:gd name="adj2" fmla="val 0"/>
            </a:avLst>
          </a:prstGeom>
          <a:solidFill>
            <a:schemeClr val="lt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9" name="Google Shape;1239;p17"/>
          <p:cNvSpPr/>
          <p:nvPr/>
        </p:nvSpPr>
        <p:spPr>
          <a:xfrm flipH="1">
            <a:off x="2862217" y="5353644"/>
            <a:ext cx="2353253" cy="312783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FEATURE ENGINEERING</a:t>
            </a:r>
            <a:endParaRPr/>
          </a:p>
        </p:txBody>
      </p:sp>
      <p:sp>
        <p:nvSpPr>
          <p:cNvPr id="1240" name="Google Shape;1240;p17"/>
          <p:cNvSpPr txBox="1"/>
          <p:nvPr/>
        </p:nvSpPr>
        <p:spPr>
          <a:xfrm>
            <a:off x="3026226" y="5724127"/>
            <a:ext cx="2096359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Create meaningful features from raw data to enhance model.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1" name="Google Shape;1241;p17"/>
          <p:cNvSpPr/>
          <p:nvPr/>
        </p:nvSpPr>
        <p:spPr>
          <a:xfrm rot="10800000">
            <a:off x="5286595" y="5666421"/>
            <a:ext cx="2353253" cy="566059"/>
          </a:xfrm>
          <a:prstGeom prst="round2SameRect">
            <a:avLst>
              <a:gd name="adj1" fmla="val 19433"/>
              <a:gd name="adj2" fmla="val 0"/>
            </a:avLst>
          </a:prstGeom>
          <a:solidFill>
            <a:schemeClr val="lt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2" name="Google Shape;1242;p17"/>
          <p:cNvSpPr/>
          <p:nvPr/>
        </p:nvSpPr>
        <p:spPr>
          <a:xfrm flipH="1">
            <a:off x="5286595" y="5353644"/>
            <a:ext cx="2353253" cy="312783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MODEL TRAINING</a:t>
            </a:r>
            <a:endParaRPr/>
          </a:p>
        </p:txBody>
      </p:sp>
      <p:sp>
        <p:nvSpPr>
          <p:cNvPr id="1243" name="Google Shape;1243;p17"/>
          <p:cNvSpPr txBox="1"/>
          <p:nvPr/>
        </p:nvSpPr>
        <p:spPr>
          <a:xfrm>
            <a:off x="5450604" y="5724127"/>
            <a:ext cx="2096359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Train AI models using labeled data and make predictions.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4" name="Google Shape;1244;p17"/>
          <p:cNvSpPr/>
          <p:nvPr/>
        </p:nvSpPr>
        <p:spPr>
          <a:xfrm rot="10800000">
            <a:off x="7710973" y="5666421"/>
            <a:ext cx="2353253" cy="566059"/>
          </a:xfrm>
          <a:prstGeom prst="round2SameRect">
            <a:avLst>
              <a:gd name="adj1" fmla="val 19433"/>
              <a:gd name="adj2" fmla="val 0"/>
            </a:avLst>
          </a:prstGeom>
          <a:solidFill>
            <a:schemeClr val="lt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5" name="Google Shape;1245;p17"/>
          <p:cNvSpPr/>
          <p:nvPr/>
        </p:nvSpPr>
        <p:spPr>
          <a:xfrm flipH="1">
            <a:off x="7710973" y="5353644"/>
            <a:ext cx="2353253" cy="312783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9D9AFA"/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MODEL TRAINING</a:t>
            </a:r>
            <a:endParaRPr/>
          </a:p>
        </p:txBody>
      </p:sp>
      <p:sp>
        <p:nvSpPr>
          <p:cNvPr id="1246" name="Google Shape;1246;p17"/>
          <p:cNvSpPr txBox="1"/>
          <p:nvPr/>
        </p:nvSpPr>
        <p:spPr>
          <a:xfrm>
            <a:off x="7874982" y="5724127"/>
            <a:ext cx="2096359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Evaluate model performance using test datasets.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7" name="Google Shape;1247;p17"/>
          <p:cNvSpPr/>
          <p:nvPr/>
        </p:nvSpPr>
        <p:spPr>
          <a:xfrm rot="10800000">
            <a:off x="9480545" y="2169879"/>
            <a:ext cx="2151483" cy="566059"/>
          </a:xfrm>
          <a:prstGeom prst="round2SameRect">
            <a:avLst>
              <a:gd name="adj1" fmla="val 19433"/>
              <a:gd name="adj2" fmla="val 0"/>
            </a:avLst>
          </a:prstGeom>
          <a:solidFill>
            <a:schemeClr val="lt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8" name="Google Shape;1248;p17"/>
          <p:cNvSpPr/>
          <p:nvPr/>
        </p:nvSpPr>
        <p:spPr>
          <a:xfrm flipH="1">
            <a:off x="9480545" y="1857103"/>
            <a:ext cx="2151483" cy="312783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A5A5A5"/>
              </a:gs>
              <a:gs pos="100000">
                <a:srgbClr val="595959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VALIDATION</a:t>
            </a:r>
            <a:endParaRPr/>
          </a:p>
        </p:txBody>
      </p:sp>
      <p:sp>
        <p:nvSpPr>
          <p:cNvPr id="1249" name="Google Shape;1249;p17"/>
          <p:cNvSpPr txBox="1"/>
          <p:nvPr/>
        </p:nvSpPr>
        <p:spPr>
          <a:xfrm>
            <a:off x="9808968" y="2227586"/>
            <a:ext cx="1616263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Indicates that the model or solution worked or not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0" name="Google Shape;1250;p17"/>
          <p:cNvSpPr/>
          <p:nvPr/>
        </p:nvSpPr>
        <p:spPr>
          <a:xfrm rot="10800000">
            <a:off x="9480545" y="3099526"/>
            <a:ext cx="2151483" cy="566059"/>
          </a:xfrm>
          <a:prstGeom prst="round2SameRect">
            <a:avLst>
              <a:gd name="adj1" fmla="val 19433"/>
              <a:gd name="adj2" fmla="val 0"/>
            </a:avLst>
          </a:prstGeom>
          <a:solidFill>
            <a:schemeClr val="lt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1" name="Google Shape;1251;p17"/>
          <p:cNvSpPr/>
          <p:nvPr/>
        </p:nvSpPr>
        <p:spPr>
          <a:xfrm flipH="1">
            <a:off x="9480545" y="2786750"/>
            <a:ext cx="2151483" cy="312783"/>
          </a:xfrm>
          <a:prstGeom prst="round2SameRect">
            <a:avLst>
              <a:gd name="adj1" fmla="val 44036"/>
              <a:gd name="adj2" fmla="val 0"/>
            </a:avLst>
          </a:prstGeom>
          <a:gradFill>
            <a:gsLst>
              <a:gs pos="0">
                <a:srgbClr val="A5A5A5"/>
              </a:gs>
              <a:gs pos="100000">
                <a:srgbClr val="595959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PRODUCT INTEGRATION</a:t>
            </a:r>
            <a:endParaRPr/>
          </a:p>
        </p:txBody>
      </p:sp>
      <p:sp>
        <p:nvSpPr>
          <p:cNvPr id="1252" name="Google Shape;1252;p17"/>
          <p:cNvSpPr txBox="1"/>
          <p:nvPr/>
        </p:nvSpPr>
        <p:spPr>
          <a:xfrm>
            <a:off x="9808969" y="3157233"/>
            <a:ext cx="1616262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How the product is integrated in the system?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3" name="Google Shape;1253;p17"/>
          <p:cNvSpPr/>
          <p:nvPr/>
        </p:nvSpPr>
        <p:spPr>
          <a:xfrm>
            <a:off x="4867626" y="1291041"/>
            <a:ext cx="3027680" cy="302768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4" name="Google Shape;1254;p17"/>
          <p:cNvSpPr/>
          <p:nvPr/>
        </p:nvSpPr>
        <p:spPr>
          <a:xfrm>
            <a:off x="7353295" y="1992624"/>
            <a:ext cx="1560899" cy="1560899"/>
          </a:xfrm>
          <a:prstGeom prst="ellipse">
            <a:avLst/>
          </a:prstGeom>
          <a:solidFill>
            <a:srgbClr val="CB9AE8"/>
          </a:solidFill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5" name="Google Shape;1255;p17"/>
          <p:cNvSpPr txBox="1"/>
          <p:nvPr/>
        </p:nvSpPr>
        <p:spPr>
          <a:xfrm>
            <a:off x="7314409" y="2627424"/>
            <a:ext cx="1638670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DEPLOYMENT</a:t>
            </a:r>
            <a:endParaRPr sz="16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56" name="Google Shape;1256;p17"/>
          <p:cNvSpPr/>
          <p:nvPr/>
        </p:nvSpPr>
        <p:spPr>
          <a:xfrm>
            <a:off x="3958175" y="1992624"/>
            <a:ext cx="1560899" cy="1560899"/>
          </a:xfrm>
          <a:prstGeom prst="ellipse">
            <a:avLst/>
          </a:prstGeom>
          <a:solidFill>
            <a:srgbClr val="CB9AE8"/>
          </a:solidFill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7" name="Google Shape;1257;p17"/>
          <p:cNvSpPr/>
          <p:nvPr/>
        </p:nvSpPr>
        <p:spPr>
          <a:xfrm>
            <a:off x="5639978" y="516085"/>
            <a:ext cx="1560899" cy="1560899"/>
          </a:xfrm>
          <a:prstGeom prst="ellipse">
            <a:avLst/>
          </a:prstGeom>
          <a:solidFill>
            <a:srgbClr val="CB9AE8"/>
          </a:solidFill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8" name="Google Shape;1258;p17"/>
          <p:cNvSpPr txBox="1"/>
          <p:nvPr/>
        </p:nvSpPr>
        <p:spPr>
          <a:xfrm>
            <a:off x="5525045" y="1148182"/>
            <a:ext cx="1790764" cy="51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BUSINESS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UNDERSTANDING</a:t>
            </a:r>
            <a:endParaRPr sz="16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59" name="Google Shape;1259;p17"/>
          <p:cNvSpPr/>
          <p:nvPr/>
        </p:nvSpPr>
        <p:spPr>
          <a:xfrm>
            <a:off x="5639978" y="3483017"/>
            <a:ext cx="1560899" cy="1560899"/>
          </a:xfrm>
          <a:prstGeom prst="ellipse">
            <a:avLst/>
          </a:prstGeom>
          <a:solidFill>
            <a:srgbClr val="CB9AE8"/>
          </a:solidFill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0" name="Google Shape;1260;p17"/>
          <p:cNvSpPr txBox="1"/>
          <p:nvPr/>
        </p:nvSpPr>
        <p:spPr>
          <a:xfrm>
            <a:off x="5525045" y="4168000"/>
            <a:ext cx="1790764" cy="51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MODEL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DEVELOPMENT</a:t>
            </a:r>
            <a:endParaRPr sz="16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61" name="Google Shape;1261;p17"/>
          <p:cNvSpPr txBox="1"/>
          <p:nvPr/>
        </p:nvSpPr>
        <p:spPr>
          <a:xfrm>
            <a:off x="5577964" y="2377071"/>
            <a:ext cx="1638670" cy="32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AI STRATEGY</a:t>
            </a:r>
            <a:endParaRPr sz="18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62" name="Google Shape;1262;p17"/>
          <p:cNvSpPr/>
          <p:nvPr/>
        </p:nvSpPr>
        <p:spPr>
          <a:xfrm>
            <a:off x="7961692" y="2246571"/>
            <a:ext cx="344104" cy="344104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4</a:t>
            </a:r>
            <a:endParaRPr sz="1400"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63" name="Google Shape;1263;p17"/>
          <p:cNvSpPr/>
          <p:nvPr/>
        </p:nvSpPr>
        <p:spPr>
          <a:xfrm>
            <a:off x="6248375" y="739386"/>
            <a:ext cx="344104" cy="344104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1</a:t>
            </a:r>
            <a:endParaRPr sz="1400"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64" name="Google Shape;1264;p17"/>
          <p:cNvSpPr/>
          <p:nvPr/>
        </p:nvSpPr>
        <p:spPr>
          <a:xfrm>
            <a:off x="6248375" y="3807935"/>
            <a:ext cx="344104" cy="344104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3</a:t>
            </a:r>
            <a:endParaRPr sz="1400"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65" name="Google Shape;1265;p17"/>
          <p:cNvSpPr txBox="1"/>
          <p:nvPr/>
        </p:nvSpPr>
        <p:spPr>
          <a:xfrm>
            <a:off x="5577964" y="2728097"/>
            <a:ext cx="163867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IMPLEMENTATION CYCLE</a:t>
            </a:r>
            <a:endParaRPr sz="1600" dirty="0">
              <a:solidFill>
                <a:schemeClr val="tx1">
                  <a:lumMod val="65000"/>
                  <a:lumOff val="35000"/>
                </a:schemeClr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66" name="Google Shape;1266;p17"/>
          <p:cNvSpPr/>
          <p:nvPr/>
        </p:nvSpPr>
        <p:spPr>
          <a:xfrm>
            <a:off x="9474633" y="1311695"/>
            <a:ext cx="309093" cy="309093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7" name="Google Shape;1267;p17"/>
          <p:cNvSpPr/>
          <p:nvPr/>
        </p:nvSpPr>
        <p:spPr>
          <a:xfrm>
            <a:off x="11166702" y="4272326"/>
            <a:ext cx="258531" cy="258531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8" name="Google Shape;1268;p17"/>
          <p:cNvSpPr/>
          <p:nvPr/>
        </p:nvSpPr>
        <p:spPr>
          <a:xfrm>
            <a:off x="11166702" y="4611636"/>
            <a:ext cx="258531" cy="258531"/>
          </a:xfrm>
          <a:prstGeom prst="ellipse">
            <a:avLst/>
          </a:prstGeom>
          <a:solidFill>
            <a:srgbClr val="9D9AFA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9" name="Google Shape;1269;p17"/>
          <p:cNvSpPr txBox="1"/>
          <p:nvPr/>
        </p:nvSpPr>
        <p:spPr>
          <a:xfrm>
            <a:off x="9667830" y="3898284"/>
            <a:ext cx="1448311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Engineer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0" name="Google Shape;1270;p17"/>
          <p:cNvSpPr txBox="1"/>
          <p:nvPr/>
        </p:nvSpPr>
        <p:spPr>
          <a:xfrm>
            <a:off x="9667830" y="4238690"/>
            <a:ext cx="1448311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Scientist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1" name="Google Shape;1271;p17"/>
          <p:cNvSpPr txBox="1"/>
          <p:nvPr/>
        </p:nvSpPr>
        <p:spPr>
          <a:xfrm>
            <a:off x="9667830" y="4578000"/>
            <a:ext cx="1448311" cy="291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Product Engineer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2" name="Google Shape;1272;p17" descr="Close with solid fill"/>
          <p:cNvSpPr/>
          <p:nvPr/>
        </p:nvSpPr>
        <p:spPr>
          <a:xfrm>
            <a:off x="9567148" y="1404210"/>
            <a:ext cx="124062" cy="124062"/>
          </a:xfrm>
          <a:custGeom>
            <a:avLst/>
            <a:gdLst/>
            <a:ahLst/>
            <a:cxnLst/>
            <a:rect l="l" t="t" r="r" b="b"/>
            <a:pathLst>
              <a:path w="165126" h="165126" extrusionOk="0">
                <a:moveTo>
                  <a:pt x="165126" y="19824"/>
                </a:moveTo>
                <a:lnTo>
                  <a:pt x="145302" y="0"/>
                </a:lnTo>
                <a:lnTo>
                  <a:pt x="82563" y="62739"/>
                </a:lnTo>
                <a:lnTo>
                  <a:pt x="19824" y="0"/>
                </a:lnTo>
                <a:lnTo>
                  <a:pt x="0" y="19824"/>
                </a:lnTo>
                <a:lnTo>
                  <a:pt x="62739" y="82563"/>
                </a:lnTo>
                <a:lnTo>
                  <a:pt x="0" y="145302"/>
                </a:lnTo>
                <a:lnTo>
                  <a:pt x="19824" y="165126"/>
                </a:lnTo>
                <a:lnTo>
                  <a:pt x="82563" y="102388"/>
                </a:lnTo>
                <a:lnTo>
                  <a:pt x="145302" y="165126"/>
                </a:lnTo>
                <a:lnTo>
                  <a:pt x="165126" y="145302"/>
                </a:lnTo>
                <a:lnTo>
                  <a:pt x="102388" y="82563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3" name="Google Shape;1273;p17"/>
          <p:cNvSpPr/>
          <p:nvPr/>
        </p:nvSpPr>
        <p:spPr>
          <a:xfrm>
            <a:off x="10541433" y="1311695"/>
            <a:ext cx="309093" cy="309093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74" name="Google Shape;1274;p17" descr="Checkmar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07057" y="1371558"/>
            <a:ext cx="189366" cy="189366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17"/>
          <p:cNvSpPr txBox="1"/>
          <p:nvPr/>
        </p:nvSpPr>
        <p:spPr>
          <a:xfrm>
            <a:off x="9756834" y="1244834"/>
            <a:ext cx="850223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Validation Failed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6" name="Google Shape;1276;p17"/>
          <p:cNvSpPr txBox="1"/>
          <p:nvPr/>
        </p:nvSpPr>
        <p:spPr>
          <a:xfrm>
            <a:off x="10845831" y="1244834"/>
            <a:ext cx="850223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Validation Passed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7" name="Google Shape;1277;p17"/>
          <p:cNvSpPr txBox="1"/>
          <p:nvPr/>
        </p:nvSpPr>
        <p:spPr>
          <a:xfrm>
            <a:off x="3919289" y="2660392"/>
            <a:ext cx="1638670" cy="51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DATA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ACQUISITION</a:t>
            </a:r>
            <a:endParaRPr sz="160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78" name="Google Shape;1278;p17"/>
          <p:cNvSpPr/>
          <p:nvPr/>
        </p:nvSpPr>
        <p:spPr>
          <a:xfrm>
            <a:off x="4547129" y="2246571"/>
            <a:ext cx="344104" cy="344104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Lato Black"/>
                <a:ea typeface="Lato Black"/>
                <a:cs typeface="Lato Black"/>
                <a:sym typeface="Lato Black"/>
              </a:rPr>
              <a:t>2</a:t>
            </a:r>
            <a:endParaRPr sz="1400">
              <a:solidFill>
                <a:schemeClr val="accent3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79" name="Google Shape;1279;p17"/>
          <p:cNvSpPr txBox="1"/>
          <p:nvPr/>
        </p:nvSpPr>
        <p:spPr>
          <a:xfrm>
            <a:off x="506747" y="601983"/>
            <a:ext cx="49033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1280" name="Google Shape;1280;p17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1" name="Google Shape;1281;p17"/>
          <p:cNvSpPr/>
          <p:nvPr/>
        </p:nvSpPr>
        <p:spPr>
          <a:xfrm>
            <a:off x="11166701" y="3933016"/>
            <a:ext cx="258531" cy="258531"/>
          </a:xfrm>
          <a:prstGeom prst="ellipse">
            <a:avLst/>
          </a:prstGeom>
          <a:gradFill>
            <a:gsLst>
              <a:gs pos="0">
                <a:srgbClr val="A5A5A5"/>
              </a:gs>
              <a:gs pos="100000">
                <a:srgbClr val="595959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8"/>
          <p:cNvSpPr/>
          <p:nvPr/>
        </p:nvSpPr>
        <p:spPr>
          <a:xfrm>
            <a:off x="678272" y="1477696"/>
            <a:ext cx="5375548" cy="4805544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F2F2F2"/>
              </a:gs>
              <a:gs pos="100000">
                <a:srgbClr val="D8D8D8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7" name="Google Shape;1287;p18"/>
          <p:cNvSpPr/>
          <p:nvPr/>
        </p:nvSpPr>
        <p:spPr>
          <a:xfrm>
            <a:off x="6096000" y="1477696"/>
            <a:ext cx="5375548" cy="4805544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F2F2F2"/>
              </a:gs>
              <a:gs pos="100000">
                <a:srgbClr val="D8D8D8"/>
              </a:gs>
            </a:gsLst>
            <a:lin ang="81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8" name="Google Shape;1288;p18"/>
          <p:cNvSpPr txBox="1"/>
          <p:nvPr/>
        </p:nvSpPr>
        <p:spPr>
          <a:xfrm>
            <a:off x="513533" y="1053734"/>
            <a:ext cx="4647266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Strategy Map Overview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9" name="Google Shape;1289;p18"/>
          <p:cNvSpPr/>
          <p:nvPr/>
        </p:nvSpPr>
        <p:spPr>
          <a:xfrm>
            <a:off x="5592198" y="4370499"/>
            <a:ext cx="1007604" cy="35781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/>
              </a:gs>
              <a:gs pos="100000">
                <a:srgbClr val="9D9AFA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Process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0" name="Google Shape;1290;p18"/>
          <p:cNvSpPr/>
          <p:nvPr/>
        </p:nvSpPr>
        <p:spPr>
          <a:xfrm>
            <a:off x="1934423" y="5369345"/>
            <a:ext cx="2778887" cy="74244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1" name="Google Shape;1291;p18"/>
          <p:cNvSpPr/>
          <p:nvPr/>
        </p:nvSpPr>
        <p:spPr>
          <a:xfrm>
            <a:off x="1394942" y="4179689"/>
            <a:ext cx="1871361" cy="74244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2" name="Google Shape;1292;p18"/>
          <p:cNvSpPr/>
          <p:nvPr/>
        </p:nvSpPr>
        <p:spPr>
          <a:xfrm>
            <a:off x="3465790" y="4178184"/>
            <a:ext cx="1871361" cy="74244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3" name="Google Shape;1293;p18"/>
          <p:cNvSpPr/>
          <p:nvPr/>
        </p:nvSpPr>
        <p:spPr>
          <a:xfrm>
            <a:off x="2060736" y="2990032"/>
            <a:ext cx="2526261" cy="74244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4" name="Google Shape;1294;p18"/>
          <p:cNvSpPr/>
          <p:nvPr/>
        </p:nvSpPr>
        <p:spPr>
          <a:xfrm>
            <a:off x="2060736" y="1800375"/>
            <a:ext cx="2526261" cy="74244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5" name="Google Shape;1295;p18"/>
          <p:cNvSpPr/>
          <p:nvPr/>
        </p:nvSpPr>
        <p:spPr>
          <a:xfrm>
            <a:off x="7394331" y="5369345"/>
            <a:ext cx="2778887" cy="74244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6" name="Google Shape;1296;p18"/>
          <p:cNvSpPr/>
          <p:nvPr/>
        </p:nvSpPr>
        <p:spPr>
          <a:xfrm>
            <a:off x="6854850" y="4179689"/>
            <a:ext cx="1871361" cy="74244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7" name="Google Shape;1297;p18"/>
          <p:cNvSpPr/>
          <p:nvPr/>
        </p:nvSpPr>
        <p:spPr>
          <a:xfrm>
            <a:off x="8925698" y="4178184"/>
            <a:ext cx="1871361" cy="74244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8" name="Google Shape;1298;p18"/>
          <p:cNvSpPr/>
          <p:nvPr/>
        </p:nvSpPr>
        <p:spPr>
          <a:xfrm>
            <a:off x="7520644" y="2990032"/>
            <a:ext cx="2526261" cy="74244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9" name="Google Shape;1299;p18"/>
          <p:cNvSpPr/>
          <p:nvPr/>
        </p:nvSpPr>
        <p:spPr>
          <a:xfrm>
            <a:off x="7520644" y="1800375"/>
            <a:ext cx="2526261" cy="742445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0" name="Google Shape;1300;p18"/>
          <p:cNvSpPr/>
          <p:nvPr/>
        </p:nvSpPr>
        <p:spPr>
          <a:xfrm>
            <a:off x="5592198" y="3250093"/>
            <a:ext cx="1007604" cy="35781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/>
              </a:gs>
              <a:gs pos="100000">
                <a:srgbClr val="9D9AFA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Customer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1" name="Google Shape;1301;p18"/>
          <p:cNvSpPr/>
          <p:nvPr/>
        </p:nvSpPr>
        <p:spPr>
          <a:xfrm>
            <a:off x="5592198" y="1992690"/>
            <a:ext cx="1007604" cy="35781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/>
              </a:gs>
              <a:gs pos="100000">
                <a:srgbClr val="9D9AFA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Financial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2" name="Google Shape;1302;p18"/>
          <p:cNvSpPr/>
          <p:nvPr/>
        </p:nvSpPr>
        <p:spPr>
          <a:xfrm>
            <a:off x="5592198" y="5561660"/>
            <a:ext cx="1007604" cy="35781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/>
              </a:gs>
              <a:gs pos="100000">
                <a:srgbClr val="9D9AFA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Learning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03" name="Google Shape;1303;p18"/>
          <p:cNvCxnSpPr/>
          <p:nvPr/>
        </p:nvCxnSpPr>
        <p:spPr>
          <a:xfrm>
            <a:off x="586423" y="5258576"/>
            <a:ext cx="11019154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4" name="Google Shape;1304;p18"/>
          <p:cNvSpPr/>
          <p:nvPr/>
        </p:nvSpPr>
        <p:spPr>
          <a:xfrm>
            <a:off x="8736737" y="5087293"/>
            <a:ext cx="195674" cy="174924"/>
          </a:xfrm>
          <a:prstGeom prst="triangle">
            <a:avLst>
              <a:gd name="adj" fmla="val 50000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5" name="Google Shape;1305;p18"/>
          <p:cNvSpPr/>
          <p:nvPr/>
        </p:nvSpPr>
        <p:spPr>
          <a:xfrm>
            <a:off x="3268209" y="5087293"/>
            <a:ext cx="195674" cy="174924"/>
          </a:xfrm>
          <a:prstGeom prst="triangle">
            <a:avLst>
              <a:gd name="adj" fmla="val 50000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06" name="Google Shape;1306;p18"/>
          <p:cNvCxnSpPr/>
          <p:nvPr/>
        </p:nvCxnSpPr>
        <p:spPr>
          <a:xfrm>
            <a:off x="586423" y="4057232"/>
            <a:ext cx="11019154" cy="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7" name="Google Shape;1307;p18"/>
          <p:cNvSpPr/>
          <p:nvPr/>
        </p:nvSpPr>
        <p:spPr>
          <a:xfrm>
            <a:off x="8736737" y="3885949"/>
            <a:ext cx="195674" cy="174924"/>
          </a:xfrm>
          <a:prstGeom prst="triangle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8" name="Google Shape;1308;p18"/>
          <p:cNvSpPr/>
          <p:nvPr/>
        </p:nvSpPr>
        <p:spPr>
          <a:xfrm>
            <a:off x="3268209" y="3885949"/>
            <a:ext cx="195674" cy="174924"/>
          </a:xfrm>
          <a:prstGeom prst="triangle">
            <a:avLst>
              <a:gd name="adj" fmla="val 50000"/>
            </a:avLst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09" name="Google Shape;1309;p18"/>
          <p:cNvCxnSpPr/>
          <p:nvPr/>
        </p:nvCxnSpPr>
        <p:spPr>
          <a:xfrm>
            <a:off x="586423" y="2875505"/>
            <a:ext cx="11019154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0" name="Google Shape;1310;p18"/>
          <p:cNvSpPr/>
          <p:nvPr/>
        </p:nvSpPr>
        <p:spPr>
          <a:xfrm>
            <a:off x="8736737" y="2704222"/>
            <a:ext cx="195674" cy="174924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1" name="Google Shape;1311;p18"/>
          <p:cNvSpPr/>
          <p:nvPr/>
        </p:nvSpPr>
        <p:spPr>
          <a:xfrm>
            <a:off x="3268209" y="2704222"/>
            <a:ext cx="195674" cy="174924"/>
          </a:xfrm>
          <a:prstGeom prst="triangle">
            <a:avLst>
              <a:gd name="adj" fmla="val 50000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2" name="Google Shape;1312;p18"/>
          <p:cNvSpPr txBox="1"/>
          <p:nvPr/>
        </p:nvSpPr>
        <p:spPr>
          <a:xfrm>
            <a:off x="2145095" y="5473541"/>
            <a:ext cx="244190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Upskill technical teams in automation, data engineering, and advanced ML-Ops best practices</a:t>
            </a:r>
            <a:endParaRPr/>
          </a:p>
        </p:txBody>
      </p:sp>
      <p:sp>
        <p:nvSpPr>
          <p:cNvPr id="1313" name="Google Shape;1313;p18"/>
          <p:cNvSpPr txBox="1"/>
          <p:nvPr/>
        </p:nvSpPr>
        <p:spPr>
          <a:xfrm>
            <a:off x="7562823" y="5473541"/>
            <a:ext cx="244190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Develop data-savvy innovation focussed leaders to drive continual innovation breakthoughs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4" name="Google Shape;1314;p18"/>
          <p:cNvSpPr txBox="1"/>
          <p:nvPr/>
        </p:nvSpPr>
        <p:spPr>
          <a:xfrm>
            <a:off x="2145095" y="3107338"/>
            <a:ext cx="244190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Elevate product reliability and customer satisfaction with AI-powered proactive support systems</a:t>
            </a:r>
            <a:endParaRPr/>
          </a:p>
        </p:txBody>
      </p:sp>
      <p:sp>
        <p:nvSpPr>
          <p:cNvPr id="1315" name="Google Shape;1315;p18"/>
          <p:cNvSpPr txBox="1"/>
          <p:nvPr/>
        </p:nvSpPr>
        <p:spPr>
          <a:xfrm>
            <a:off x="7563316" y="3107338"/>
            <a:ext cx="244190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Launch advanced AI features and personalized services to capture emerging markets</a:t>
            </a:r>
            <a:endParaRPr/>
          </a:p>
        </p:txBody>
      </p:sp>
      <p:sp>
        <p:nvSpPr>
          <p:cNvPr id="1316" name="Google Shape;1316;p18"/>
          <p:cNvSpPr txBox="1"/>
          <p:nvPr/>
        </p:nvSpPr>
        <p:spPr>
          <a:xfrm>
            <a:off x="7562823" y="1986930"/>
            <a:ext cx="24419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Grow high-margin AI subscription revenue streams via new tiered service models</a:t>
            </a:r>
            <a:endParaRPr/>
          </a:p>
        </p:txBody>
      </p:sp>
      <p:sp>
        <p:nvSpPr>
          <p:cNvPr id="1317" name="Google Shape;1317;p18"/>
          <p:cNvSpPr txBox="1"/>
          <p:nvPr/>
        </p:nvSpPr>
        <p:spPr>
          <a:xfrm>
            <a:off x="2102915" y="1986930"/>
            <a:ext cx="244190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Cut operating costs with AI-driven process and resource optimization</a:t>
            </a:r>
            <a:endParaRPr/>
          </a:p>
        </p:txBody>
      </p:sp>
      <p:sp>
        <p:nvSpPr>
          <p:cNvPr id="1318" name="Google Shape;1318;p18"/>
          <p:cNvSpPr txBox="1"/>
          <p:nvPr/>
        </p:nvSpPr>
        <p:spPr>
          <a:xfrm>
            <a:off x="3642141" y="4312505"/>
            <a:ext cx="151865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Implement predictive maintenance analytics to minimize downtime</a:t>
            </a:r>
            <a:endParaRPr/>
          </a:p>
        </p:txBody>
      </p:sp>
      <p:sp>
        <p:nvSpPr>
          <p:cNvPr id="1319" name="Google Shape;1319;p18"/>
          <p:cNvSpPr txBox="1"/>
          <p:nvPr/>
        </p:nvSpPr>
        <p:spPr>
          <a:xfrm>
            <a:off x="1567707" y="4312505"/>
            <a:ext cx="151865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Automate core workflows with intelligent robotic agents</a:t>
            </a:r>
            <a:endParaRPr/>
          </a:p>
        </p:txBody>
      </p:sp>
      <p:sp>
        <p:nvSpPr>
          <p:cNvPr id="1320" name="Google Shape;1320;p18"/>
          <p:cNvSpPr txBox="1"/>
          <p:nvPr/>
        </p:nvSpPr>
        <p:spPr>
          <a:xfrm>
            <a:off x="6989021" y="4312505"/>
            <a:ext cx="16030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Deploy ML-Ops pipeline governance to expedite model delivery</a:t>
            </a:r>
            <a:endParaRPr/>
          </a:p>
        </p:txBody>
      </p:sp>
      <p:sp>
        <p:nvSpPr>
          <p:cNvPr id="1321" name="Google Shape;1321;p18"/>
          <p:cNvSpPr txBox="1"/>
          <p:nvPr/>
        </p:nvSpPr>
        <p:spPr>
          <a:xfrm>
            <a:off x="9059869" y="4312505"/>
            <a:ext cx="160301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Scale cross-functional AI product squads for rapid rollout</a:t>
            </a:r>
            <a:endParaRPr/>
          </a:p>
        </p:txBody>
      </p:sp>
      <p:sp>
        <p:nvSpPr>
          <p:cNvPr id="1322" name="Google Shape;1322;p18"/>
          <p:cNvSpPr txBox="1"/>
          <p:nvPr/>
        </p:nvSpPr>
        <p:spPr>
          <a:xfrm>
            <a:off x="506746" y="601983"/>
            <a:ext cx="1096480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1323" name="Google Shape;1323;p18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8" name="Google Shape;1328;p19"/>
          <p:cNvCxnSpPr/>
          <p:nvPr/>
        </p:nvCxnSpPr>
        <p:spPr>
          <a:xfrm rot="10800000" flipH="1">
            <a:off x="2657475" y="1447677"/>
            <a:ext cx="6363886" cy="884358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9" name="Google Shape;1329;p19"/>
          <p:cNvCxnSpPr/>
          <p:nvPr/>
        </p:nvCxnSpPr>
        <p:spPr>
          <a:xfrm rot="10800000">
            <a:off x="2761295" y="4794346"/>
            <a:ext cx="6260066" cy="29226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0" name="Google Shape;1330;p19"/>
          <p:cNvSpPr txBox="1"/>
          <p:nvPr/>
        </p:nvSpPr>
        <p:spPr>
          <a:xfrm>
            <a:off x="513532" y="1091834"/>
            <a:ext cx="3267893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Resource Allocation Plan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31" name="Google Shape;133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125" y="2165473"/>
            <a:ext cx="4190999" cy="27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9"/>
          <p:cNvSpPr txBox="1"/>
          <p:nvPr/>
        </p:nvSpPr>
        <p:spPr>
          <a:xfrm>
            <a:off x="1877158" y="3383642"/>
            <a:ext cx="1904267" cy="32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LONG-TERM</a:t>
            </a:r>
            <a:endParaRPr sz="18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33" name="Google Shape;1333;p19"/>
          <p:cNvSpPr txBox="1"/>
          <p:nvPr/>
        </p:nvSpPr>
        <p:spPr>
          <a:xfrm>
            <a:off x="4174086" y="3741304"/>
            <a:ext cx="625110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60%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4" name="Google Shape;1334;p19"/>
          <p:cNvSpPr txBox="1"/>
          <p:nvPr/>
        </p:nvSpPr>
        <p:spPr>
          <a:xfrm>
            <a:off x="1252048" y="2358407"/>
            <a:ext cx="625110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20%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5" name="Google Shape;1335;p19"/>
          <p:cNvSpPr txBox="1"/>
          <p:nvPr/>
        </p:nvSpPr>
        <p:spPr>
          <a:xfrm>
            <a:off x="939493" y="4088700"/>
            <a:ext cx="625110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20%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36" name="Google Shape;133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70938" y="1295400"/>
            <a:ext cx="4154262" cy="3936092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19"/>
          <p:cNvSpPr txBox="1"/>
          <p:nvPr/>
        </p:nvSpPr>
        <p:spPr>
          <a:xfrm>
            <a:off x="8095935" y="3025980"/>
            <a:ext cx="1904267" cy="32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Lato Black"/>
                <a:ea typeface="Lato Black"/>
                <a:cs typeface="Lato Black"/>
                <a:sym typeface="Lato Black"/>
              </a:rPr>
              <a:t>SHORT-TERM</a:t>
            </a:r>
            <a:endParaRPr sz="180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38" name="Google Shape;1338;p19"/>
          <p:cNvSpPr/>
          <p:nvPr/>
        </p:nvSpPr>
        <p:spPr>
          <a:xfrm flipH="1">
            <a:off x="8385548" y="3350428"/>
            <a:ext cx="1325040" cy="269278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F7F7F"/>
              </a:gs>
              <a:gs pos="100000">
                <a:srgbClr val="BFBFBF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Show Detail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9" name="Google Shape;1339;p19"/>
          <p:cNvSpPr txBox="1"/>
          <p:nvPr/>
        </p:nvSpPr>
        <p:spPr>
          <a:xfrm>
            <a:off x="10761845" y="2358407"/>
            <a:ext cx="625110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40%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0" name="Google Shape;1340;p19"/>
          <p:cNvSpPr txBox="1"/>
          <p:nvPr/>
        </p:nvSpPr>
        <p:spPr>
          <a:xfrm>
            <a:off x="9139781" y="5084571"/>
            <a:ext cx="625110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20%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1" name="Google Shape;1341;p19"/>
          <p:cNvSpPr txBox="1"/>
          <p:nvPr/>
        </p:nvSpPr>
        <p:spPr>
          <a:xfrm>
            <a:off x="6868391" y="4213155"/>
            <a:ext cx="625110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15%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2" name="Google Shape;1342;p19"/>
          <p:cNvSpPr txBox="1"/>
          <p:nvPr/>
        </p:nvSpPr>
        <p:spPr>
          <a:xfrm>
            <a:off x="6629768" y="2662451"/>
            <a:ext cx="625110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10%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3" name="Google Shape;1343;p19"/>
          <p:cNvSpPr txBox="1"/>
          <p:nvPr/>
        </p:nvSpPr>
        <p:spPr>
          <a:xfrm>
            <a:off x="7220861" y="1648257"/>
            <a:ext cx="625110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10%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4" name="Google Shape;1344;p19"/>
          <p:cNvSpPr txBox="1"/>
          <p:nvPr/>
        </p:nvSpPr>
        <p:spPr>
          <a:xfrm>
            <a:off x="8396251" y="1102592"/>
            <a:ext cx="625110" cy="3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5%</a:t>
            </a:r>
            <a:endParaRPr sz="2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45" name="Google Shape;1345;p19"/>
          <p:cNvCxnSpPr/>
          <p:nvPr/>
        </p:nvCxnSpPr>
        <p:spPr>
          <a:xfrm>
            <a:off x="8735513" y="1866900"/>
            <a:ext cx="0" cy="20320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346" name="Google Shape;1346;p19"/>
          <p:cNvSpPr txBox="1"/>
          <p:nvPr/>
        </p:nvSpPr>
        <p:spPr>
          <a:xfrm>
            <a:off x="8645347" y="2043218"/>
            <a:ext cx="962203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Training &amp; Talent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47" name="Google Shape;1347;p19"/>
          <p:cNvCxnSpPr/>
          <p:nvPr/>
        </p:nvCxnSpPr>
        <p:spPr>
          <a:xfrm>
            <a:off x="8254411" y="2070100"/>
            <a:ext cx="0" cy="324448"/>
          </a:xfrm>
          <a:prstGeom prst="straightConnector1">
            <a:avLst/>
          </a:prstGeom>
          <a:noFill/>
          <a:ln w="9525" cap="flat" cmpd="sng">
            <a:solidFill>
              <a:srgbClr val="9D9AFA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348" name="Google Shape;1348;p19"/>
          <p:cNvSpPr txBox="1"/>
          <p:nvPr/>
        </p:nvSpPr>
        <p:spPr>
          <a:xfrm>
            <a:off x="8164245" y="2332035"/>
            <a:ext cx="104642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Compliance &amp; Risk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49" name="Google Shape;1349;p19"/>
          <p:cNvCxnSpPr/>
          <p:nvPr/>
        </p:nvCxnSpPr>
        <p:spPr>
          <a:xfrm>
            <a:off x="7730536" y="2781300"/>
            <a:ext cx="365399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350" name="Google Shape;1350;p19"/>
          <p:cNvSpPr txBox="1"/>
          <p:nvPr/>
        </p:nvSpPr>
        <p:spPr>
          <a:xfrm>
            <a:off x="8055791" y="2662451"/>
            <a:ext cx="1046428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Customer Succes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51" name="Google Shape;1351;p19"/>
          <p:cNvCxnSpPr/>
          <p:nvPr/>
        </p:nvCxnSpPr>
        <p:spPr>
          <a:xfrm>
            <a:off x="10000202" y="3798454"/>
            <a:ext cx="365399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352" name="Google Shape;1352;p19"/>
          <p:cNvSpPr txBox="1"/>
          <p:nvPr/>
        </p:nvSpPr>
        <p:spPr>
          <a:xfrm>
            <a:off x="8889420" y="3668818"/>
            <a:ext cx="1293481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Digital Infrastructure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53" name="Google Shape;1353;p19"/>
          <p:cNvCxnSpPr/>
          <p:nvPr/>
        </p:nvCxnSpPr>
        <p:spPr>
          <a:xfrm>
            <a:off x="7973463" y="3982716"/>
            <a:ext cx="0" cy="324448"/>
          </a:xfrm>
          <a:prstGeom prst="straightConnector1">
            <a:avLst/>
          </a:prstGeom>
          <a:noFill/>
          <a:ln w="9525" cap="flat" cmpd="sng">
            <a:solidFill>
              <a:srgbClr val="120AF1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354" name="Google Shape;1354;p19"/>
          <p:cNvSpPr txBox="1"/>
          <p:nvPr/>
        </p:nvSpPr>
        <p:spPr>
          <a:xfrm>
            <a:off x="7932264" y="3907500"/>
            <a:ext cx="1293481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Process Automation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55" name="Google Shape;1355;p19"/>
          <p:cNvCxnSpPr/>
          <p:nvPr/>
        </p:nvCxnSpPr>
        <p:spPr>
          <a:xfrm>
            <a:off x="8493326" y="4352378"/>
            <a:ext cx="0" cy="324448"/>
          </a:xfrm>
          <a:prstGeom prst="straightConnector1">
            <a:avLst/>
          </a:prstGeom>
          <a:noFill/>
          <a:ln w="9525" cap="flat" cmpd="sng">
            <a:solidFill>
              <a:srgbClr val="D8AAFA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356" name="Google Shape;1356;p19"/>
          <p:cNvSpPr txBox="1"/>
          <p:nvPr/>
        </p:nvSpPr>
        <p:spPr>
          <a:xfrm>
            <a:off x="8455478" y="4254500"/>
            <a:ext cx="1293481" cy="22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Product Development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7" name="Google Shape;1357;p19"/>
          <p:cNvSpPr/>
          <p:nvPr/>
        </p:nvSpPr>
        <p:spPr>
          <a:xfrm>
            <a:off x="939493" y="5266869"/>
            <a:ext cx="188013" cy="188013"/>
          </a:xfrm>
          <a:prstGeom prst="ellipse">
            <a:avLst/>
          </a:prstGeom>
          <a:solidFill>
            <a:srgbClr val="7F7F7F"/>
          </a:solidFill>
          <a:ln>
            <a:noFill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8" name="Google Shape;1358;p19"/>
          <p:cNvSpPr/>
          <p:nvPr/>
        </p:nvSpPr>
        <p:spPr>
          <a:xfrm>
            <a:off x="939493" y="5564842"/>
            <a:ext cx="188013" cy="188013"/>
          </a:xfrm>
          <a:prstGeom prst="ellipse">
            <a:avLst/>
          </a:prstGeom>
          <a:solidFill>
            <a:srgbClr val="BFBFBF"/>
          </a:solidFill>
          <a:ln>
            <a:noFill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9" name="Google Shape;1359;p19"/>
          <p:cNvSpPr/>
          <p:nvPr/>
        </p:nvSpPr>
        <p:spPr>
          <a:xfrm>
            <a:off x="939493" y="5862815"/>
            <a:ext cx="188013" cy="188013"/>
          </a:xfrm>
          <a:prstGeom prst="ellipse">
            <a:avLst/>
          </a:prstGeom>
          <a:solidFill>
            <a:srgbClr val="D8D8D8"/>
          </a:solidFill>
          <a:ln>
            <a:noFill/>
          </a:ln>
          <a:effectLst>
            <a:outerShdw blurRad="292100" sx="102000" sy="102000" algn="ctr" rotWithShape="0">
              <a:srgbClr val="000000">
                <a:alpha val="1568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0" name="Google Shape;1360;p19"/>
          <p:cNvSpPr txBox="1"/>
          <p:nvPr/>
        </p:nvSpPr>
        <p:spPr>
          <a:xfrm>
            <a:off x="1138119" y="5213037"/>
            <a:ext cx="3035967" cy="27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maintain essential business survival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1" name="Google Shape;1361;p19"/>
          <p:cNvSpPr txBox="1"/>
          <p:nvPr/>
        </p:nvSpPr>
        <p:spPr>
          <a:xfrm>
            <a:off x="1138119" y="5502041"/>
            <a:ext cx="3035967" cy="27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 regular business growth and expansion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2" name="Google Shape;1362;p19"/>
          <p:cNvSpPr txBox="1"/>
          <p:nvPr/>
        </p:nvSpPr>
        <p:spPr>
          <a:xfrm>
            <a:off x="1138119" y="5803784"/>
            <a:ext cx="3799005" cy="274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bring strategic transformation for market leadership</a:t>
            </a:r>
            <a:endParaRPr sz="1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3" name="Google Shape;1363;p19"/>
          <p:cNvSpPr txBox="1"/>
          <p:nvPr/>
        </p:nvSpPr>
        <p:spPr>
          <a:xfrm>
            <a:off x="506747" y="601983"/>
            <a:ext cx="1088020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1364" name="Google Shape;1364;p19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20"/>
          <p:cNvSpPr/>
          <p:nvPr/>
        </p:nvSpPr>
        <p:spPr>
          <a:xfrm rot="-5400000" flipH="1">
            <a:off x="-114495" y="3382917"/>
            <a:ext cx="3417203" cy="1990389"/>
          </a:xfrm>
          <a:prstGeom prst="round2SameRect">
            <a:avLst>
              <a:gd name="adj1" fmla="val 13802"/>
              <a:gd name="adj2" fmla="val 0"/>
            </a:avLst>
          </a:prstGeom>
          <a:gradFill>
            <a:gsLst>
              <a:gs pos="0">
                <a:srgbClr val="D8D8D8"/>
              </a:gs>
              <a:gs pos="100000">
                <a:srgbClr val="F2F2F2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70" name="Google Shape;1370;p20"/>
          <p:cNvGrpSpPr/>
          <p:nvPr/>
        </p:nvGrpSpPr>
        <p:grpSpPr>
          <a:xfrm>
            <a:off x="609734" y="3035664"/>
            <a:ext cx="1835385" cy="2672446"/>
            <a:chOff x="609735" y="3035664"/>
            <a:chExt cx="1434750" cy="2672446"/>
          </a:xfrm>
        </p:grpSpPr>
        <p:cxnSp>
          <p:nvCxnSpPr>
            <p:cNvPr id="1371" name="Google Shape;1371;p20"/>
            <p:cNvCxnSpPr/>
            <p:nvPr/>
          </p:nvCxnSpPr>
          <p:spPr>
            <a:xfrm>
              <a:off x="609735" y="3035664"/>
              <a:ext cx="1434750" cy="0"/>
            </a:xfrm>
            <a:prstGeom prst="straightConnector1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2" name="Google Shape;1372;p20"/>
            <p:cNvCxnSpPr/>
            <p:nvPr/>
          </p:nvCxnSpPr>
          <p:spPr>
            <a:xfrm>
              <a:off x="609735" y="3399914"/>
              <a:ext cx="1434750" cy="0"/>
            </a:xfrm>
            <a:prstGeom prst="straightConnector1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3" name="Google Shape;1373;p20"/>
            <p:cNvCxnSpPr/>
            <p:nvPr/>
          </p:nvCxnSpPr>
          <p:spPr>
            <a:xfrm>
              <a:off x="609735" y="3821314"/>
              <a:ext cx="1434750" cy="0"/>
            </a:xfrm>
            <a:prstGeom prst="straightConnector1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4" name="Google Shape;1374;p20"/>
            <p:cNvCxnSpPr/>
            <p:nvPr/>
          </p:nvCxnSpPr>
          <p:spPr>
            <a:xfrm>
              <a:off x="609735" y="4217518"/>
              <a:ext cx="1434750" cy="0"/>
            </a:xfrm>
            <a:prstGeom prst="straightConnector1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5" name="Google Shape;1375;p20"/>
            <p:cNvCxnSpPr/>
            <p:nvPr/>
          </p:nvCxnSpPr>
          <p:spPr>
            <a:xfrm>
              <a:off x="609735" y="4627554"/>
              <a:ext cx="1434750" cy="0"/>
            </a:xfrm>
            <a:prstGeom prst="straightConnector1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376" name="Google Shape;1376;p20"/>
            <p:cNvCxnSpPr/>
            <p:nvPr/>
          </p:nvCxnSpPr>
          <p:spPr>
            <a:xfrm>
              <a:off x="609735" y="5708110"/>
              <a:ext cx="1434750" cy="0"/>
            </a:xfrm>
            <a:prstGeom prst="straightConnector1">
              <a:avLst/>
            </a:prstGeom>
            <a:noFill/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377" name="Google Shape;1377;p20"/>
          <p:cNvSpPr txBox="1"/>
          <p:nvPr/>
        </p:nvSpPr>
        <p:spPr>
          <a:xfrm>
            <a:off x="513532" y="1091834"/>
            <a:ext cx="5830118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Resource Allocation Plan (Long-Term)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8" name="Google Shape;1378;p20"/>
          <p:cNvSpPr txBox="1"/>
          <p:nvPr/>
        </p:nvSpPr>
        <p:spPr>
          <a:xfrm>
            <a:off x="694809" y="1687870"/>
            <a:ext cx="96276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TIMELINE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79" name="Google Shape;1379;p20"/>
          <p:cNvSpPr txBox="1"/>
          <p:nvPr/>
        </p:nvSpPr>
        <p:spPr>
          <a:xfrm>
            <a:off x="694809" y="2353035"/>
            <a:ext cx="96276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HORIZON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380" name="Google Shape;1380;p20"/>
          <p:cNvSpPr/>
          <p:nvPr/>
        </p:nvSpPr>
        <p:spPr>
          <a:xfrm>
            <a:off x="2275114" y="2120372"/>
            <a:ext cx="2951480" cy="551697"/>
          </a:xfrm>
          <a:custGeom>
            <a:avLst/>
            <a:gdLst/>
            <a:ahLst/>
            <a:cxnLst/>
            <a:rect l="l" t="t" r="r" b="b"/>
            <a:pathLst>
              <a:path w="2616200" h="551697" extrusionOk="0">
                <a:moveTo>
                  <a:pt x="1308100" y="0"/>
                </a:moveTo>
                <a:lnTo>
                  <a:pt x="1416570" y="127735"/>
                </a:lnTo>
                <a:lnTo>
                  <a:pt x="2545538" y="127735"/>
                </a:lnTo>
                <a:cubicBezTo>
                  <a:pt x="2584564" y="127735"/>
                  <a:pt x="2616200" y="159371"/>
                  <a:pt x="2616200" y="198397"/>
                </a:cubicBezTo>
                <a:lnTo>
                  <a:pt x="2616200" y="551697"/>
                </a:lnTo>
                <a:lnTo>
                  <a:pt x="0" y="551697"/>
                </a:lnTo>
                <a:lnTo>
                  <a:pt x="0" y="198397"/>
                </a:lnTo>
                <a:cubicBezTo>
                  <a:pt x="0" y="159371"/>
                  <a:pt x="31636" y="127735"/>
                  <a:pt x="70662" y="127735"/>
                </a:cubicBezTo>
                <a:lnTo>
                  <a:pt x="1199631" y="12773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1" name="Google Shape;1381;p20"/>
          <p:cNvSpPr/>
          <p:nvPr/>
        </p:nvSpPr>
        <p:spPr>
          <a:xfrm>
            <a:off x="2275114" y="2669509"/>
            <a:ext cx="2951480" cy="30386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2" name="Google Shape;1382;p20"/>
          <p:cNvSpPr/>
          <p:nvPr/>
        </p:nvSpPr>
        <p:spPr>
          <a:xfrm>
            <a:off x="2275114" y="3407520"/>
            <a:ext cx="2951480" cy="122529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383" name="Google Shape;1383;p20"/>
          <p:cNvGrpSpPr/>
          <p:nvPr/>
        </p:nvGrpSpPr>
        <p:grpSpPr>
          <a:xfrm>
            <a:off x="2287814" y="1643484"/>
            <a:ext cx="2951480" cy="350382"/>
            <a:chOff x="2273300" y="1638040"/>
            <a:chExt cx="2951480" cy="350382"/>
          </a:xfrm>
        </p:grpSpPr>
        <p:cxnSp>
          <p:nvCxnSpPr>
            <p:cNvPr id="1384" name="Google Shape;1384;p20"/>
            <p:cNvCxnSpPr/>
            <p:nvPr/>
          </p:nvCxnSpPr>
          <p:spPr>
            <a:xfrm>
              <a:off x="2273300" y="1803400"/>
              <a:ext cx="2951480" cy="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sp>
          <p:nvSpPr>
            <p:cNvPr id="1385" name="Google Shape;1385;p20"/>
            <p:cNvSpPr/>
            <p:nvPr/>
          </p:nvSpPr>
          <p:spPr>
            <a:xfrm>
              <a:off x="3110483" y="1638040"/>
              <a:ext cx="1251715" cy="350382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2F2F2"/>
                </a:gs>
                <a:gs pos="1000">
                  <a:srgbClr val="F2F2F2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Y1 – Y3</a:t>
              </a:r>
              <a:endParaRPr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86" name="Google Shape;1386;p20"/>
          <p:cNvSpPr txBox="1"/>
          <p:nvPr/>
        </p:nvSpPr>
        <p:spPr>
          <a:xfrm>
            <a:off x="3282170" y="2350952"/>
            <a:ext cx="96276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SURVIVE</a:t>
            </a:r>
            <a:endParaRPr sz="11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1387" name="Google Shape;1387;p20"/>
          <p:cNvCxnSpPr/>
          <p:nvPr/>
        </p:nvCxnSpPr>
        <p:spPr>
          <a:xfrm>
            <a:off x="2465614" y="3650344"/>
            <a:ext cx="2527300" cy="0"/>
          </a:xfrm>
          <a:prstGeom prst="straightConnector1">
            <a:avLst/>
          </a:prstGeom>
          <a:noFill/>
          <a:ln w="92075" cap="rnd" cmpd="sng">
            <a:solidFill>
              <a:srgbClr val="47146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88" name="Google Shape;1388;p20"/>
          <p:cNvCxnSpPr/>
          <p:nvPr/>
        </p:nvCxnSpPr>
        <p:spPr>
          <a:xfrm>
            <a:off x="2465614" y="4018644"/>
            <a:ext cx="2527300" cy="0"/>
          </a:xfrm>
          <a:prstGeom prst="straightConnector1">
            <a:avLst/>
          </a:prstGeom>
          <a:noFill/>
          <a:ln w="92075" cap="rnd" cmpd="sng">
            <a:solidFill>
              <a:srgbClr val="47146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89" name="Google Shape;1389;p20"/>
          <p:cNvCxnSpPr/>
          <p:nvPr/>
        </p:nvCxnSpPr>
        <p:spPr>
          <a:xfrm>
            <a:off x="2465614" y="4386944"/>
            <a:ext cx="2527300" cy="0"/>
          </a:xfrm>
          <a:prstGeom prst="straightConnector1">
            <a:avLst/>
          </a:prstGeom>
          <a:noFill/>
          <a:ln w="92075" cap="rnd" cmpd="sng">
            <a:solidFill>
              <a:srgbClr val="47146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0" name="Google Shape;1390;p20"/>
          <p:cNvSpPr/>
          <p:nvPr/>
        </p:nvSpPr>
        <p:spPr>
          <a:xfrm>
            <a:off x="3148971" y="3533748"/>
            <a:ext cx="233192" cy="233192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1" name="Google Shape;1391;p20"/>
          <p:cNvSpPr/>
          <p:nvPr/>
        </p:nvSpPr>
        <p:spPr>
          <a:xfrm>
            <a:off x="2589301" y="3902048"/>
            <a:ext cx="233192" cy="23319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2" name="Google Shape;1392;p20"/>
          <p:cNvSpPr/>
          <p:nvPr/>
        </p:nvSpPr>
        <p:spPr>
          <a:xfrm>
            <a:off x="3467079" y="4270348"/>
            <a:ext cx="233192" cy="233192"/>
          </a:xfrm>
          <a:prstGeom prst="ellipse">
            <a:avLst/>
          </a:prstGeom>
          <a:solidFill>
            <a:srgbClr val="F2F2F2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3" name="Google Shape;1393;p20"/>
          <p:cNvSpPr/>
          <p:nvPr/>
        </p:nvSpPr>
        <p:spPr>
          <a:xfrm rot="10800000" flipH="1">
            <a:off x="2275115" y="5710692"/>
            <a:ext cx="2951479" cy="376020"/>
          </a:xfrm>
          <a:prstGeom prst="round2SameRect">
            <a:avLst>
              <a:gd name="adj1" fmla="val 27784"/>
              <a:gd name="adj2" fmla="val 0"/>
            </a:avLst>
          </a:prstGeom>
          <a:solidFill>
            <a:srgbClr val="EEDCFD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94" name="Google Shape;1394;p20"/>
          <p:cNvCxnSpPr/>
          <p:nvPr/>
        </p:nvCxnSpPr>
        <p:spPr>
          <a:xfrm>
            <a:off x="2267494" y="3035664"/>
            <a:ext cx="2951480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5" name="Google Shape;1395;p20"/>
          <p:cNvSpPr txBox="1"/>
          <p:nvPr/>
        </p:nvSpPr>
        <p:spPr>
          <a:xfrm>
            <a:off x="2334575" y="4666711"/>
            <a:ext cx="2789378" cy="99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Optimize system performance &amp; security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Enhance user experience with iterative updates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Streamline internal processes with automation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6" name="Google Shape;1396;p20"/>
          <p:cNvSpPr txBox="1"/>
          <p:nvPr/>
        </p:nvSpPr>
        <p:spPr>
          <a:xfrm>
            <a:off x="2334574" y="3066695"/>
            <a:ext cx="2920686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Operational stability &amp; continuous improvement</a:t>
            </a:r>
            <a:endParaRPr/>
          </a:p>
        </p:txBody>
      </p:sp>
      <p:sp>
        <p:nvSpPr>
          <p:cNvPr id="1397" name="Google Shape;1397;p20"/>
          <p:cNvSpPr txBox="1"/>
          <p:nvPr/>
        </p:nvSpPr>
        <p:spPr>
          <a:xfrm>
            <a:off x="2334575" y="2725448"/>
            <a:ext cx="278937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Stabilize and optimize current core business</a:t>
            </a:r>
            <a:endParaRPr/>
          </a:p>
        </p:txBody>
      </p:sp>
      <p:sp>
        <p:nvSpPr>
          <p:cNvPr id="1398" name="Google Shape;1398;p20"/>
          <p:cNvSpPr/>
          <p:nvPr/>
        </p:nvSpPr>
        <p:spPr>
          <a:xfrm>
            <a:off x="2958900" y="5772880"/>
            <a:ext cx="183642" cy="25170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9" name="Google Shape;1399;p20"/>
          <p:cNvSpPr/>
          <p:nvPr/>
        </p:nvSpPr>
        <p:spPr>
          <a:xfrm>
            <a:off x="3170829" y="5772880"/>
            <a:ext cx="183642" cy="25170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0" name="Google Shape;1400;p20"/>
          <p:cNvSpPr/>
          <p:nvPr/>
        </p:nvSpPr>
        <p:spPr>
          <a:xfrm>
            <a:off x="3382758" y="5772880"/>
            <a:ext cx="183642" cy="25170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1" name="Google Shape;1401;p20"/>
          <p:cNvSpPr/>
          <p:nvPr/>
        </p:nvSpPr>
        <p:spPr>
          <a:xfrm>
            <a:off x="3594688" y="5772880"/>
            <a:ext cx="183642" cy="25170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2" name="Google Shape;1402;p20"/>
          <p:cNvSpPr/>
          <p:nvPr/>
        </p:nvSpPr>
        <p:spPr>
          <a:xfrm>
            <a:off x="3817003" y="5772880"/>
            <a:ext cx="183642" cy="25170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3" name="Google Shape;1403;p20"/>
          <p:cNvSpPr/>
          <p:nvPr/>
        </p:nvSpPr>
        <p:spPr>
          <a:xfrm>
            <a:off x="4028932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4" name="Google Shape;1404;p20"/>
          <p:cNvSpPr/>
          <p:nvPr/>
        </p:nvSpPr>
        <p:spPr>
          <a:xfrm>
            <a:off x="4240861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5" name="Google Shape;1405;p20"/>
          <p:cNvSpPr/>
          <p:nvPr/>
        </p:nvSpPr>
        <p:spPr>
          <a:xfrm>
            <a:off x="4461416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6" name="Google Shape;1406;p20"/>
          <p:cNvSpPr/>
          <p:nvPr/>
        </p:nvSpPr>
        <p:spPr>
          <a:xfrm>
            <a:off x="4672182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7" name="Google Shape;1407;p20"/>
          <p:cNvSpPr txBox="1"/>
          <p:nvPr/>
        </p:nvSpPr>
        <p:spPr>
          <a:xfrm>
            <a:off x="2465017" y="5779228"/>
            <a:ext cx="48362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50%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08" name="Google Shape;1408;p20"/>
          <p:cNvSpPr/>
          <p:nvPr/>
        </p:nvSpPr>
        <p:spPr>
          <a:xfrm>
            <a:off x="5350281" y="2120372"/>
            <a:ext cx="2951480" cy="551697"/>
          </a:xfrm>
          <a:custGeom>
            <a:avLst/>
            <a:gdLst/>
            <a:ahLst/>
            <a:cxnLst/>
            <a:rect l="l" t="t" r="r" b="b"/>
            <a:pathLst>
              <a:path w="2616200" h="551697" extrusionOk="0">
                <a:moveTo>
                  <a:pt x="1308100" y="0"/>
                </a:moveTo>
                <a:lnTo>
                  <a:pt x="1416570" y="127735"/>
                </a:lnTo>
                <a:lnTo>
                  <a:pt x="2545538" y="127735"/>
                </a:lnTo>
                <a:cubicBezTo>
                  <a:pt x="2584564" y="127735"/>
                  <a:pt x="2616200" y="159371"/>
                  <a:pt x="2616200" y="198397"/>
                </a:cubicBezTo>
                <a:lnTo>
                  <a:pt x="2616200" y="551697"/>
                </a:lnTo>
                <a:lnTo>
                  <a:pt x="0" y="551697"/>
                </a:lnTo>
                <a:lnTo>
                  <a:pt x="0" y="198397"/>
                </a:lnTo>
                <a:cubicBezTo>
                  <a:pt x="0" y="159371"/>
                  <a:pt x="31636" y="127735"/>
                  <a:pt x="70662" y="127735"/>
                </a:cubicBezTo>
                <a:lnTo>
                  <a:pt x="1199631" y="12773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9" name="Google Shape;1409;p20"/>
          <p:cNvSpPr/>
          <p:nvPr/>
        </p:nvSpPr>
        <p:spPr>
          <a:xfrm>
            <a:off x="5350281" y="2669509"/>
            <a:ext cx="2951480" cy="30386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0" name="Google Shape;1410;p20"/>
          <p:cNvSpPr/>
          <p:nvPr/>
        </p:nvSpPr>
        <p:spPr>
          <a:xfrm>
            <a:off x="5350281" y="3407520"/>
            <a:ext cx="2951480" cy="122529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11" name="Google Shape;1411;p20"/>
          <p:cNvGrpSpPr/>
          <p:nvPr/>
        </p:nvGrpSpPr>
        <p:grpSpPr>
          <a:xfrm>
            <a:off x="5362981" y="1643484"/>
            <a:ext cx="2951480" cy="350382"/>
            <a:chOff x="2273300" y="1638040"/>
            <a:chExt cx="2951480" cy="350382"/>
          </a:xfrm>
        </p:grpSpPr>
        <p:cxnSp>
          <p:nvCxnSpPr>
            <p:cNvPr id="1412" name="Google Shape;1412;p20"/>
            <p:cNvCxnSpPr/>
            <p:nvPr/>
          </p:nvCxnSpPr>
          <p:spPr>
            <a:xfrm>
              <a:off x="2273300" y="1803400"/>
              <a:ext cx="2951480" cy="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sp>
          <p:nvSpPr>
            <p:cNvPr id="1413" name="Google Shape;1413;p20"/>
            <p:cNvSpPr/>
            <p:nvPr/>
          </p:nvSpPr>
          <p:spPr>
            <a:xfrm>
              <a:off x="3110483" y="1638040"/>
              <a:ext cx="1251715" cy="350382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2F2F2"/>
                </a:gs>
                <a:gs pos="1000">
                  <a:srgbClr val="F2F2F2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Y3 – Y6</a:t>
              </a:r>
              <a:endParaRPr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14" name="Google Shape;1414;p20"/>
          <p:cNvSpPr txBox="1"/>
          <p:nvPr/>
        </p:nvSpPr>
        <p:spPr>
          <a:xfrm>
            <a:off x="6357337" y="2350952"/>
            <a:ext cx="962767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EXPAND</a:t>
            </a:r>
            <a:endParaRPr sz="11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1415" name="Google Shape;1415;p20"/>
          <p:cNvCxnSpPr/>
          <p:nvPr/>
        </p:nvCxnSpPr>
        <p:spPr>
          <a:xfrm>
            <a:off x="5540781" y="3650344"/>
            <a:ext cx="2527300" cy="0"/>
          </a:xfrm>
          <a:prstGeom prst="straightConnector1">
            <a:avLst/>
          </a:prstGeom>
          <a:noFill/>
          <a:ln w="92075" cap="rnd" cmpd="sng">
            <a:solidFill>
              <a:srgbClr val="47146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6" name="Google Shape;1416;p20"/>
          <p:cNvCxnSpPr/>
          <p:nvPr/>
        </p:nvCxnSpPr>
        <p:spPr>
          <a:xfrm>
            <a:off x="5540781" y="4018644"/>
            <a:ext cx="2527300" cy="0"/>
          </a:xfrm>
          <a:prstGeom prst="straightConnector1">
            <a:avLst/>
          </a:prstGeom>
          <a:noFill/>
          <a:ln w="92075" cap="rnd" cmpd="sng">
            <a:solidFill>
              <a:srgbClr val="47146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17" name="Google Shape;1417;p20"/>
          <p:cNvCxnSpPr/>
          <p:nvPr/>
        </p:nvCxnSpPr>
        <p:spPr>
          <a:xfrm>
            <a:off x="5540781" y="4386944"/>
            <a:ext cx="2527300" cy="0"/>
          </a:xfrm>
          <a:prstGeom prst="straightConnector1">
            <a:avLst/>
          </a:prstGeom>
          <a:noFill/>
          <a:ln w="92075" cap="rnd" cmpd="sng">
            <a:solidFill>
              <a:srgbClr val="47146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8" name="Google Shape;1418;p20"/>
          <p:cNvSpPr/>
          <p:nvPr/>
        </p:nvSpPr>
        <p:spPr>
          <a:xfrm>
            <a:off x="7291253" y="3533748"/>
            <a:ext cx="233192" cy="233192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9" name="Google Shape;1419;p20"/>
          <p:cNvSpPr/>
          <p:nvPr/>
        </p:nvSpPr>
        <p:spPr>
          <a:xfrm>
            <a:off x="6623653" y="3902048"/>
            <a:ext cx="233192" cy="23319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0" name="Google Shape;1420;p20"/>
          <p:cNvSpPr/>
          <p:nvPr/>
        </p:nvSpPr>
        <p:spPr>
          <a:xfrm>
            <a:off x="6959132" y="4270348"/>
            <a:ext cx="233192" cy="233192"/>
          </a:xfrm>
          <a:prstGeom prst="ellipse">
            <a:avLst/>
          </a:prstGeom>
          <a:solidFill>
            <a:srgbClr val="F2F2F2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1" name="Google Shape;1421;p20"/>
          <p:cNvSpPr/>
          <p:nvPr/>
        </p:nvSpPr>
        <p:spPr>
          <a:xfrm rot="10800000" flipH="1">
            <a:off x="5350282" y="5710692"/>
            <a:ext cx="2951479" cy="376020"/>
          </a:xfrm>
          <a:prstGeom prst="round2SameRect">
            <a:avLst>
              <a:gd name="adj1" fmla="val 27784"/>
              <a:gd name="adj2" fmla="val 0"/>
            </a:avLst>
          </a:prstGeom>
          <a:solidFill>
            <a:srgbClr val="EEDCFD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22" name="Google Shape;1422;p20"/>
          <p:cNvCxnSpPr/>
          <p:nvPr/>
        </p:nvCxnSpPr>
        <p:spPr>
          <a:xfrm>
            <a:off x="5342661" y="3035664"/>
            <a:ext cx="2951480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23" name="Google Shape;1423;p20"/>
          <p:cNvSpPr txBox="1"/>
          <p:nvPr/>
        </p:nvSpPr>
        <p:spPr>
          <a:xfrm>
            <a:off x="5409742" y="4851377"/>
            <a:ext cx="2658339" cy="627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Expand product adoption in new markets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Strengthen automation capabilities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Build strategic partnerships for growth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4" name="Google Shape;1424;p20"/>
          <p:cNvSpPr txBox="1"/>
          <p:nvPr/>
        </p:nvSpPr>
        <p:spPr>
          <a:xfrm>
            <a:off x="5409742" y="3066695"/>
            <a:ext cx="278937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Scalable innovation and market expansion</a:t>
            </a:r>
            <a:endParaRPr/>
          </a:p>
        </p:txBody>
      </p:sp>
      <p:sp>
        <p:nvSpPr>
          <p:cNvPr id="1425" name="Google Shape;1425;p20"/>
          <p:cNvSpPr txBox="1"/>
          <p:nvPr/>
        </p:nvSpPr>
        <p:spPr>
          <a:xfrm>
            <a:off x="5409742" y="2725448"/>
            <a:ext cx="278937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Accelerate growth and further market reach</a:t>
            </a:r>
            <a:endParaRPr/>
          </a:p>
        </p:txBody>
      </p:sp>
      <p:sp>
        <p:nvSpPr>
          <p:cNvPr id="1426" name="Google Shape;1426;p20"/>
          <p:cNvSpPr/>
          <p:nvPr/>
        </p:nvSpPr>
        <p:spPr>
          <a:xfrm>
            <a:off x="6034067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7" name="Google Shape;1427;p20"/>
          <p:cNvSpPr/>
          <p:nvPr/>
        </p:nvSpPr>
        <p:spPr>
          <a:xfrm>
            <a:off x="6245996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8" name="Google Shape;1428;p20"/>
          <p:cNvSpPr/>
          <p:nvPr/>
        </p:nvSpPr>
        <p:spPr>
          <a:xfrm>
            <a:off x="6457925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9" name="Google Shape;1429;p20"/>
          <p:cNvSpPr/>
          <p:nvPr/>
        </p:nvSpPr>
        <p:spPr>
          <a:xfrm>
            <a:off x="6669855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0" name="Google Shape;1430;p20"/>
          <p:cNvSpPr/>
          <p:nvPr/>
        </p:nvSpPr>
        <p:spPr>
          <a:xfrm>
            <a:off x="6892170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1" name="Google Shape;1431;p20"/>
          <p:cNvSpPr/>
          <p:nvPr/>
        </p:nvSpPr>
        <p:spPr>
          <a:xfrm>
            <a:off x="7104099" y="5772880"/>
            <a:ext cx="183642" cy="25170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2" name="Google Shape;1432;p20"/>
          <p:cNvSpPr/>
          <p:nvPr/>
        </p:nvSpPr>
        <p:spPr>
          <a:xfrm>
            <a:off x="7316028" y="5772880"/>
            <a:ext cx="183642" cy="25170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3" name="Google Shape;1433;p20"/>
          <p:cNvSpPr/>
          <p:nvPr/>
        </p:nvSpPr>
        <p:spPr>
          <a:xfrm>
            <a:off x="7527957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4" name="Google Shape;1434;p20"/>
          <p:cNvSpPr/>
          <p:nvPr/>
        </p:nvSpPr>
        <p:spPr>
          <a:xfrm>
            <a:off x="7747349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5" name="Google Shape;1435;p20"/>
          <p:cNvSpPr txBox="1"/>
          <p:nvPr/>
        </p:nvSpPr>
        <p:spPr>
          <a:xfrm>
            <a:off x="5540184" y="5779228"/>
            <a:ext cx="48362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20%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36" name="Google Shape;1436;p20"/>
          <p:cNvSpPr/>
          <p:nvPr/>
        </p:nvSpPr>
        <p:spPr>
          <a:xfrm>
            <a:off x="8425448" y="2120372"/>
            <a:ext cx="2951480" cy="551697"/>
          </a:xfrm>
          <a:custGeom>
            <a:avLst/>
            <a:gdLst/>
            <a:ahLst/>
            <a:cxnLst/>
            <a:rect l="l" t="t" r="r" b="b"/>
            <a:pathLst>
              <a:path w="2616200" h="551697" extrusionOk="0">
                <a:moveTo>
                  <a:pt x="1308100" y="0"/>
                </a:moveTo>
                <a:lnTo>
                  <a:pt x="1416570" y="127735"/>
                </a:lnTo>
                <a:lnTo>
                  <a:pt x="2545538" y="127735"/>
                </a:lnTo>
                <a:cubicBezTo>
                  <a:pt x="2584564" y="127735"/>
                  <a:pt x="2616200" y="159371"/>
                  <a:pt x="2616200" y="198397"/>
                </a:cubicBezTo>
                <a:lnTo>
                  <a:pt x="2616200" y="551697"/>
                </a:lnTo>
                <a:lnTo>
                  <a:pt x="0" y="551697"/>
                </a:lnTo>
                <a:lnTo>
                  <a:pt x="0" y="198397"/>
                </a:lnTo>
                <a:cubicBezTo>
                  <a:pt x="0" y="159371"/>
                  <a:pt x="31636" y="127735"/>
                  <a:pt x="70662" y="127735"/>
                </a:cubicBezTo>
                <a:lnTo>
                  <a:pt x="1199631" y="127735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7" name="Google Shape;1437;p20"/>
          <p:cNvSpPr/>
          <p:nvPr/>
        </p:nvSpPr>
        <p:spPr>
          <a:xfrm>
            <a:off x="8425448" y="2669509"/>
            <a:ext cx="2951480" cy="303860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8" name="Google Shape;1438;p20"/>
          <p:cNvSpPr/>
          <p:nvPr/>
        </p:nvSpPr>
        <p:spPr>
          <a:xfrm>
            <a:off x="8425448" y="3407520"/>
            <a:ext cx="2951480" cy="1225296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39" name="Google Shape;1439;p20"/>
          <p:cNvGrpSpPr/>
          <p:nvPr/>
        </p:nvGrpSpPr>
        <p:grpSpPr>
          <a:xfrm>
            <a:off x="8438148" y="1643484"/>
            <a:ext cx="2951480" cy="350382"/>
            <a:chOff x="2273300" y="1638040"/>
            <a:chExt cx="2951480" cy="350382"/>
          </a:xfrm>
        </p:grpSpPr>
        <p:cxnSp>
          <p:nvCxnSpPr>
            <p:cNvPr id="1440" name="Google Shape;1440;p20"/>
            <p:cNvCxnSpPr/>
            <p:nvPr/>
          </p:nvCxnSpPr>
          <p:spPr>
            <a:xfrm>
              <a:off x="2273300" y="1803400"/>
              <a:ext cx="2951480" cy="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oval" w="med" len="med"/>
              <a:tailEnd type="oval" w="med" len="med"/>
            </a:ln>
          </p:spPr>
        </p:cxnSp>
        <p:sp>
          <p:nvSpPr>
            <p:cNvPr id="1441" name="Google Shape;1441;p20"/>
            <p:cNvSpPr/>
            <p:nvPr/>
          </p:nvSpPr>
          <p:spPr>
            <a:xfrm>
              <a:off x="3110483" y="1638040"/>
              <a:ext cx="1251715" cy="350382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2F2F2"/>
                </a:gs>
                <a:gs pos="1000">
                  <a:srgbClr val="F2F2F2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  <a:effectLst>
              <a:outerShdw blurRad="292100" sx="102000" sy="102000" algn="ctr" rotWithShape="0">
                <a:srgbClr val="000000">
                  <a:alpha val="5882"/>
                </a:srgbClr>
              </a:outerShdw>
            </a:effectLst>
          </p:spPr>
          <p:txBody>
            <a:bodyPr spcFirstLastPara="1" wrap="square" lIns="91425" tIns="45700" rIns="91425" bIns="45700" anchor="b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Y6 – Y10 +</a:t>
              </a:r>
              <a:endParaRPr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42" name="Google Shape;1442;p20"/>
          <p:cNvSpPr txBox="1"/>
          <p:nvPr/>
        </p:nvSpPr>
        <p:spPr>
          <a:xfrm>
            <a:off x="9201875" y="2350952"/>
            <a:ext cx="142402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TRANSFORM</a:t>
            </a:r>
            <a:endParaRPr sz="11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1443" name="Google Shape;1443;p20"/>
          <p:cNvCxnSpPr/>
          <p:nvPr/>
        </p:nvCxnSpPr>
        <p:spPr>
          <a:xfrm>
            <a:off x="8615948" y="3650344"/>
            <a:ext cx="2527300" cy="0"/>
          </a:xfrm>
          <a:prstGeom prst="straightConnector1">
            <a:avLst/>
          </a:prstGeom>
          <a:noFill/>
          <a:ln w="92075" cap="rnd" cmpd="sng">
            <a:solidFill>
              <a:srgbClr val="47146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4" name="Google Shape;1444;p20"/>
          <p:cNvCxnSpPr/>
          <p:nvPr/>
        </p:nvCxnSpPr>
        <p:spPr>
          <a:xfrm>
            <a:off x="8615948" y="4018644"/>
            <a:ext cx="2527300" cy="0"/>
          </a:xfrm>
          <a:prstGeom prst="straightConnector1">
            <a:avLst/>
          </a:prstGeom>
          <a:noFill/>
          <a:ln w="92075" cap="rnd" cmpd="sng">
            <a:solidFill>
              <a:srgbClr val="47146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5" name="Google Shape;1445;p20"/>
          <p:cNvCxnSpPr/>
          <p:nvPr/>
        </p:nvCxnSpPr>
        <p:spPr>
          <a:xfrm>
            <a:off x="8615948" y="4386944"/>
            <a:ext cx="2527300" cy="0"/>
          </a:xfrm>
          <a:prstGeom prst="straightConnector1">
            <a:avLst/>
          </a:prstGeom>
          <a:noFill/>
          <a:ln w="92075" cap="rnd" cmpd="sng">
            <a:solidFill>
              <a:srgbClr val="47146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46" name="Google Shape;1446;p20"/>
          <p:cNvSpPr/>
          <p:nvPr/>
        </p:nvSpPr>
        <p:spPr>
          <a:xfrm>
            <a:off x="10797741" y="3533748"/>
            <a:ext cx="233192" cy="233192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7" name="Google Shape;1447;p20"/>
          <p:cNvSpPr/>
          <p:nvPr/>
        </p:nvSpPr>
        <p:spPr>
          <a:xfrm>
            <a:off x="10536897" y="3902048"/>
            <a:ext cx="233192" cy="23319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8" name="Google Shape;1448;p20"/>
          <p:cNvSpPr/>
          <p:nvPr/>
        </p:nvSpPr>
        <p:spPr>
          <a:xfrm>
            <a:off x="10889562" y="4270348"/>
            <a:ext cx="233192" cy="233192"/>
          </a:xfrm>
          <a:prstGeom prst="ellipse">
            <a:avLst/>
          </a:prstGeom>
          <a:solidFill>
            <a:srgbClr val="F2F2F2"/>
          </a:solidFill>
          <a:ln>
            <a:noFill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9" name="Google Shape;1449;p20"/>
          <p:cNvSpPr/>
          <p:nvPr/>
        </p:nvSpPr>
        <p:spPr>
          <a:xfrm rot="10800000" flipH="1">
            <a:off x="8425449" y="5710692"/>
            <a:ext cx="2951479" cy="376020"/>
          </a:xfrm>
          <a:prstGeom prst="round2SameRect">
            <a:avLst>
              <a:gd name="adj1" fmla="val 27784"/>
              <a:gd name="adj2" fmla="val 0"/>
            </a:avLst>
          </a:prstGeom>
          <a:solidFill>
            <a:srgbClr val="EEDCFD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50" name="Google Shape;1450;p20"/>
          <p:cNvCxnSpPr/>
          <p:nvPr/>
        </p:nvCxnSpPr>
        <p:spPr>
          <a:xfrm>
            <a:off x="8417828" y="3035664"/>
            <a:ext cx="2951480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51" name="Google Shape;1451;p20"/>
          <p:cNvSpPr txBox="1"/>
          <p:nvPr/>
        </p:nvSpPr>
        <p:spPr>
          <a:xfrm>
            <a:off x="8484909" y="4759044"/>
            <a:ext cx="2658339" cy="812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Pioneer next-gen technologies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new disruptive business models</a:t>
            </a:r>
            <a:endParaRPr/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Set industry standards in ethical innovation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2" name="Google Shape;1452;p20"/>
          <p:cNvSpPr txBox="1"/>
          <p:nvPr/>
        </p:nvSpPr>
        <p:spPr>
          <a:xfrm>
            <a:off x="8484909" y="3066695"/>
            <a:ext cx="278937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Radical disruption and industry leadership</a:t>
            </a:r>
            <a:endParaRPr/>
          </a:p>
        </p:txBody>
      </p:sp>
      <p:sp>
        <p:nvSpPr>
          <p:cNvPr id="1453" name="Google Shape;1453;p20"/>
          <p:cNvSpPr txBox="1"/>
          <p:nvPr/>
        </p:nvSpPr>
        <p:spPr>
          <a:xfrm>
            <a:off x="8484909" y="2725448"/>
            <a:ext cx="278937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Transformative innovations to disrupt industry</a:t>
            </a:r>
            <a:endParaRPr/>
          </a:p>
        </p:txBody>
      </p:sp>
      <p:sp>
        <p:nvSpPr>
          <p:cNvPr id="1454" name="Google Shape;1454;p20"/>
          <p:cNvSpPr/>
          <p:nvPr/>
        </p:nvSpPr>
        <p:spPr>
          <a:xfrm>
            <a:off x="9109234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5" name="Google Shape;1455;p20"/>
          <p:cNvSpPr/>
          <p:nvPr/>
        </p:nvSpPr>
        <p:spPr>
          <a:xfrm>
            <a:off x="9321163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6" name="Google Shape;1456;p20"/>
          <p:cNvSpPr/>
          <p:nvPr/>
        </p:nvSpPr>
        <p:spPr>
          <a:xfrm>
            <a:off x="9533092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7" name="Google Shape;1457;p20"/>
          <p:cNvSpPr/>
          <p:nvPr/>
        </p:nvSpPr>
        <p:spPr>
          <a:xfrm>
            <a:off x="9745022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8" name="Google Shape;1458;p20"/>
          <p:cNvSpPr/>
          <p:nvPr/>
        </p:nvSpPr>
        <p:spPr>
          <a:xfrm>
            <a:off x="9967337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9" name="Google Shape;1459;p20"/>
          <p:cNvSpPr/>
          <p:nvPr/>
        </p:nvSpPr>
        <p:spPr>
          <a:xfrm>
            <a:off x="10179266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0" name="Google Shape;1460;p20"/>
          <p:cNvSpPr/>
          <p:nvPr/>
        </p:nvSpPr>
        <p:spPr>
          <a:xfrm>
            <a:off x="10391195" y="5772880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1" name="Google Shape;1461;p20"/>
          <p:cNvSpPr/>
          <p:nvPr/>
        </p:nvSpPr>
        <p:spPr>
          <a:xfrm>
            <a:off x="10603124" y="5772880"/>
            <a:ext cx="183642" cy="25170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2" name="Google Shape;1462;p20"/>
          <p:cNvSpPr/>
          <p:nvPr/>
        </p:nvSpPr>
        <p:spPr>
          <a:xfrm>
            <a:off x="10822516" y="5772880"/>
            <a:ext cx="183642" cy="25170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3" name="Google Shape;1463;p20"/>
          <p:cNvSpPr txBox="1"/>
          <p:nvPr/>
        </p:nvSpPr>
        <p:spPr>
          <a:xfrm>
            <a:off x="8615351" y="5779228"/>
            <a:ext cx="48362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30%</a:t>
            </a:r>
            <a:endParaRPr sz="110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64" name="Google Shape;1464;p20"/>
          <p:cNvSpPr txBox="1"/>
          <p:nvPr/>
        </p:nvSpPr>
        <p:spPr>
          <a:xfrm>
            <a:off x="694809" y="2719026"/>
            <a:ext cx="1073357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Period Outlook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5" name="Google Shape;1465;p20"/>
          <p:cNvSpPr txBox="1"/>
          <p:nvPr/>
        </p:nvSpPr>
        <p:spPr>
          <a:xfrm>
            <a:off x="694809" y="3083276"/>
            <a:ext cx="1073357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Strategic Focus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6" name="Google Shape;1466;p20"/>
          <p:cNvSpPr txBox="1"/>
          <p:nvPr/>
        </p:nvSpPr>
        <p:spPr>
          <a:xfrm>
            <a:off x="694809" y="3447526"/>
            <a:ext cx="1073357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Complexity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7" name="Google Shape;1467;p20"/>
          <p:cNvSpPr txBox="1"/>
          <p:nvPr/>
        </p:nvSpPr>
        <p:spPr>
          <a:xfrm>
            <a:off x="694809" y="3853255"/>
            <a:ext cx="1073357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Uncertainty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8" name="Google Shape;1468;p20"/>
          <p:cNvSpPr txBox="1"/>
          <p:nvPr/>
        </p:nvSpPr>
        <p:spPr>
          <a:xfrm>
            <a:off x="694809" y="4253766"/>
            <a:ext cx="125872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Business Impact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69" name="Google Shape;1469;p20"/>
          <p:cNvSpPr txBox="1"/>
          <p:nvPr/>
        </p:nvSpPr>
        <p:spPr>
          <a:xfrm>
            <a:off x="694809" y="4999229"/>
            <a:ext cx="145661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Strategic Initiatives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0" name="Google Shape;1470;p20"/>
          <p:cNvSpPr txBox="1"/>
          <p:nvPr/>
        </p:nvSpPr>
        <p:spPr>
          <a:xfrm>
            <a:off x="694809" y="5780959"/>
            <a:ext cx="1456618" cy="25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Resource Allocation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1" name="Google Shape;1471;p20"/>
          <p:cNvSpPr txBox="1"/>
          <p:nvPr/>
        </p:nvSpPr>
        <p:spPr>
          <a:xfrm>
            <a:off x="506746" y="601983"/>
            <a:ext cx="1087018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1472" name="Google Shape;1472;p20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73" name="Google Shape;1473;p20"/>
          <p:cNvSpPr/>
          <p:nvPr/>
        </p:nvSpPr>
        <p:spPr>
          <a:xfrm>
            <a:off x="4887162" y="5768186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4" name="Google Shape;1474;p20"/>
          <p:cNvSpPr/>
          <p:nvPr/>
        </p:nvSpPr>
        <p:spPr>
          <a:xfrm>
            <a:off x="7958115" y="5768186"/>
            <a:ext cx="183642" cy="25170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5" name="Google Shape;1475;p20"/>
          <p:cNvSpPr/>
          <p:nvPr/>
        </p:nvSpPr>
        <p:spPr>
          <a:xfrm>
            <a:off x="11051427" y="5768186"/>
            <a:ext cx="183642" cy="251703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3"/>
              </a:gs>
              <a:gs pos="100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21"/>
          <p:cNvSpPr/>
          <p:nvPr/>
        </p:nvSpPr>
        <p:spPr>
          <a:xfrm>
            <a:off x="0" y="2873827"/>
            <a:ext cx="12192000" cy="398417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1" name="Google Shape;1481;p21"/>
          <p:cNvSpPr/>
          <p:nvPr/>
        </p:nvSpPr>
        <p:spPr>
          <a:xfrm flipH="1">
            <a:off x="591891" y="1565430"/>
            <a:ext cx="10729252" cy="972457"/>
          </a:xfrm>
          <a:prstGeom prst="round2SameRect">
            <a:avLst>
              <a:gd name="adj1" fmla="val 15843"/>
              <a:gd name="adj2" fmla="val 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2" name="Google Shape;1482;p21"/>
          <p:cNvSpPr/>
          <p:nvPr/>
        </p:nvSpPr>
        <p:spPr>
          <a:xfrm>
            <a:off x="591891" y="2537887"/>
            <a:ext cx="10729252" cy="32990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3" name="Google Shape;1483;p21"/>
          <p:cNvSpPr/>
          <p:nvPr/>
        </p:nvSpPr>
        <p:spPr>
          <a:xfrm rot="10800000">
            <a:off x="591891" y="2857202"/>
            <a:ext cx="10729252" cy="3396342"/>
          </a:xfrm>
          <a:prstGeom prst="round2SameRect">
            <a:avLst>
              <a:gd name="adj1" fmla="val 4878"/>
              <a:gd name="adj2" fmla="val 0"/>
            </a:avLst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484" name="Google Shape;1484;p21"/>
          <p:cNvGraphicFramePr/>
          <p:nvPr/>
        </p:nvGraphicFramePr>
        <p:xfrm>
          <a:off x="606405" y="2853273"/>
          <a:ext cx="10714750" cy="3396425"/>
        </p:xfrm>
        <a:graphic>
          <a:graphicData uri="http://schemas.openxmlformats.org/drawingml/2006/table">
            <a:tbl>
              <a:tblPr bandRow="1">
                <a:noFill/>
                <a:tableStyleId>{92F0E92C-DC4C-4440-A556-2BC7BFF319D1}</a:tableStyleId>
              </a:tblPr>
              <a:tblGrid>
                <a:gridCol w="8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2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A.1.1</a:t>
                      </a:r>
                      <a:endParaRPr sz="1100"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Develop data ingestion pipelines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Team lead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On Track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A.1.2</a:t>
                      </a:r>
                      <a:endParaRPr sz="1100"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Lato"/>
                        <a:buNone/>
                      </a:pPr>
                      <a:r>
                        <a:rPr lang="en-US" sz="1100"/>
                        <a:t>Cleanse and validate datasets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Data Engineer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At Risk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B9A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Lato"/>
                        <a:buNone/>
                      </a:pPr>
                      <a:r>
                        <a:rPr lang="en-US" sz="1100"/>
                        <a:t>Reduce missing data fields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Data Engineer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A.1.3</a:t>
                      </a:r>
                      <a:endParaRPr sz="1100"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Implement feature engineering strategies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Data Scientist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Lato"/>
                        <a:buNone/>
                      </a:pPr>
                      <a:r>
                        <a:rPr lang="en-US" sz="1100"/>
                        <a:t>On Track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Ensure features are interpretable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Data Scientist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A.1.4</a:t>
                      </a:r>
                      <a:endParaRPr sz="1100"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Train initial machine learning models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MIL Specialist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Lato"/>
                        <a:buNone/>
                      </a:pPr>
                      <a:r>
                        <a:rPr lang="en-US" sz="1100"/>
                        <a:t>On Track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A.1.5</a:t>
                      </a:r>
                      <a:endParaRPr sz="1100"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Integrate models into production systems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DevOps Engineer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Needs Review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D9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8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Lato Black"/>
                          <a:ea typeface="Lato Black"/>
                          <a:cs typeface="Lato Black"/>
                          <a:sym typeface="Lato Black"/>
                        </a:rPr>
                        <a:t>A.1.6</a:t>
                      </a:r>
                      <a:endParaRPr sz="1100">
                        <a:latin typeface="Lato Black"/>
                        <a:ea typeface="Lato Black"/>
                        <a:cs typeface="Lato Black"/>
                        <a:sym typeface="Lato Black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Monitor model performance and optimize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QA Analyst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Lato"/>
                        <a:buNone/>
                      </a:pPr>
                      <a:r>
                        <a:rPr lang="en-US" sz="1100"/>
                        <a:t>On Track</a:t>
                      </a: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8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Reduce false positives/negatives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QA Analyst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85" name="Google Shape;1485;p21"/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/>
                <a:ea typeface="Lato Black"/>
                <a:cs typeface="Lato Black"/>
                <a:sym typeface="Lato Black"/>
              </a:rPr>
              <a:t>POWER</a:t>
            </a:r>
            <a:r>
              <a:rPr lang="en-US" sz="900" b="1" dirty="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SLIDES</a:t>
            </a:r>
            <a:r>
              <a:rPr lang="en-US" sz="900" b="1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									</a:t>
            </a:r>
            <a:r>
              <a:rPr lang="en-US" sz="900" b="1" dirty="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  	       WWW.POWERSLIDES.COM </a:t>
            </a:r>
            <a:r>
              <a:rPr lang="en-US" sz="900" b="1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						</a:t>
            </a:r>
            <a:endParaRPr sz="900" b="1" dirty="0">
              <a:solidFill>
                <a:srgbClr val="009999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cxnSp>
        <p:nvCxnSpPr>
          <p:cNvPr id="1486" name="Google Shape;1486;p21"/>
          <p:cNvCxnSpPr/>
          <p:nvPr/>
        </p:nvCxnSpPr>
        <p:spPr>
          <a:xfrm rot="10800000">
            <a:off x="6431280" y="6472238"/>
            <a:ext cx="3308966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87" name="Google Shape;1487;p21"/>
          <p:cNvCxnSpPr/>
          <p:nvPr/>
        </p:nvCxnSpPr>
        <p:spPr>
          <a:xfrm rot="10800000">
            <a:off x="1575770" y="6472238"/>
            <a:ext cx="416463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88" name="Google Shape;1488;p21"/>
          <p:cNvSpPr/>
          <p:nvPr/>
        </p:nvSpPr>
        <p:spPr>
          <a:xfrm>
            <a:off x="5981846" y="6372976"/>
            <a:ext cx="216000" cy="216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9" name="Google Shape;1489;p21"/>
          <p:cNvSpPr txBox="1"/>
          <p:nvPr/>
        </p:nvSpPr>
        <p:spPr>
          <a:xfrm>
            <a:off x="5831722" y="6346665"/>
            <a:ext cx="51624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18</a:t>
            </a:fld>
            <a:endParaRPr sz="10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0" name="Google Shape;1490;p21"/>
          <p:cNvSpPr txBox="1"/>
          <p:nvPr/>
        </p:nvSpPr>
        <p:spPr>
          <a:xfrm>
            <a:off x="513532" y="1091834"/>
            <a:ext cx="4434388" cy="42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57070"/>
                </a:solidFill>
                <a:latin typeface="Lato Black"/>
                <a:ea typeface="Lato Black"/>
                <a:cs typeface="Lato Black"/>
                <a:sym typeface="Lato Black"/>
              </a:rPr>
              <a:t>Execution Dashboard</a:t>
            </a:r>
            <a:endParaRPr sz="2000">
              <a:solidFill>
                <a:srgbClr val="75707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1" name="Google Shape;1491;p21"/>
          <p:cNvSpPr txBox="1"/>
          <p:nvPr/>
        </p:nvSpPr>
        <p:spPr>
          <a:xfrm>
            <a:off x="870857" y="1738905"/>
            <a:ext cx="496086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GOAL</a:t>
            </a: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6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Establish data ecosystem and foundational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Lato Black"/>
                <a:ea typeface="Lato Black"/>
                <a:cs typeface="Lato Black"/>
                <a:sym typeface="Lato Black"/>
              </a:rPr>
              <a:t>Al capabilities to drive consistent insights</a:t>
            </a:r>
            <a:endParaRPr sz="1600" b="0" i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92" name="Google Shape;1492;p21"/>
          <p:cNvSpPr/>
          <p:nvPr/>
        </p:nvSpPr>
        <p:spPr>
          <a:xfrm flipH="1">
            <a:off x="6027239" y="1989698"/>
            <a:ext cx="962841" cy="32360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65%</a:t>
            </a:r>
            <a:endParaRPr sz="10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93" name="Google Shape;1493;p21"/>
          <p:cNvSpPr/>
          <p:nvPr/>
        </p:nvSpPr>
        <p:spPr>
          <a:xfrm flipH="1">
            <a:off x="7022980" y="1989698"/>
            <a:ext cx="622737" cy="323602"/>
          </a:xfrm>
          <a:prstGeom prst="roundRect">
            <a:avLst>
              <a:gd name="adj" fmla="val 16667"/>
            </a:avLst>
          </a:prstGeom>
          <a:solidFill>
            <a:srgbClr val="9D9AFA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33%</a:t>
            </a:r>
            <a:endParaRPr sz="10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94" name="Google Shape;1494;p21"/>
          <p:cNvSpPr/>
          <p:nvPr/>
        </p:nvSpPr>
        <p:spPr>
          <a:xfrm flipH="1">
            <a:off x="7683382" y="1989698"/>
            <a:ext cx="487798" cy="323602"/>
          </a:xfrm>
          <a:prstGeom prst="roundRect">
            <a:avLst>
              <a:gd name="adj" fmla="val 16667"/>
            </a:avLst>
          </a:prstGeom>
          <a:solidFill>
            <a:srgbClr val="CB9AE8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15%</a:t>
            </a:r>
            <a:endParaRPr sz="10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95" name="Google Shape;1495;p21"/>
          <p:cNvSpPr/>
          <p:nvPr/>
        </p:nvSpPr>
        <p:spPr>
          <a:xfrm flipH="1">
            <a:off x="8389439" y="1989698"/>
            <a:ext cx="962841" cy="32360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35%</a:t>
            </a:r>
            <a:endParaRPr sz="10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96" name="Google Shape;1496;p21"/>
          <p:cNvSpPr/>
          <p:nvPr/>
        </p:nvSpPr>
        <p:spPr>
          <a:xfrm flipH="1">
            <a:off x="9389108" y="1989698"/>
            <a:ext cx="1483679" cy="323602"/>
          </a:xfrm>
          <a:prstGeom prst="roundRect">
            <a:avLst>
              <a:gd name="adj" fmla="val 16667"/>
            </a:avLst>
          </a:prstGeom>
          <a:solidFill>
            <a:srgbClr val="9D9AFA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75%</a:t>
            </a:r>
            <a:endParaRPr sz="10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97" name="Google Shape;1497;p21"/>
          <p:cNvSpPr/>
          <p:nvPr/>
        </p:nvSpPr>
        <p:spPr>
          <a:xfrm flipH="1">
            <a:off x="10910887" y="1989698"/>
            <a:ext cx="260031" cy="323602"/>
          </a:xfrm>
          <a:prstGeom prst="roundRect">
            <a:avLst>
              <a:gd name="adj" fmla="val 16667"/>
            </a:avLst>
          </a:prstGeom>
          <a:solidFill>
            <a:srgbClr val="CB9AE8"/>
          </a:solidFill>
          <a:ln>
            <a:noFill/>
          </a:ln>
          <a:effectLst>
            <a:outerShdw blurRad="292100" sx="102000" sy="102000" algn="ctr" rotWithShape="0">
              <a:srgbClr val="000000">
                <a:alpha val="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rPr>
              <a:t>9%</a:t>
            </a:r>
            <a:endParaRPr sz="1000">
              <a:solidFill>
                <a:schemeClr val="dk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98" name="Google Shape;1498;p21"/>
          <p:cNvSpPr txBox="1"/>
          <p:nvPr/>
        </p:nvSpPr>
        <p:spPr>
          <a:xfrm>
            <a:off x="1451945" y="2572338"/>
            <a:ext cx="235811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3B2EC"/>
                </a:solidFill>
                <a:latin typeface="Lato Black"/>
                <a:ea typeface="Lato Black"/>
                <a:cs typeface="Lato Black"/>
                <a:sym typeface="Lato Black"/>
              </a:rPr>
              <a:t>Action Items for Goal</a:t>
            </a:r>
            <a:endParaRPr sz="1050" b="0" i="0">
              <a:solidFill>
                <a:srgbClr val="D3B2EC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499" name="Google Shape;1499;p21"/>
          <p:cNvSpPr txBox="1"/>
          <p:nvPr/>
        </p:nvSpPr>
        <p:spPr>
          <a:xfrm>
            <a:off x="3839728" y="2572338"/>
            <a:ext cx="235811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3B2EC"/>
                </a:solidFill>
                <a:latin typeface="Lato Black"/>
                <a:ea typeface="Lato Black"/>
                <a:cs typeface="Lato Black"/>
                <a:sym typeface="Lato Black"/>
              </a:rPr>
              <a:t>Assigned</a:t>
            </a:r>
            <a:endParaRPr sz="1050" b="0" i="0">
              <a:solidFill>
                <a:srgbClr val="D3B2EC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00" name="Google Shape;1500;p21"/>
          <p:cNvSpPr txBox="1"/>
          <p:nvPr/>
        </p:nvSpPr>
        <p:spPr>
          <a:xfrm>
            <a:off x="5937467" y="2572338"/>
            <a:ext cx="235811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3B2EC"/>
                </a:solidFill>
                <a:latin typeface="Lato Black"/>
                <a:ea typeface="Lato Black"/>
                <a:cs typeface="Lato Black"/>
                <a:sym typeface="Lato Black"/>
              </a:rPr>
              <a:t>Status</a:t>
            </a:r>
            <a:endParaRPr sz="1050" b="0" i="0">
              <a:solidFill>
                <a:srgbClr val="D3B2EC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01" name="Google Shape;1501;p21"/>
          <p:cNvSpPr txBox="1"/>
          <p:nvPr/>
        </p:nvSpPr>
        <p:spPr>
          <a:xfrm>
            <a:off x="8629305" y="2572338"/>
            <a:ext cx="235811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3B2EC"/>
                </a:solidFill>
                <a:latin typeface="Lato Black"/>
                <a:ea typeface="Lato Black"/>
                <a:cs typeface="Lato Black"/>
                <a:sym typeface="Lato Black"/>
              </a:rPr>
              <a:t>Progress</a:t>
            </a:r>
            <a:endParaRPr sz="1050" b="0" i="0">
              <a:solidFill>
                <a:srgbClr val="D3B2EC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1502" name="Google Shape;1502;p21"/>
          <p:cNvGrpSpPr/>
          <p:nvPr/>
        </p:nvGrpSpPr>
        <p:grpSpPr>
          <a:xfrm>
            <a:off x="8389439" y="2902241"/>
            <a:ext cx="2445479" cy="155383"/>
            <a:chOff x="8389439" y="2918866"/>
            <a:chExt cx="2445479" cy="155383"/>
          </a:xfrm>
        </p:grpSpPr>
        <p:cxnSp>
          <p:nvCxnSpPr>
            <p:cNvPr id="1503" name="Google Shape;1503;p21"/>
            <p:cNvCxnSpPr/>
            <p:nvPr/>
          </p:nvCxnSpPr>
          <p:spPr>
            <a:xfrm>
              <a:off x="8389439" y="2998787"/>
              <a:ext cx="2397815" cy="0"/>
            </a:xfrm>
            <a:prstGeom prst="straightConnector1">
              <a:avLst/>
            </a:prstGeom>
            <a:noFill/>
            <a:ln w="66675" cap="rnd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04" name="Google Shape;1504;p21"/>
            <p:cNvSpPr/>
            <p:nvPr/>
          </p:nvSpPr>
          <p:spPr>
            <a:xfrm>
              <a:off x="10679535" y="2918866"/>
              <a:ext cx="155383" cy="155383"/>
            </a:xfrm>
            <a:prstGeom prst="ellipse">
              <a:avLst/>
            </a:prstGeom>
            <a:solidFill>
              <a:srgbClr val="CB9AE8"/>
            </a:solidFill>
            <a:ln w="158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rgbClr val="000000">
                  <a:alpha val="1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05" name="Google Shape;1505;p21"/>
          <p:cNvGrpSpPr/>
          <p:nvPr/>
        </p:nvGrpSpPr>
        <p:grpSpPr>
          <a:xfrm>
            <a:off x="8372229" y="3237940"/>
            <a:ext cx="2415025" cy="155383"/>
            <a:chOff x="8372229" y="3254565"/>
            <a:chExt cx="2415025" cy="155383"/>
          </a:xfrm>
        </p:grpSpPr>
        <p:cxnSp>
          <p:nvCxnSpPr>
            <p:cNvPr id="1506" name="Google Shape;1506;p21"/>
            <p:cNvCxnSpPr/>
            <p:nvPr/>
          </p:nvCxnSpPr>
          <p:spPr>
            <a:xfrm>
              <a:off x="8389439" y="3334486"/>
              <a:ext cx="2397815" cy="0"/>
            </a:xfrm>
            <a:prstGeom prst="straightConnector1">
              <a:avLst/>
            </a:prstGeom>
            <a:noFill/>
            <a:ln w="66675" cap="rnd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07" name="Google Shape;1507;p21"/>
            <p:cNvSpPr/>
            <p:nvPr/>
          </p:nvSpPr>
          <p:spPr>
            <a:xfrm>
              <a:off x="8372229" y="3254565"/>
              <a:ext cx="155383" cy="155383"/>
            </a:xfrm>
            <a:prstGeom prst="ellipse">
              <a:avLst/>
            </a:prstGeom>
            <a:solidFill>
              <a:srgbClr val="D8D8D8"/>
            </a:solidFill>
            <a:ln w="158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rgbClr val="000000">
                  <a:alpha val="1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08" name="Google Shape;1508;p21"/>
          <p:cNvGrpSpPr/>
          <p:nvPr/>
        </p:nvGrpSpPr>
        <p:grpSpPr>
          <a:xfrm>
            <a:off x="8389439" y="3652279"/>
            <a:ext cx="2397815" cy="155383"/>
            <a:chOff x="8389439" y="2918866"/>
            <a:chExt cx="2397815" cy="155383"/>
          </a:xfrm>
        </p:grpSpPr>
        <p:cxnSp>
          <p:nvCxnSpPr>
            <p:cNvPr id="1509" name="Google Shape;1509;p21"/>
            <p:cNvCxnSpPr/>
            <p:nvPr/>
          </p:nvCxnSpPr>
          <p:spPr>
            <a:xfrm>
              <a:off x="8389439" y="2998787"/>
              <a:ext cx="2397815" cy="0"/>
            </a:xfrm>
            <a:prstGeom prst="straightConnector1">
              <a:avLst/>
            </a:prstGeom>
            <a:noFill/>
            <a:ln w="66675" cap="rnd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10" name="Google Shape;1510;p21"/>
            <p:cNvSpPr/>
            <p:nvPr/>
          </p:nvSpPr>
          <p:spPr>
            <a:xfrm>
              <a:off x="10213884" y="2918866"/>
              <a:ext cx="155383" cy="155383"/>
            </a:xfrm>
            <a:prstGeom prst="ellipse">
              <a:avLst/>
            </a:prstGeom>
            <a:solidFill>
              <a:srgbClr val="9D9AFA"/>
            </a:solidFill>
            <a:ln w="158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rgbClr val="000000">
                  <a:alpha val="1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21"/>
          <p:cNvGrpSpPr/>
          <p:nvPr/>
        </p:nvGrpSpPr>
        <p:grpSpPr>
          <a:xfrm>
            <a:off x="8389439" y="4040371"/>
            <a:ext cx="2397815" cy="155383"/>
            <a:chOff x="8389439" y="3254565"/>
            <a:chExt cx="2397815" cy="155383"/>
          </a:xfrm>
        </p:grpSpPr>
        <p:cxnSp>
          <p:nvCxnSpPr>
            <p:cNvPr id="1512" name="Google Shape;1512;p21"/>
            <p:cNvCxnSpPr/>
            <p:nvPr/>
          </p:nvCxnSpPr>
          <p:spPr>
            <a:xfrm>
              <a:off x="8389439" y="3334486"/>
              <a:ext cx="2397815" cy="0"/>
            </a:xfrm>
            <a:prstGeom prst="straightConnector1">
              <a:avLst/>
            </a:prstGeom>
            <a:noFill/>
            <a:ln w="66675" cap="rnd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13" name="Google Shape;1513;p21"/>
            <p:cNvSpPr/>
            <p:nvPr/>
          </p:nvSpPr>
          <p:spPr>
            <a:xfrm>
              <a:off x="8551613" y="3254565"/>
              <a:ext cx="155383" cy="155383"/>
            </a:xfrm>
            <a:prstGeom prst="ellipse">
              <a:avLst/>
            </a:prstGeom>
            <a:solidFill>
              <a:srgbClr val="9D9AFA"/>
            </a:solidFill>
            <a:ln w="158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rgbClr val="000000">
                  <a:alpha val="1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4" name="Google Shape;1514;p21"/>
          <p:cNvGrpSpPr/>
          <p:nvPr/>
        </p:nvGrpSpPr>
        <p:grpSpPr>
          <a:xfrm>
            <a:off x="8372230" y="4448996"/>
            <a:ext cx="2415024" cy="155383"/>
            <a:chOff x="8372230" y="3254565"/>
            <a:chExt cx="2415024" cy="155383"/>
          </a:xfrm>
        </p:grpSpPr>
        <p:cxnSp>
          <p:nvCxnSpPr>
            <p:cNvPr id="1515" name="Google Shape;1515;p21"/>
            <p:cNvCxnSpPr/>
            <p:nvPr/>
          </p:nvCxnSpPr>
          <p:spPr>
            <a:xfrm>
              <a:off x="8389439" y="3334486"/>
              <a:ext cx="2397815" cy="0"/>
            </a:xfrm>
            <a:prstGeom prst="straightConnector1">
              <a:avLst/>
            </a:prstGeom>
            <a:noFill/>
            <a:ln w="66675" cap="rnd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16" name="Google Shape;1516;p21"/>
            <p:cNvSpPr/>
            <p:nvPr/>
          </p:nvSpPr>
          <p:spPr>
            <a:xfrm>
              <a:off x="8372230" y="3254565"/>
              <a:ext cx="155383" cy="155383"/>
            </a:xfrm>
            <a:prstGeom prst="ellipse">
              <a:avLst/>
            </a:prstGeom>
            <a:solidFill>
              <a:srgbClr val="D8D8D8"/>
            </a:solidFill>
            <a:ln w="158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rgbClr val="000000">
                  <a:alpha val="1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7" name="Google Shape;1517;p21"/>
          <p:cNvGrpSpPr/>
          <p:nvPr/>
        </p:nvGrpSpPr>
        <p:grpSpPr>
          <a:xfrm>
            <a:off x="8389439" y="4844283"/>
            <a:ext cx="2397815" cy="155383"/>
            <a:chOff x="8389439" y="2918866"/>
            <a:chExt cx="2397815" cy="155383"/>
          </a:xfrm>
        </p:grpSpPr>
        <p:cxnSp>
          <p:nvCxnSpPr>
            <p:cNvPr id="1518" name="Google Shape;1518;p21"/>
            <p:cNvCxnSpPr/>
            <p:nvPr/>
          </p:nvCxnSpPr>
          <p:spPr>
            <a:xfrm>
              <a:off x="8389439" y="2998787"/>
              <a:ext cx="2397815" cy="0"/>
            </a:xfrm>
            <a:prstGeom prst="straightConnector1">
              <a:avLst/>
            </a:prstGeom>
            <a:noFill/>
            <a:ln w="66675" cap="rnd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19" name="Google Shape;1519;p21"/>
            <p:cNvSpPr/>
            <p:nvPr/>
          </p:nvSpPr>
          <p:spPr>
            <a:xfrm>
              <a:off x="10524152" y="2918866"/>
              <a:ext cx="155383" cy="155383"/>
            </a:xfrm>
            <a:prstGeom prst="ellipse">
              <a:avLst/>
            </a:prstGeom>
            <a:solidFill>
              <a:srgbClr val="CB9AE8"/>
            </a:solidFill>
            <a:ln w="158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rgbClr val="000000">
                  <a:alpha val="1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20" name="Google Shape;1520;p21"/>
          <p:cNvGrpSpPr/>
          <p:nvPr/>
        </p:nvGrpSpPr>
        <p:grpSpPr>
          <a:xfrm>
            <a:off x="8389439" y="5218086"/>
            <a:ext cx="2397815" cy="155383"/>
            <a:chOff x="8389439" y="3254565"/>
            <a:chExt cx="2397815" cy="155383"/>
          </a:xfrm>
        </p:grpSpPr>
        <p:cxnSp>
          <p:nvCxnSpPr>
            <p:cNvPr id="1521" name="Google Shape;1521;p21"/>
            <p:cNvCxnSpPr/>
            <p:nvPr/>
          </p:nvCxnSpPr>
          <p:spPr>
            <a:xfrm>
              <a:off x="8389439" y="3334486"/>
              <a:ext cx="2397815" cy="0"/>
            </a:xfrm>
            <a:prstGeom prst="straightConnector1">
              <a:avLst/>
            </a:prstGeom>
            <a:noFill/>
            <a:ln w="66675" cap="rnd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22" name="Google Shape;1522;p21"/>
            <p:cNvSpPr/>
            <p:nvPr/>
          </p:nvSpPr>
          <p:spPr>
            <a:xfrm>
              <a:off x="9812939" y="3254565"/>
              <a:ext cx="155383" cy="155383"/>
            </a:xfrm>
            <a:prstGeom prst="ellipse">
              <a:avLst/>
            </a:prstGeom>
            <a:solidFill>
              <a:srgbClr val="9D9AFA"/>
            </a:solidFill>
            <a:ln w="158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rgbClr val="000000">
                  <a:alpha val="1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23" name="Google Shape;1523;p21"/>
          <p:cNvGrpSpPr/>
          <p:nvPr/>
        </p:nvGrpSpPr>
        <p:grpSpPr>
          <a:xfrm>
            <a:off x="8389439" y="5553785"/>
            <a:ext cx="2397815" cy="155383"/>
            <a:chOff x="8389439" y="3254565"/>
            <a:chExt cx="2397815" cy="155383"/>
          </a:xfrm>
        </p:grpSpPr>
        <p:cxnSp>
          <p:nvCxnSpPr>
            <p:cNvPr id="1524" name="Google Shape;1524;p21"/>
            <p:cNvCxnSpPr/>
            <p:nvPr/>
          </p:nvCxnSpPr>
          <p:spPr>
            <a:xfrm>
              <a:off x="8389439" y="3334486"/>
              <a:ext cx="2397815" cy="0"/>
            </a:xfrm>
            <a:prstGeom prst="straightConnector1">
              <a:avLst/>
            </a:prstGeom>
            <a:noFill/>
            <a:ln w="66675" cap="rnd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25" name="Google Shape;1525;p21"/>
            <p:cNvSpPr/>
            <p:nvPr/>
          </p:nvSpPr>
          <p:spPr>
            <a:xfrm>
              <a:off x="9384158" y="3254565"/>
              <a:ext cx="155383" cy="155383"/>
            </a:xfrm>
            <a:prstGeom prst="ellipse">
              <a:avLst/>
            </a:prstGeom>
            <a:solidFill>
              <a:srgbClr val="9D9AFA"/>
            </a:solidFill>
            <a:ln w="158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rgbClr val="000000">
                  <a:alpha val="1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26" name="Google Shape;1526;p21"/>
          <p:cNvGrpSpPr/>
          <p:nvPr/>
        </p:nvGrpSpPr>
        <p:grpSpPr>
          <a:xfrm>
            <a:off x="8377180" y="5962410"/>
            <a:ext cx="2410074" cy="155383"/>
            <a:chOff x="8377180" y="3254565"/>
            <a:chExt cx="2410074" cy="155383"/>
          </a:xfrm>
        </p:grpSpPr>
        <p:cxnSp>
          <p:nvCxnSpPr>
            <p:cNvPr id="1527" name="Google Shape;1527;p21"/>
            <p:cNvCxnSpPr/>
            <p:nvPr/>
          </p:nvCxnSpPr>
          <p:spPr>
            <a:xfrm>
              <a:off x="8389439" y="3334486"/>
              <a:ext cx="2397815" cy="0"/>
            </a:xfrm>
            <a:prstGeom prst="straightConnector1">
              <a:avLst/>
            </a:prstGeom>
            <a:noFill/>
            <a:ln w="66675" cap="rnd" cmpd="sng">
              <a:solidFill>
                <a:srgbClr val="A5A5A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528" name="Google Shape;1528;p21"/>
            <p:cNvSpPr/>
            <p:nvPr/>
          </p:nvSpPr>
          <p:spPr>
            <a:xfrm>
              <a:off x="8377180" y="3254565"/>
              <a:ext cx="155383" cy="155383"/>
            </a:xfrm>
            <a:prstGeom prst="ellipse">
              <a:avLst/>
            </a:prstGeom>
            <a:solidFill>
              <a:srgbClr val="D8D8D8"/>
            </a:solidFill>
            <a:ln w="158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92100" sx="102000" sy="102000" algn="ctr" rotWithShape="0">
                <a:srgbClr val="000000">
                  <a:alpha val="15686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529" name="Google Shape;1529;p21"/>
          <p:cNvSpPr txBox="1"/>
          <p:nvPr/>
        </p:nvSpPr>
        <p:spPr>
          <a:xfrm>
            <a:off x="10844443" y="2858494"/>
            <a:ext cx="44887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-</a:t>
            </a:r>
            <a:endParaRPr sz="105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30" name="Google Shape;1530;p21"/>
          <p:cNvSpPr txBox="1"/>
          <p:nvPr/>
        </p:nvSpPr>
        <p:spPr>
          <a:xfrm>
            <a:off x="10811293" y="3196600"/>
            <a:ext cx="4820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-</a:t>
            </a:r>
            <a:endParaRPr sz="105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31" name="Google Shape;1531;p21"/>
          <p:cNvSpPr txBox="1"/>
          <p:nvPr/>
        </p:nvSpPr>
        <p:spPr>
          <a:xfrm>
            <a:off x="10811293" y="3597186"/>
            <a:ext cx="4820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70%</a:t>
            </a:r>
            <a:endParaRPr sz="105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32" name="Google Shape;1532;p21"/>
          <p:cNvSpPr txBox="1"/>
          <p:nvPr/>
        </p:nvSpPr>
        <p:spPr>
          <a:xfrm>
            <a:off x="10811293" y="3987257"/>
            <a:ext cx="4820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15%</a:t>
            </a:r>
            <a:endParaRPr sz="105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33" name="Google Shape;1533;p21"/>
          <p:cNvSpPr txBox="1"/>
          <p:nvPr/>
        </p:nvSpPr>
        <p:spPr>
          <a:xfrm>
            <a:off x="10811293" y="4392009"/>
            <a:ext cx="4820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-</a:t>
            </a:r>
            <a:endParaRPr sz="105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34" name="Google Shape;1534;p21"/>
          <p:cNvSpPr txBox="1"/>
          <p:nvPr/>
        </p:nvSpPr>
        <p:spPr>
          <a:xfrm>
            <a:off x="10811293" y="4796761"/>
            <a:ext cx="4820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82%</a:t>
            </a:r>
            <a:endParaRPr sz="105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35" name="Google Shape;1535;p21"/>
          <p:cNvSpPr txBox="1"/>
          <p:nvPr/>
        </p:nvSpPr>
        <p:spPr>
          <a:xfrm>
            <a:off x="10811293" y="5164972"/>
            <a:ext cx="4820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53%</a:t>
            </a:r>
            <a:endParaRPr sz="105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36" name="Google Shape;1536;p21"/>
          <p:cNvSpPr txBox="1"/>
          <p:nvPr/>
        </p:nvSpPr>
        <p:spPr>
          <a:xfrm>
            <a:off x="10811293" y="5500671"/>
            <a:ext cx="4820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51%</a:t>
            </a:r>
            <a:endParaRPr sz="105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37" name="Google Shape;1537;p21"/>
          <p:cNvSpPr txBox="1"/>
          <p:nvPr/>
        </p:nvSpPr>
        <p:spPr>
          <a:xfrm>
            <a:off x="10811293" y="5910500"/>
            <a:ext cx="48202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-</a:t>
            </a:r>
            <a:endParaRPr sz="1050" b="0" i="0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538" name="Google Shape;1538;p21"/>
          <p:cNvSpPr txBox="1"/>
          <p:nvPr/>
        </p:nvSpPr>
        <p:spPr>
          <a:xfrm>
            <a:off x="506747" y="601983"/>
            <a:ext cx="1081439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AI </a:t>
            </a:r>
            <a:r>
              <a:rPr lang="en-US" sz="3200" b="1">
                <a:solidFill>
                  <a:schemeClr val="accent2"/>
                </a:solidFill>
                <a:latin typeface="Lato Black"/>
                <a:ea typeface="Lato Black"/>
                <a:cs typeface="Lato Black"/>
                <a:sym typeface="Lato Black"/>
              </a:rPr>
              <a:t>STRATEGY</a:t>
            </a:r>
            <a:endParaRPr/>
          </a:p>
        </p:txBody>
      </p:sp>
      <p:cxnSp>
        <p:nvCxnSpPr>
          <p:cNvPr id="1539" name="Google Shape;1539;p21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l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7728A7"/>
      </a:accent1>
      <a:accent2>
        <a:srgbClr val="9340D1"/>
      </a:accent2>
      <a:accent3>
        <a:srgbClr val="B056F6"/>
      </a:accent3>
      <a:accent4>
        <a:srgbClr val="5E58F8"/>
      </a:accent4>
      <a:accent5>
        <a:srgbClr val="BF74F8"/>
      </a:accent5>
      <a:accent6>
        <a:srgbClr val="601C8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2719</Words>
  <Application>Microsoft Office PowerPoint</Application>
  <PresentationFormat>Widescreen</PresentationFormat>
  <Paragraphs>840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Lato (Body)</vt:lpstr>
      <vt:lpstr>Lato Black (Headings)</vt:lpstr>
      <vt:lpstr>Wingdings</vt:lpstr>
      <vt:lpstr>Arial</vt:lpstr>
      <vt:lpstr>Lato Black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Avi S Outlook</cp:lastModifiedBy>
  <cp:revision>2</cp:revision>
  <dcterms:modified xsi:type="dcterms:W3CDTF">2026-03-02T06:23:03Z</dcterms:modified>
</cp:coreProperties>
</file>