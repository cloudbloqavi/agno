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2" r:id="rId2"/>
    <p:sldId id="261" r:id="rId3"/>
    <p:sldId id="355" r:id="rId4"/>
    <p:sldId id="357" r:id="rId5"/>
    <p:sldId id="358" r:id="rId6"/>
    <p:sldId id="3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60" userDrawn="1">
          <p15:clr>
            <a:srgbClr val="A4A3A4"/>
          </p15:clr>
        </p15:guide>
        <p15:guide id="2" orient="horz" pos="312" userDrawn="1">
          <p15:clr>
            <a:srgbClr val="A4A3A4"/>
          </p15:clr>
        </p15:guide>
        <p15:guide id="3" orient="horz" pos="768" userDrawn="1">
          <p15:clr>
            <a:srgbClr val="A4A3A4"/>
          </p15:clr>
        </p15:guide>
        <p15:guide id="4" pos="360" userDrawn="1">
          <p15:clr>
            <a:srgbClr val="A4A3A4"/>
          </p15:clr>
        </p15:guide>
        <p15:guide id="5" pos="7344" userDrawn="1">
          <p15:clr>
            <a:srgbClr val="A4A3A4"/>
          </p15:clr>
        </p15:guide>
        <p15:guide id="6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9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12" autoAdjust="0"/>
    <p:restoredTop sz="94940" autoAdjust="0"/>
  </p:normalViewPr>
  <p:slideViewPr>
    <p:cSldViewPr snapToGrid="0">
      <p:cViewPr varScale="1">
        <p:scale>
          <a:sx n="102" d="100"/>
          <a:sy n="102" d="100"/>
        </p:scale>
        <p:origin x="1488" y="318"/>
      </p:cViewPr>
      <p:guideLst>
        <p:guide orient="horz" pos="3960"/>
        <p:guide orient="horz" pos="312"/>
        <p:guide orient="horz" pos="768"/>
        <p:guide pos="360"/>
        <p:guide pos="734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81664-CA75-4543-8152-9B9DD3B53700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FD8ECB-6BCE-4372-B006-3C73EEADD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614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026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D07A2-A638-43E5-A4D9-7B9D16DD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C8932-EF1F-4930-A6E8-72D3FA606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76A56-6E26-422E-BEF8-8709889C9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A8DE-001A-4B14-8EAE-6FAB7170FF0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22A9C-1307-4F69-B78A-C3A4ED242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B0357-53B8-4F46-BCCC-66BCF2CE3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9581-D477-4495-AD6C-6A0531DDC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1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19DE3-2884-4019-ADCD-4DAF3C41E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0F65D-D6C5-4209-9818-087FABC88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171E9-CE8E-467B-B4B8-F95B6F24B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A8DE-001A-4B14-8EAE-6FAB7170FF0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C2B73-3ECD-4F95-8A17-A630B8F9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B6BFE-14A6-44FD-89C3-087571C25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9581-D477-4495-AD6C-6A0531DDC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1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A77D3-1E31-4C61-AC30-4F77DA12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5766-3919-429E-B588-DEBFE2D1A2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D0D0B-E227-4BC0-BCB1-A0D5B39B8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F0281-75C3-4357-AFAD-940C98B8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A8DE-001A-4B14-8EAE-6FAB7170FF0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265E6-E52E-403F-8313-F3C411034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BF2E6-CF97-4360-B648-347C23F3A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9581-D477-4495-AD6C-6A0531DDC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27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A6CD6-D8A8-4903-9B55-7468593F6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96D6C-78B8-4295-86DA-265194AA7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6D249-E7D3-4BA0-A414-21E242B23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E5A784-87DD-4E74-8DF5-DC50EC01BA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7E140F-B8C1-48DA-BC87-3F2DBC1C1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75A3F1-B375-44E3-B6A1-589AB6CEC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A8DE-001A-4B14-8EAE-6FAB7170FF0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0ED6-BAB9-4CBF-90F0-C2904F394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62CDE0-7E79-4C00-85AC-8AD7D184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9581-D477-4495-AD6C-6A0531DDC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3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B07FE-8EB8-4D20-A173-CCDB9082A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737387-F1F1-456A-8581-CDF11747B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A8DE-001A-4B14-8EAE-6FAB7170FF0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3F79C-A7FE-4D25-9E4D-4535B35A7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CD35E8-71B1-4382-A306-9D09A3DC4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9581-D477-4495-AD6C-6A0531DDC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55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D4BE04-5783-4E5A-B5AE-9B3E7194A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A8DE-001A-4B14-8EAE-6FAB7170FF0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D08647-150D-4025-B6AE-2E8D5386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9F199-EC95-4730-BE23-99FDBF217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9581-D477-4495-AD6C-6A0531DDC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7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6CD3A-54FF-4513-988A-EC1283112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FC1C8-CFF4-4D10-BC05-3AE1EAB19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A40D6-0D28-4AD8-8728-6592580B0C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00602-CB4D-471F-A1E8-2CFD079B8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A8DE-001A-4B14-8EAE-6FAB7170FF0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C1E36C-7E15-40C3-A7BC-998C1F52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15B6E-1F3E-44E8-B29A-86F58AE31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9581-D477-4495-AD6C-6A0531DDC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069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FE3-B2B5-434F-94C9-5BDC890B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625E81-C4FD-41EA-BD1D-C4EE479D26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24433-ECDB-4053-AFDA-5B68856E0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EDF51-6B25-44CA-8EE1-25944735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A8DE-001A-4B14-8EAE-6FAB7170FF0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154F1-07FC-4A7A-BAFE-5328C767D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45300-3A70-4624-ACCE-7FFF0F39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9581-D477-4495-AD6C-6A0531DDC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77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B297C-ECC5-43C9-B2E2-1EDC0EFF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B8BE7-F902-4DFC-B0A0-A88B9022A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D0BC2-47DC-4C79-8A07-06DB62A01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A8DE-001A-4B14-8EAE-6FAB7170FF0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BEABF-515A-4EA8-9CCF-6D8D6F3ED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BF70F-F4AF-451D-B0EA-C9C23F14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9581-D477-4495-AD6C-6A0531DDC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87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09CDA8-6F43-413D-8882-B061AEC08D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13D7AF-C5E9-44E3-82C3-BB6D99287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36967-AFF5-4630-A2EF-CDFEC8E4E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A8DE-001A-4B14-8EAE-6FAB7170FF0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5554B-6492-4BE1-A409-E0BF4ACD1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58329-C18D-4F08-84A4-DA4C89FF1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9581-D477-4495-AD6C-6A0531DDC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13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5CA144-F9A3-4816-83E6-5AAB3DA0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DF41F-C491-4BA5-B906-04E761364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13B6F-9EEF-469C-8FE7-AC4FE2E99E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4A8DE-001A-4B14-8EAE-6FAB7170FF0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832AD-7858-4EC3-960B-158509FB32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A4185-8A49-4610-8935-8BCE36431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09581-D477-4495-AD6C-6A0531DDC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48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4.svg"/><Relationship Id="rId18" Type="http://schemas.openxmlformats.org/officeDocument/2006/relationships/image" Target="../media/image29.png"/><Relationship Id="rId3" Type="http://schemas.openxmlformats.org/officeDocument/2006/relationships/image" Target="../media/image6.svg"/><Relationship Id="rId21" Type="http://schemas.openxmlformats.org/officeDocument/2006/relationships/image" Target="../media/image32.svg"/><Relationship Id="rId7" Type="http://schemas.openxmlformats.org/officeDocument/2006/relationships/image" Target="../media/image2.svg"/><Relationship Id="rId12" Type="http://schemas.openxmlformats.org/officeDocument/2006/relationships/image" Target="../media/image23.png"/><Relationship Id="rId17" Type="http://schemas.openxmlformats.org/officeDocument/2006/relationships/image" Target="../media/image28.svg"/><Relationship Id="rId2" Type="http://schemas.openxmlformats.org/officeDocument/2006/relationships/image" Target="../media/image5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8.svg"/><Relationship Id="rId5" Type="http://schemas.openxmlformats.org/officeDocument/2006/relationships/image" Target="../media/image22.svg"/><Relationship Id="rId15" Type="http://schemas.openxmlformats.org/officeDocument/2006/relationships/image" Target="../media/image26.svg"/><Relationship Id="rId23" Type="http://schemas.openxmlformats.org/officeDocument/2006/relationships/image" Target="../media/image34.svg"/><Relationship Id="rId10" Type="http://schemas.openxmlformats.org/officeDocument/2006/relationships/image" Target="../media/image7.png"/><Relationship Id="rId19" Type="http://schemas.openxmlformats.org/officeDocument/2006/relationships/image" Target="../media/image30.svg"/><Relationship Id="rId4" Type="http://schemas.openxmlformats.org/officeDocument/2006/relationships/image" Target="../media/image21.png"/><Relationship Id="rId9" Type="http://schemas.openxmlformats.org/officeDocument/2006/relationships/image" Target="../media/image4.svg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svg"/><Relationship Id="rId7" Type="http://schemas.openxmlformats.org/officeDocument/2006/relationships/image" Target="../media/image2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8.svg"/><Relationship Id="rId5" Type="http://schemas.openxmlformats.org/officeDocument/2006/relationships/image" Target="../media/image2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7A09700-EBDF-4F55-A2B1-82E178C95771}"/>
              </a:ext>
            </a:extLst>
          </p:cNvPr>
          <p:cNvCxnSpPr>
            <a:cxnSpLocks/>
          </p:cNvCxnSpPr>
          <p:nvPr/>
        </p:nvCxnSpPr>
        <p:spPr>
          <a:xfrm>
            <a:off x="1094990" y="5829674"/>
            <a:ext cx="1059428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F0AA1E06-1264-409D-98FE-AC64BCEB9895}"/>
              </a:ext>
            </a:extLst>
          </p:cNvPr>
          <p:cNvSpPr/>
          <p:nvPr/>
        </p:nvSpPr>
        <p:spPr>
          <a:xfrm>
            <a:off x="4922792" y="5691915"/>
            <a:ext cx="275522" cy="2755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823DC57-A41C-4263-B8A2-8C9F1C2E4704}"/>
              </a:ext>
            </a:extLst>
          </p:cNvPr>
          <p:cNvSpPr/>
          <p:nvPr/>
        </p:nvSpPr>
        <p:spPr>
          <a:xfrm>
            <a:off x="7552136" y="5691915"/>
            <a:ext cx="275522" cy="2755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5AEA90A-2FBF-43D1-A459-913716391B2D}"/>
              </a:ext>
            </a:extLst>
          </p:cNvPr>
          <p:cNvSpPr/>
          <p:nvPr/>
        </p:nvSpPr>
        <p:spPr>
          <a:xfrm>
            <a:off x="10181481" y="5691915"/>
            <a:ext cx="275522" cy="2755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FCDC7B7-E700-44D1-9E1A-3F45D00B3E2E}"/>
              </a:ext>
            </a:extLst>
          </p:cNvPr>
          <p:cNvSpPr/>
          <p:nvPr/>
        </p:nvSpPr>
        <p:spPr>
          <a:xfrm>
            <a:off x="2304218" y="5691915"/>
            <a:ext cx="275522" cy="2755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4D2674-6A5C-4A64-A78B-CEB79FA59FE0}"/>
              </a:ext>
            </a:extLst>
          </p:cNvPr>
          <p:cNvSpPr/>
          <p:nvPr/>
        </p:nvSpPr>
        <p:spPr>
          <a:xfrm>
            <a:off x="571500" y="2742000"/>
            <a:ext cx="2678715" cy="13705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F4E2F6-C301-4CD6-BDA0-432D3B6833E6}"/>
              </a:ext>
            </a:extLst>
          </p:cNvPr>
          <p:cNvSpPr/>
          <p:nvPr/>
        </p:nvSpPr>
        <p:spPr>
          <a:xfrm>
            <a:off x="571500" y="1219201"/>
            <a:ext cx="2403348" cy="4693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r>
              <a:rPr lang="en-US" sz="1400" dirty="0"/>
              <a:t>Project Goal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BCCB71-DC74-4D22-8B2A-3E740F2EC0B0}"/>
              </a:ext>
            </a:extLst>
          </p:cNvPr>
          <p:cNvSpPr/>
          <p:nvPr/>
        </p:nvSpPr>
        <p:spPr>
          <a:xfrm>
            <a:off x="3077577" y="1219201"/>
            <a:ext cx="8581023" cy="4693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r>
              <a:rPr lang="en-US" sz="1400" b="1" dirty="0">
                <a:solidFill>
                  <a:schemeClr val="bg1">
                    <a:lumMod val="75000"/>
                  </a:schemeClr>
                </a:solidFill>
              </a:rPr>
              <a:t>Enter project goal here… i.e: Reduce Expenses &amp; Grow Revenue</a:t>
            </a:r>
          </a:p>
        </p:txBody>
      </p:sp>
      <p:pic>
        <p:nvPicPr>
          <p:cNvPr id="16" name="Graphic 15" descr="Single gear">
            <a:extLst>
              <a:ext uri="{FF2B5EF4-FFF2-40B4-BE49-F238E27FC236}">
                <a16:creationId xmlns:a16="http://schemas.microsoft.com/office/drawing/2014/main" id="{507EAD9E-0DFD-4B20-9D36-64D441E8F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9717" y="1268399"/>
            <a:ext cx="370997" cy="37099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AA802FC-F20F-4B5D-8C8A-29A2C3D81D54}"/>
              </a:ext>
            </a:extLst>
          </p:cNvPr>
          <p:cNvSpPr/>
          <p:nvPr/>
        </p:nvSpPr>
        <p:spPr>
          <a:xfrm>
            <a:off x="571500" y="1902649"/>
            <a:ext cx="2678715" cy="8427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1A2F4B-4C0A-45EB-B42D-9DAB8BD7D464}"/>
              </a:ext>
            </a:extLst>
          </p:cNvPr>
          <p:cNvSpPr txBox="1"/>
          <p:nvPr/>
        </p:nvSpPr>
        <p:spPr>
          <a:xfrm>
            <a:off x="680757" y="2031653"/>
            <a:ext cx="1508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Project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Need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313D91-6404-4F2C-A2FF-02DFDA2C79E9}"/>
              </a:ext>
            </a:extLst>
          </p:cNvPr>
          <p:cNvSpPr/>
          <p:nvPr/>
        </p:nvSpPr>
        <p:spPr>
          <a:xfrm>
            <a:off x="3374295" y="1902649"/>
            <a:ext cx="2678715" cy="8427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5C7988-9270-43EF-A885-7082EF939A52}"/>
              </a:ext>
            </a:extLst>
          </p:cNvPr>
          <p:cNvSpPr txBox="1"/>
          <p:nvPr/>
        </p:nvSpPr>
        <p:spPr>
          <a:xfrm>
            <a:off x="3483552" y="2031653"/>
            <a:ext cx="1508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Project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Scope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80DBC8-68DE-4490-BB37-58572987BD57}"/>
              </a:ext>
            </a:extLst>
          </p:cNvPr>
          <p:cNvSpPr/>
          <p:nvPr/>
        </p:nvSpPr>
        <p:spPr>
          <a:xfrm>
            <a:off x="6177090" y="1902649"/>
            <a:ext cx="2678715" cy="8427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BC1CBF-659A-4614-899E-A1A06733A34F}"/>
              </a:ext>
            </a:extLst>
          </p:cNvPr>
          <p:cNvSpPr txBox="1"/>
          <p:nvPr/>
        </p:nvSpPr>
        <p:spPr>
          <a:xfrm>
            <a:off x="6286347" y="2031653"/>
            <a:ext cx="1508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Project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Goals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A3AEEF-ADA3-4551-8E20-9435A37D1953}"/>
              </a:ext>
            </a:extLst>
          </p:cNvPr>
          <p:cNvSpPr/>
          <p:nvPr/>
        </p:nvSpPr>
        <p:spPr>
          <a:xfrm>
            <a:off x="8979885" y="1902649"/>
            <a:ext cx="2678715" cy="8427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3ED763-A134-42F2-8863-94042CE919EB}"/>
              </a:ext>
            </a:extLst>
          </p:cNvPr>
          <p:cNvSpPr txBox="1"/>
          <p:nvPr/>
        </p:nvSpPr>
        <p:spPr>
          <a:xfrm>
            <a:off x="9089142" y="2031653"/>
            <a:ext cx="1508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High Level Requirements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0CB2AF-9121-445C-8297-3848371917E8}"/>
              </a:ext>
            </a:extLst>
          </p:cNvPr>
          <p:cNvSpPr txBox="1"/>
          <p:nvPr/>
        </p:nvSpPr>
        <p:spPr>
          <a:xfrm>
            <a:off x="684564" y="2871003"/>
            <a:ext cx="245258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Iterative approach</a:t>
            </a:r>
          </a:p>
          <a:p>
            <a:pPr marL="171450" indent="-1714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Iterations or incremental steps towards the completion </a:t>
            </a:r>
          </a:p>
          <a:p>
            <a:pPr marL="171450" indent="-1714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Promote velocity and adaptability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E9A9E3-C721-45FD-945A-841890AA1640}"/>
              </a:ext>
            </a:extLst>
          </p:cNvPr>
          <p:cNvSpPr/>
          <p:nvPr/>
        </p:nvSpPr>
        <p:spPr>
          <a:xfrm>
            <a:off x="3374295" y="2742000"/>
            <a:ext cx="2678715" cy="13705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C8AEC4-D1B4-44F7-9E6A-3C52062002C3}"/>
              </a:ext>
            </a:extLst>
          </p:cNvPr>
          <p:cNvSpPr txBox="1"/>
          <p:nvPr/>
        </p:nvSpPr>
        <p:spPr>
          <a:xfrm>
            <a:off x="3487359" y="2871003"/>
            <a:ext cx="245258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Product delivery</a:t>
            </a:r>
          </a:p>
          <a:p>
            <a:pPr marL="171450" indent="-171450"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Network and communication among the team</a:t>
            </a:r>
          </a:p>
          <a:p>
            <a:pPr marL="171450" indent="-171450"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Cyber security risks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8990A4-0E8E-4444-8673-0071BE31E7C2}"/>
              </a:ext>
            </a:extLst>
          </p:cNvPr>
          <p:cNvSpPr/>
          <p:nvPr/>
        </p:nvSpPr>
        <p:spPr>
          <a:xfrm>
            <a:off x="6177090" y="2742000"/>
            <a:ext cx="2678715" cy="13705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84E372-E37B-4727-96E4-E4AF00120708}"/>
              </a:ext>
            </a:extLst>
          </p:cNvPr>
          <p:cNvSpPr txBox="1"/>
          <p:nvPr/>
        </p:nvSpPr>
        <p:spPr>
          <a:xfrm>
            <a:off x="6290155" y="2871003"/>
            <a:ext cx="256565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Reduce cross-departmental delays</a:t>
            </a:r>
          </a:p>
          <a:p>
            <a:pPr marL="171450" indent="-171450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A single communication platform across all departments</a:t>
            </a:r>
          </a:p>
          <a:p>
            <a:pPr marL="171450" indent="-171450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Increase data encryption by 15%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A14425-F491-4206-8FD4-3B5778D6D60C}"/>
              </a:ext>
            </a:extLst>
          </p:cNvPr>
          <p:cNvSpPr/>
          <p:nvPr/>
        </p:nvSpPr>
        <p:spPr>
          <a:xfrm>
            <a:off x="8979885" y="2742000"/>
            <a:ext cx="2678715" cy="13705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98F761-01F2-4BF2-B5EE-686BFDF1E033}"/>
              </a:ext>
            </a:extLst>
          </p:cNvPr>
          <p:cNvSpPr txBox="1"/>
          <p:nvPr/>
        </p:nvSpPr>
        <p:spPr>
          <a:xfrm>
            <a:off x="9092949" y="2871003"/>
            <a:ext cx="245258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Prioritize work still pending</a:t>
            </a:r>
          </a:p>
          <a:p>
            <a:pPr marL="171450" indent="-171450">
              <a:spcAft>
                <a:spcPts val="600"/>
              </a:spcAft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A particular focus on just-in-time product delivery</a:t>
            </a:r>
          </a:p>
          <a:p>
            <a:pPr marL="171450" indent="-171450">
              <a:spcAft>
                <a:spcPts val="600"/>
              </a:spcAft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Having multiple sub-projects</a:t>
            </a:r>
          </a:p>
        </p:txBody>
      </p:sp>
      <p:pic>
        <p:nvPicPr>
          <p:cNvPr id="37" name="Graphic 36" descr="Head with gears">
            <a:extLst>
              <a:ext uri="{FF2B5EF4-FFF2-40B4-BE49-F238E27FC236}">
                <a16:creationId xmlns:a16="http://schemas.microsoft.com/office/drawing/2014/main" id="{E20C91F7-9FAF-43EF-9AED-1539EFACC3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8847" y="2146716"/>
            <a:ext cx="351218" cy="351218"/>
          </a:xfrm>
          <a:prstGeom prst="rect">
            <a:avLst/>
          </a:prstGeom>
        </p:spPr>
      </p:pic>
      <p:pic>
        <p:nvPicPr>
          <p:cNvPr id="38" name="Graphic 37" descr="Pie chart">
            <a:extLst>
              <a:ext uri="{FF2B5EF4-FFF2-40B4-BE49-F238E27FC236}">
                <a16:creationId xmlns:a16="http://schemas.microsoft.com/office/drawing/2014/main" id="{2D3F9FF9-ED92-448C-8361-8D5DFE5122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6052" y="2146716"/>
            <a:ext cx="351218" cy="351218"/>
          </a:xfrm>
          <a:prstGeom prst="rect">
            <a:avLst/>
          </a:prstGeom>
        </p:spPr>
      </p:pic>
      <p:pic>
        <p:nvPicPr>
          <p:cNvPr id="39" name="Graphic 38" descr="Bullseye">
            <a:extLst>
              <a:ext uri="{FF2B5EF4-FFF2-40B4-BE49-F238E27FC236}">
                <a16:creationId xmlns:a16="http://schemas.microsoft.com/office/drawing/2014/main" id="{DB3B5769-44C7-4BB2-9791-15E0330F68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83257" y="2146716"/>
            <a:ext cx="351218" cy="351218"/>
          </a:xfrm>
          <a:prstGeom prst="rect">
            <a:avLst/>
          </a:prstGeom>
        </p:spPr>
      </p:pic>
      <p:pic>
        <p:nvPicPr>
          <p:cNvPr id="40" name="Graphic 39" descr="Bar chart RTL">
            <a:extLst>
              <a:ext uri="{FF2B5EF4-FFF2-40B4-BE49-F238E27FC236}">
                <a16:creationId xmlns:a16="http://schemas.microsoft.com/office/drawing/2014/main" id="{D2632953-3464-484F-8D71-9B6C610036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30883" y="2170178"/>
            <a:ext cx="307724" cy="30772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0DA74199-255D-409D-B20E-BE4613E5D307}"/>
              </a:ext>
            </a:extLst>
          </p:cNvPr>
          <p:cNvGrpSpPr/>
          <p:nvPr/>
        </p:nvGrpSpPr>
        <p:grpSpPr>
          <a:xfrm>
            <a:off x="571500" y="4291475"/>
            <a:ext cx="5481510" cy="980439"/>
            <a:chOff x="571500" y="4291475"/>
            <a:chExt cx="5481510" cy="98043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362EDF1-A1AF-40B8-B8A3-5FD33DF91ED9}"/>
                </a:ext>
              </a:extLst>
            </p:cNvPr>
            <p:cNvSpPr/>
            <p:nvPr/>
          </p:nvSpPr>
          <p:spPr>
            <a:xfrm>
              <a:off x="571500" y="4429132"/>
              <a:ext cx="5481510" cy="8427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A49C193-4D8C-4C9A-B5CE-7519B5AF9B09}"/>
                </a:ext>
              </a:extLst>
            </p:cNvPr>
            <p:cNvSpPr txBox="1"/>
            <p:nvPr/>
          </p:nvSpPr>
          <p:spPr>
            <a:xfrm>
              <a:off x="684564" y="4701296"/>
              <a:ext cx="52553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cury SSm A"/>
                </a:rPr>
                <a:t>Overcome the challenges with product manufacturing, packaging, and transportation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6E2727E-FCE6-4C39-820D-AAAEF4E569F7}"/>
                </a:ext>
              </a:extLst>
            </p:cNvPr>
            <p:cNvSpPr/>
            <p:nvPr/>
          </p:nvSpPr>
          <p:spPr>
            <a:xfrm>
              <a:off x="656141" y="4291475"/>
              <a:ext cx="1774640" cy="3256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In Scope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472E802-3201-4B52-8906-ABFAC2688D53}"/>
              </a:ext>
            </a:extLst>
          </p:cNvPr>
          <p:cNvGrpSpPr/>
          <p:nvPr/>
        </p:nvGrpSpPr>
        <p:grpSpPr>
          <a:xfrm>
            <a:off x="6177090" y="4291475"/>
            <a:ext cx="5481510" cy="980439"/>
            <a:chOff x="571500" y="4291475"/>
            <a:chExt cx="5481510" cy="980439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C8EFB57-8A0F-4BD3-8351-A7448FC6FAC2}"/>
                </a:ext>
              </a:extLst>
            </p:cNvPr>
            <p:cNvSpPr/>
            <p:nvPr/>
          </p:nvSpPr>
          <p:spPr>
            <a:xfrm>
              <a:off x="571500" y="4429132"/>
              <a:ext cx="5481510" cy="8427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E0F6D0F-0E31-475F-911E-013DE79E0459}"/>
                </a:ext>
              </a:extLst>
            </p:cNvPr>
            <p:cNvSpPr txBox="1"/>
            <p:nvPr/>
          </p:nvSpPr>
          <p:spPr>
            <a:xfrm>
              <a:off x="684564" y="4701296"/>
              <a:ext cx="52553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cury SSm A"/>
                </a:rPr>
                <a:t>Sudden breakdown of manufacturing equipment, employees health, or severe weather conditions during delivery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3EF977F-C1F3-4EEC-8F98-29262B5DCBE7}"/>
                </a:ext>
              </a:extLst>
            </p:cNvPr>
            <p:cNvSpPr/>
            <p:nvPr/>
          </p:nvSpPr>
          <p:spPr>
            <a:xfrm>
              <a:off x="656141" y="4291475"/>
              <a:ext cx="1774640" cy="3256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Out of Scope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F38EF865-01CB-4AA8-A9B1-178E70BB6E24}"/>
              </a:ext>
            </a:extLst>
          </p:cNvPr>
          <p:cNvSpPr/>
          <p:nvPr/>
        </p:nvSpPr>
        <p:spPr>
          <a:xfrm rot="16200000">
            <a:off x="418206" y="5526143"/>
            <a:ext cx="913651" cy="607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Cost Estimate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0C86BE-59E9-4AFF-AD80-D2201680B738}"/>
              </a:ext>
            </a:extLst>
          </p:cNvPr>
          <p:cNvSpPr txBox="1"/>
          <p:nvPr/>
        </p:nvSpPr>
        <p:spPr>
          <a:xfrm>
            <a:off x="2066382" y="5420135"/>
            <a:ext cx="729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$11M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C2DE8B-5F32-418E-A7A7-5C202EB9DAA9}"/>
              </a:ext>
            </a:extLst>
          </p:cNvPr>
          <p:cNvSpPr txBox="1"/>
          <p:nvPr/>
        </p:nvSpPr>
        <p:spPr>
          <a:xfrm>
            <a:off x="1398948" y="5944019"/>
            <a:ext cx="2064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Estimate Project Cost</a:t>
            </a:r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AE2FDC5C-CB26-4C6F-BC93-E83986E8789C}"/>
              </a:ext>
            </a:extLst>
          </p:cNvPr>
          <p:cNvSpPr/>
          <p:nvPr/>
        </p:nvSpPr>
        <p:spPr>
          <a:xfrm rot="5400000">
            <a:off x="2352468" y="5775317"/>
            <a:ext cx="157482" cy="139491"/>
          </a:xfrm>
          <a:prstGeom prst="rightArrow">
            <a:avLst>
              <a:gd name="adj1" fmla="val 66700"/>
              <a:gd name="adj2" fmla="val 63143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36B4C2-267E-4B65-8FEC-2334A620C122}"/>
              </a:ext>
            </a:extLst>
          </p:cNvPr>
          <p:cNvSpPr txBox="1"/>
          <p:nvPr/>
        </p:nvSpPr>
        <p:spPr>
          <a:xfrm>
            <a:off x="4695726" y="5420135"/>
            <a:ext cx="729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$7M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0833A0B-F331-4B33-9055-E1533B45FCAA}"/>
              </a:ext>
            </a:extLst>
          </p:cNvPr>
          <p:cNvSpPr txBox="1"/>
          <p:nvPr/>
        </p:nvSpPr>
        <p:spPr>
          <a:xfrm>
            <a:off x="4028292" y="5944019"/>
            <a:ext cx="2064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Actual Expenses</a:t>
            </a:r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BF0C43DA-E9BC-4D9F-8D06-67459E3F42E3}"/>
              </a:ext>
            </a:extLst>
          </p:cNvPr>
          <p:cNvSpPr/>
          <p:nvPr/>
        </p:nvSpPr>
        <p:spPr>
          <a:xfrm rot="5400000">
            <a:off x="4981812" y="5775317"/>
            <a:ext cx="157482" cy="139491"/>
          </a:xfrm>
          <a:prstGeom prst="rightArrow">
            <a:avLst>
              <a:gd name="adj1" fmla="val 66700"/>
              <a:gd name="adj2" fmla="val 63143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9568003-5AE8-444F-BD90-E1B107FB84FC}"/>
              </a:ext>
            </a:extLst>
          </p:cNvPr>
          <p:cNvSpPr txBox="1"/>
          <p:nvPr/>
        </p:nvSpPr>
        <p:spPr>
          <a:xfrm>
            <a:off x="7325070" y="5420135"/>
            <a:ext cx="729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$10M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6910D9D-AAAC-4142-9D8B-62C3135D50F9}"/>
              </a:ext>
            </a:extLst>
          </p:cNvPr>
          <p:cNvSpPr txBox="1"/>
          <p:nvPr/>
        </p:nvSpPr>
        <p:spPr>
          <a:xfrm>
            <a:off x="6657636" y="5944019"/>
            <a:ext cx="2064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Cost At The End of Project</a:t>
            </a: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897556CD-472A-4857-8B2C-88D8DF47B22C}"/>
              </a:ext>
            </a:extLst>
          </p:cNvPr>
          <p:cNvSpPr/>
          <p:nvPr/>
        </p:nvSpPr>
        <p:spPr>
          <a:xfrm rot="5400000">
            <a:off x="7611156" y="5775317"/>
            <a:ext cx="157482" cy="139491"/>
          </a:xfrm>
          <a:prstGeom prst="rightArrow">
            <a:avLst>
              <a:gd name="adj1" fmla="val 66700"/>
              <a:gd name="adj2" fmla="val 63143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FA670FE-8DBE-4B87-8640-9163C8DCAA5D}"/>
              </a:ext>
            </a:extLst>
          </p:cNvPr>
          <p:cNvSpPr txBox="1"/>
          <p:nvPr/>
        </p:nvSpPr>
        <p:spPr>
          <a:xfrm>
            <a:off x="9954415" y="5420135"/>
            <a:ext cx="729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NA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08D5316-FF67-4869-B447-D3E4AEC7B0E8}"/>
              </a:ext>
            </a:extLst>
          </p:cNvPr>
          <p:cNvSpPr txBox="1"/>
          <p:nvPr/>
        </p:nvSpPr>
        <p:spPr>
          <a:xfrm>
            <a:off x="9286981" y="5944019"/>
            <a:ext cx="2064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Variance</a:t>
            </a: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72174680-3C81-43F0-A8DF-1B5023651635}"/>
              </a:ext>
            </a:extLst>
          </p:cNvPr>
          <p:cNvSpPr/>
          <p:nvPr/>
        </p:nvSpPr>
        <p:spPr>
          <a:xfrm rot="5400000">
            <a:off x="10240501" y="5775317"/>
            <a:ext cx="157482" cy="139491"/>
          </a:xfrm>
          <a:prstGeom prst="rightArrow">
            <a:avLst>
              <a:gd name="adj1" fmla="val 66700"/>
              <a:gd name="adj2" fmla="val 63143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0567D-C659-F042-8614-C7AF18F9C408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Lato Black" panose="020F0502020204030203" pitchFamily="34" charset="0"/>
                <a:cs typeface="Lato Black" panose="020F0502020204030203" pitchFamily="34" charset="0"/>
              </a:rPr>
              <a:t>AGILE </a:t>
            </a:r>
            <a:r>
              <a:rPr lang="en-GB" sz="3200" b="1" dirty="0">
                <a:solidFill>
                  <a:schemeClr val="accent1"/>
                </a:solidFill>
                <a:latin typeface="+mj-lt"/>
                <a:ea typeface="Lato Black" panose="020F0502020204030203" pitchFamily="34" charset="0"/>
                <a:cs typeface="Lato Black" panose="020F0502020204030203" pitchFamily="34" charset="0"/>
              </a:rPr>
              <a:t>PROJECT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FF6BC-A93B-2A34-1051-EFC1705595A5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rgbClr val="3469D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</a:t>
            </a:r>
            <a:r>
              <a:rPr lang="en-GB" sz="900" b="1" dirty="0">
                <a:solidFill>
                  <a:srgbClr val="3469D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WWW.POWERSLIDES.COM 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B192D9E-6FC1-40F3-F8FB-28191BDCA2EA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B6C856F-343B-F809-1441-69A8B799F02A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rgbClr val="3469D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3A8393-0804-15EF-7C0D-7CAC95909D29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rgbClr val="3469D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BB9310-247D-3F0A-5E32-8C1E7AA5B696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rgbClr val="3469D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209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A9DF1C5-74B2-4632-B858-596577EBE7E5}"/>
              </a:ext>
            </a:extLst>
          </p:cNvPr>
          <p:cNvSpPr txBox="1"/>
          <p:nvPr/>
        </p:nvSpPr>
        <p:spPr>
          <a:xfrm flipH="1">
            <a:off x="571500" y="1229027"/>
            <a:ext cx="10756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The Agile software development life cycle is the structured series of stages that a product goes through as it moves from beginning to end. It contains six phases: concept, inception, iteration, release, maintenance, and retirement.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C0A736-AAF5-4ACF-9CDD-C860FC8E86CD}"/>
              </a:ext>
            </a:extLst>
          </p:cNvPr>
          <p:cNvSpPr/>
          <p:nvPr/>
        </p:nvSpPr>
        <p:spPr>
          <a:xfrm rot="16200000">
            <a:off x="233601" y="2823117"/>
            <a:ext cx="1263723" cy="463807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1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PROJECT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543CE4-E778-481E-8067-2342F08658E9}"/>
              </a:ext>
            </a:extLst>
          </p:cNvPr>
          <p:cNvSpPr/>
          <p:nvPr/>
        </p:nvSpPr>
        <p:spPr>
          <a:xfrm rot="16200000">
            <a:off x="952482" y="3199905"/>
            <a:ext cx="631862" cy="3420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DCEBC8-0439-410E-AECC-A5E6B422EE5F}"/>
              </a:ext>
            </a:extLst>
          </p:cNvPr>
          <p:cNvSpPr/>
          <p:nvPr/>
        </p:nvSpPr>
        <p:spPr>
          <a:xfrm rot="16200000">
            <a:off x="952481" y="2568042"/>
            <a:ext cx="631862" cy="34209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4CFB72-A272-460D-8D90-AD4408E75A04}"/>
              </a:ext>
            </a:extLst>
          </p:cNvPr>
          <p:cNvSpPr/>
          <p:nvPr/>
        </p:nvSpPr>
        <p:spPr>
          <a:xfrm rot="16200000">
            <a:off x="233599" y="4087493"/>
            <a:ext cx="1263724" cy="463807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1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PROJECT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57F86B-33C6-4098-84B8-AE8F5E4B594C}"/>
              </a:ext>
            </a:extLst>
          </p:cNvPr>
          <p:cNvSpPr/>
          <p:nvPr/>
        </p:nvSpPr>
        <p:spPr>
          <a:xfrm rot="16200000">
            <a:off x="952483" y="4464279"/>
            <a:ext cx="631862" cy="3420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90391F-C435-4204-A4D7-D7D4B0722BF5}"/>
              </a:ext>
            </a:extLst>
          </p:cNvPr>
          <p:cNvSpPr/>
          <p:nvPr/>
        </p:nvSpPr>
        <p:spPr>
          <a:xfrm rot="16200000">
            <a:off x="952483" y="3832415"/>
            <a:ext cx="631862" cy="34209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F5415A-9199-4D5C-BE57-92074421381F}"/>
              </a:ext>
            </a:extLst>
          </p:cNvPr>
          <p:cNvSpPr/>
          <p:nvPr/>
        </p:nvSpPr>
        <p:spPr>
          <a:xfrm rot="16200000">
            <a:off x="233600" y="5351869"/>
            <a:ext cx="1263723" cy="463807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1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PROJECT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1B748C-D335-488B-A9A8-E0739164FFE8}"/>
              </a:ext>
            </a:extLst>
          </p:cNvPr>
          <p:cNvSpPr/>
          <p:nvPr/>
        </p:nvSpPr>
        <p:spPr>
          <a:xfrm rot="16200000">
            <a:off x="952483" y="5728655"/>
            <a:ext cx="631862" cy="3420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EC8285-1098-44C8-910B-264A8982EBE9}"/>
              </a:ext>
            </a:extLst>
          </p:cNvPr>
          <p:cNvSpPr/>
          <p:nvPr/>
        </p:nvSpPr>
        <p:spPr>
          <a:xfrm rot="16200000">
            <a:off x="952483" y="5096791"/>
            <a:ext cx="631862" cy="34209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B51B606-7BD6-4ADA-A201-7B7FC883C678}"/>
              </a:ext>
            </a:extLst>
          </p:cNvPr>
          <p:cNvSpPr/>
          <p:nvPr/>
        </p:nvSpPr>
        <p:spPr>
          <a:xfrm>
            <a:off x="4386509" y="1959349"/>
            <a:ext cx="1205211" cy="463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COST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56BE377-59DA-45EC-A8C9-75B76529E379}"/>
              </a:ext>
            </a:extLst>
          </p:cNvPr>
          <p:cNvSpPr/>
          <p:nvPr/>
        </p:nvSpPr>
        <p:spPr>
          <a:xfrm>
            <a:off x="3161697" y="1959349"/>
            <a:ext cx="1205212" cy="463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BUDGET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B7505FD-6944-45FF-B04D-456D5A7F1EC0}"/>
              </a:ext>
            </a:extLst>
          </p:cNvPr>
          <p:cNvSpPr/>
          <p:nvPr/>
        </p:nvSpPr>
        <p:spPr>
          <a:xfrm>
            <a:off x="1439461" y="1959349"/>
            <a:ext cx="1702636" cy="463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PROJECT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3D1A34F-A140-4FAF-84C3-3D6B5813B47F}"/>
              </a:ext>
            </a:extLst>
          </p:cNvPr>
          <p:cNvSpPr/>
          <p:nvPr/>
        </p:nvSpPr>
        <p:spPr>
          <a:xfrm>
            <a:off x="5611320" y="1959350"/>
            <a:ext cx="1205211" cy="463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VARIANCE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CE426B6-F13A-4CCC-BF82-ADCA08A1679E}"/>
              </a:ext>
            </a:extLst>
          </p:cNvPr>
          <p:cNvSpPr/>
          <p:nvPr/>
        </p:nvSpPr>
        <p:spPr>
          <a:xfrm>
            <a:off x="6836131" y="1959350"/>
            <a:ext cx="948813" cy="4638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STAGE 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755F615-D4EC-4E89-B04A-D514A182CB08}"/>
              </a:ext>
            </a:extLst>
          </p:cNvPr>
          <p:cNvSpPr/>
          <p:nvPr/>
        </p:nvSpPr>
        <p:spPr>
          <a:xfrm>
            <a:off x="7804544" y="1959350"/>
            <a:ext cx="948813" cy="4638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STAGE 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47EE681-153A-4199-B1C0-E21F6179662E}"/>
              </a:ext>
            </a:extLst>
          </p:cNvPr>
          <p:cNvSpPr/>
          <p:nvPr/>
        </p:nvSpPr>
        <p:spPr>
          <a:xfrm>
            <a:off x="8772957" y="1959350"/>
            <a:ext cx="948813" cy="4638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STAGE 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1C555BF-5F65-4696-B751-F384E101B0B0}"/>
              </a:ext>
            </a:extLst>
          </p:cNvPr>
          <p:cNvSpPr/>
          <p:nvPr/>
        </p:nvSpPr>
        <p:spPr>
          <a:xfrm>
            <a:off x="9741370" y="1959350"/>
            <a:ext cx="948813" cy="4638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STAGE 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42603E-9D68-484A-8B54-1D6C376A7B94}"/>
              </a:ext>
            </a:extLst>
          </p:cNvPr>
          <p:cNvSpPr/>
          <p:nvPr/>
        </p:nvSpPr>
        <p:spPr>
          <a:xfrm>
            <a:off x="10709787" y="1959350"/>
            <a:ext cx="948813" cy="4638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STAGE 5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9E7BE85-AF7B-4418-941B-DF74DE62B2CB}"/>
              </a:ext>
            </a:extLst>
          </p:cNvPr>
          <p:cNvCxnSpPr>
            <a:cxnSpLocks/>
          </p:cNvCxnSpPr>
          <p:nvPr/>
        </p:nvCxnSpPr>
        <p:spPr>
          <a:xfrm>
            <a:off x="1094990" y="3055021"/>
            <a:ext cx="105636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E19CD7C-12B4-440A-9073-E58874145BB0}"/>
              </a:ext>
            </a:extLst>
          </p:cNvPr>
          <p:cNvCxnSpPr>
            <a:cxnSpLocks/>
          </p:cNvCxnSpPr>
          <p:nvPr/>
        </p:nvCxnSpPr>
        <p:spPr>
          <a:xfrm>
            <a:off x="1094990" y="4319395"/>
            <a:ext cx="105636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01C43D3-1CA1-4E40-8DB8-454A84E42196}"/>
              </a:ext>
            </a:extLst>
          </p:cNvPr>
          <p:cNvCxnSpPr>
            <a:cxnSpLocks/>
          </p:cNvCxnSpPr>
          <p:nvPr/>
        </p:nvCxnSpPr>
        <p:spPr>
          <a:xfrm>
            <a:off x="1094990" y="5583770"/>
            <a:ext cx="105636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EF66565-1A1B-4C52-ADE9-DB37591A5BE8}"/>
              </a:ext>
            </a:extLst>
          </p:cNvPr>
          <p:cNvCxnSpPr>
            <a:cxnSpLocks/>
          </p:cNvCxnSpPr>
          <p:nvPr/>
        </p:nvCxnSpPr>
        <p:spPr>
          <a:xfrm>
            <a:off x="1094990" y="3686882"/>
            <a:ext cx="105636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FB1E887-E53A-4436-A8A2-3BFAA1FF15CA}"/>
              </a:ext>
            </a:extLst>
          </p:cNvPr>
          <p:cNvCxnSpPr>
            <a:cxnSpLocks/>
          </p:cNvCxnSpPr>
          <p:nvPr/>
        </p:nvCxnSpPr>
        <p:spPr>
          <a:xfrm>
            <a:off x="1094990" y="4951258"/>
            <a:ext cx="105636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15B34C4-E4B9-4994-AD6A-2C46C2B24627}"/>
              </a:ext>
            </a:extLst>
          </p:cNvPr>
          <p:cNvSpPr txBox="1"/>
          <p:nvPr/>
        </p:nvSpPr>
        <p:spPr>
          <a:xfrm>
            <a:off x="1562508" y="2600590"/>
            <a:ext cx="1579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Product Delivery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3F33026-8F77-4953-8A88-49888D6B87CF}"/>
              </a:ext>
            </a:extLst>
          </p:cNvPr>
          <p:cNvSpPr txBox="1"/>
          <p:nvPr/>
        </p:nvSpPr>
        <p:spPr>
          <a:xfrm>
            <a:off x="1562508" y="3232454"/>
            <a:ext cx="1579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Quality Assurance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94DCA20-98F1-47F2-BAE6-9E3B8D7F0177}"/>
              </a:ext>
            </a:extLst>
          </p:cNvPr>
          <p:cNvSpPr txBox="1"/>
          <p:nvPr/>
        </p:nvSpPr>
        <p:spPr>
          <a:xfrm>
            <a:off x="1562508" y="3864963"/>
            <a:ext cx="1579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Network Issues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296D15-2022-4354-8617-287D5C84A881}"/>
              </a:ext>
            </a:extLst>
          </p:cNvPr>
          <p:cNvSpPr txBox="1"/>
          <p:nvPr/>
        </p:nvSpPr>
        <p:spPr>
          <a:xfrm>
            <a:off x="1562508" y="4498311"/>
            <a:ext cx="1579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Transportation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3E2A2AE-36B8-4334-8FC3-6FF653447773}"/>
              </a:ext>
            </a:extLst>
          </p:cNvPr>
          <p:cNvSpPr txBox="1"/>
          <p:nvPr/>
        </p:nvSpPr>
        <p:spPr>
          <a:xfrm>
            <a:off x="1562508" y="5130175"/>
            <a:ext cx="1579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Packaging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C455CE9-03D1-4223-A25E-A33D6F9B84A4}"/>
              </a:ext>
            </a:extLst>
          </p:cNvPr>
          <p:cNvSpPr txBox="1"/>
          <p:nvPr/>
        </p:nvSpPr>
        <p:spPr>
          <a:xfrm>
            <a:off x="1562508" y="5762684"/>
            <a:ext cx="1579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Returns and Faults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9F333B3-E9BE-4AFC-B4DB-B848401D816C}"/>
              </a:ext>
            </a:extLst>
          </p:cNvPr>
          <p:cNvSpPr txBox="1"/>
          <p:nvPr/>
        </p:nvSpPr>
        <p:spPr>
          <a:xfrm>
            <a:off x="3477683" y="2600590"/>
            <a:ext cx="573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D785BA9-697F-4E3D-AAAA-4EC2C5541952}"/>
              </a:ext>
            </a:extLst>
          </p:cNvPr>
          <p:cNvSpPr txBox="1"/>
          <p:nvPr/>
        </p:nvSpPr>
        <p:spPr>
          <a:xfrm>
            <a:off x="3477683" y="3232454"/>
            <a:ext cx="573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72D0792-6427-409D-A5F9-CD397A584449}"/>
              </a:ext>
            </a:extLst>
          </p:cNvPr>
          <p:cNvSpPr txBox="1"/>
          <p:nvPr/>
        </p:nvSpPr>
        <p:spPr>
          <a:xfrm>
            <a:off x="3477683" y="3864964"/>
            <a:ext cx="573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65627B4-CE37-44EB-8982-A6DB859BF37C}"/>
              </a:ext>
            </a:extLst>
          </p:cNvPr>
          <p:cNvSpPr txBox="1"/>
          <p:nvPr/>
        </p:nvSpPr>
        <p:spPr>
          <a:xfrm>
            <a:off x="3477683" y="4496828"/>
            <a:ext cx="573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AAD9415-90A3-4532-B01B-E93E1A6B1F90}"/>
              </a:ext>
            </a:extLst>
          </p:cNvPr>
          <p:cNvSpPr txBox="1"/>
          <p:nvPr/>
        </p:nvSpPr>
        <p:spPr>
          <a:xfrm>
            <a:off x="3477683" y="5130820"/>
            <a:ext cx="573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1EC4272-EC4B-4925-8FED-BAE2E0BDBC4A}"/>
              </a:ext>
            </a:extLst>
          </p:cNvPr>
          <p:cNvSpPr txBox="1"/>
          <p:nvPr/>
        </p:nvSpPr>
        <p:spPr>
          <a:xfrm>
            <a:off x="3477683" y="5762684"/>
            <a:ext cx="573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7CA0EF9-EEC2-4740-A7CD-1AC753CF4DD8}"/>
              </a:ext>
            </a:extLst>
          </p:cNvPr>
          <p:cNvSpPr txBox="1"/>
          <p:nvPr/>
        </p:nvSpPr>
        <p:spPr>
          <a:xfrm>
            <a:off x="4702494" y="2600590"/>
            <a:ext cx="573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FC39C13-85B0-48CA-8DC9-E3D872BE8A81}"/>
              </a:ext>
            </a:extLst>
          </p:cNvPr>
          <p:cNvSpPr txBox="1"/>
          <p:nvPr/>
        </p:nvSpPr>
        <p:spPr>
          <a:xfrm>
            <a:off x="4702494" y="3232454"/>
            <a:ext cx="573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FB0E5EA-662C-4FC1-87C0-4055E789231B}"/>
              </a:ext>
            </a:extLst>
          </p:cNvPr>
          <p:cNvSpPr txBox="1"/>
          <p:nvPr/>
        </p:nvSpPr>
        <p:spPr>
          <a:xfrm>
            <a:off x="4702494" y="3864964"/>
            <a:ext cx="573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E599A0D-77A4-4EEA-A9D0-0318D9B85C9C}"/>
              </a:ext>
            </a:extLst>
          </p:cNvPr>
          <p:cNvSpPr txBox="1"/>
          <p:nvPr/>
        </p:nvSpPr>
        <p:spPr>
          <a:xfrm>
            <a:off x="4702494" y="4496828"/>
            <a:ext cx="573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B3F70E6-522B-45B7-9F38-466AC421BD69}"/>
              </a:ext>
            </a:extLst>
          </p:cNvPr>
          <p:cNvSpPr txBox="1"/>
          <p:nvPr/>
        </p:nvSpPr>
        <p:spPr>
          <a:xfrm>
            <a:off x="4702494" y="5130820"/>
            <a:ext cx="573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CDD700B-CE57-4D3B-B403-1E1B61E1DD10}"/>
              </a:ext>
            </a:extLst>
          </p:cNvPr>
          <p:cNvSpPr txBox="1"/>
          <p:nvPr/>
        </p:nvSpPr>
        <p:spPr>
          <a:xfrm>
            <a:off x="4702494" y="5762684"/>
            <a:ext cx="573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47E1ACF-BAAE-4734-9F9F-8A1950780807}"/>
              </a:ext>
            </a:extLst>
          </p:cNvPr>
          <p:cNvSpPr txBox="1"/>
          <p:nvPr/>
        </p:nvSpPr>
        <p:spPr>
          <a:xfrm>
            <a:off x="5927305" y="2600590"/>
            <a:ext cx="573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69CFD06-FF2D-45C1-8AA5-6C4F9210C7B1}"/>
              </a:ext>
            </a:extLst>
          </p:cNvPr>
          <p:cNvSpPr txBox="1"/>
          <p:nvPr/>
        </p:nvSpPr>
        <p:spPr>
          <a:xfrm>
            <a:off x="5927305" y="3232454"/>
            <a:ext cx="573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D6168FA-BDF7-46C8-BF71-0C51EEDE8EF5}"/>
              </a:ext>
            </a:extLst>
          </p:cNvPr>
          <p:cNvSpPr txBox="1"/>
          <p:nvPr/>
        </p:nvSpPr>
        <p:spPr>
          <a:xfrm>
            <a:off x="5927305" y="3864964"/>
            <a:ext cx="573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E440F25-E5DB-4EAC-965D-0E74A7B4E705}"/>
              </a:ext>
            </a:extLst>
          </p:cNvPr>
          <p:cNvSpPr txBox="1"/>
          <p:nvPr/>
        </p:nvSpPr>
        <p:spPr>
          <a:xfrm>
            <a:off x="5927305" y="4496828"/>
            <a:ext cx="573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2580E71-24EC-4F79-AEE2-964E55998E0A}"/>
              </a:ext>
            </a:extLst>
          </p:cNvPr>
          <p:cNvSpPr txBox="1"/>
          <p:nvPr/>
        </p:nvSpPr>
        <p:spPr>
          <a:xfrm>
            <a:off x="5927305" y="5130820"/>
            <a:ext cx="573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39F2279-1FAF-4B27-A659-C2EC77AAB93C}"/>
              </a:ext>
            </a:extLst>
          </p:cNvPr>
          <p:cNvSpPr txBox="1"/>
          <p:nvPr/>
        </p:nvSpPr>
        <p:spPr>
          <a:xfrm>
            <a:off x="5927305" y="5762684"/>
            <a:ext cx="573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XXX</a:t>
            </a:r>
          </a:p>
        </p:txBody>
      </p:sp>
      <p:sp>
        <p:nvSpPr>
          <p:cNvPr id="86" name="Arrow: Right 85">
            <a:extLst>
              <a:ext uri="{FF2B5EF4-FFF2-40B4-BE49-F238E27FC236}">
                <a16:creationId xmlns:a16="http://schemas.microsoft.com/office/drawing/2014/main" id="{2F7C5B47-2DD5-4D68-9887-43807703317E}"/>
              </a:ext>
            </a:extLst>
          </p:cNvPr>
          <p:cNvSpPr/>
          <p:nvPr/>
        </p:nvSpPr>
        <p:spPr>
          <a:xfrm>
            <a:off x="6836131" y="2537232"/>
            <a:ext cx="2885639" cy="463807"/>
          </a:xfrm>
          <a:prstGeom prst="rightArrow">
            <a:avLst>
              <a:gd name="adj1" fmla="val 66700"/>
              <a:gd name="adj2" fmla="val 63143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3 days</a:t>
            </a:r>
          </a:p>
        </p:txBody>
      </p: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AD71425A-0CD7-4D61-B503-78C6BFD972BE}"/>
              </a:ext>
            </a:extLst>
          </p:cNvPr>
          <p:cNvSpPr/>
          <p:nvPr/>
        </p:nvSpPr>
        <p:spPr>
          <a:xfrm>
            <a:off x="7804543" y="3139050"/>
            <a:ext cx="2885639" cy="463807"/>
          </a:xfrm>
          <a:prstGeom prst="rightArrow">
            <a:avLst>
              <a:gd name="adj1" fmla="val 66700"/>
              <a:gd name="adj2" fmla="val 63143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1 month</a:t>
            </a:r>
          </a:p>
        </p:txBody>
      </p:sp>
      <p:sp>
        <p:nvSpPr>
          <p:cNvPr id="88" name="Arrow: Right 87">
            <a:extLst>
              <a:ext uri="{FF2B5EF4-FFF2-40B4-BE49-F238E27FC236}">
                <a16:creationId xmlns:a16="http://schemas.microsoft.com/office/drawing/2014/main" id="{E2057EB7-ED3C-453F-90E8-5EBF0BF6F551}"/>
              </a:ext>
            </a:extLst>
          </p:cNvPr>
          <p:cNvSpPr/>
          <p:nvPr/>
        </p:nvSpPr>
        <p:spPr>
          <a:xfrm>
            <a:off x="7804543" y="3771559"/>
            <a:ext cx="2885639" cy="463807"/>
          </a:xfrm>
          <a:prstGeom prst="rightArrow">
            <a:avLst>
              <a:gd name="adj1" fmla="val 66700"/>
              <a:gd name="adj2" fmla="val 63143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2 days</a:t>
            </a:r>
          </a:p>
        </p:txBody>
      </p:sp>
      <p:sp>
        <p:nvSpPr>
          <p:cNvPr id="90" name="Arrow: Right 89">
            <a:extLst>
              <a:ext uri="{FF2B5EF4-FFF2-40B4-BE49-F238E27FC236}">
                <a16:creationId xmlns:a16="http://schemas.microsoft.com/office/drawing/2014/main" id="{E48C4AD1-2DCC-4A93-96D9-E41D3C542E9D}"/>
              </a:ext>
            </a:extLst>
          </p:cNvPr>
          <p:cNvSpPr/>
          <p:nvPr/>
        </p:nvSpPr>
        <p:spPr>
          <a:xfrm>
            <a:off x="6836132" y="4403424"/>
            <a:ext cx="1917226" cy="463807"/>
          </a:xfrm>
          <a:prstGeom prst="rightArrow">
            <a:avLst>
              <a:gd name="adj1" fmla="val 66700"/>
              <a:gd name="adj2" fmla="val 63143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1 day</a:t>
            </a:r>
          </a:p>
        </p:txBody>
      </p:sp>
      <p:sp>
        <p:nvSpPr>
          <p:cNvPr id="91" name="Arrow: Right 90">
            <a:extLst>
              <a:ext uri="{FF2B5EF4-FFF2-40B4-BE49-F238E27FC236}">
                <a16:creationId xmlns:a16="http://schemas.microsoft.com/office/drawing/2014/main" id="{779D0C7B-8AFF-463B-A24F-E1DF756EC8F6}"/>
              </a:ext>
            </a:extLst>
          </p:cNvPr>
          <p:cNvSpPr/>
          <p:nvPr/>
        </p:nvSpPr>
        <p:spPr>
          <a:xfrm>
            <a:off x="7779772" y="5035935"/>
            <a:ext cx="3878827" cy="463807"/>
          </a:xfrm>
          <a:prstGeom prst="rightArrow">
            <a:avLst>
              <a:gd name="adj1" fmla="val 66700"/>
              <a:gd name="adj2" fmla="val 63143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2 months</a:t>
            </a:r>
          </a:p>
        </p:txBody>
      </p:sp>
      <p:sp>
        <p:nvSpPr>
          <p:cNvPr id="92" name="Arrow: Right 91">
            <a:extLst>
              <a:ext uri="{FF2B5EF4-FFF2-40B4-BE49-F238E27FC236}">
                <a16:creationId xmlns:a16="http://schemas.microsoft.com/office/drawing/2014/main" id="{C53B186A-28B2-4146-B5B8-D05764532C5A}"/>
              </a:ext>
            </a:extLst>
          </p:cNvPr>
          <p:cNvSpPr/>
          <p:nvPr/>
        </p:nvSpPr>
        <p:spPr>
          <a:xfrm>
            <a:off x="9740246" y="5667800"/>
            <a:ext cx="1918353" cy="463807"/>
          </a:xfrm>
          <a:prstGeom prst="rightArrow">
            <a:avLst>
              <a:gd name="adj1" fmla="val 66700"/>
              <a:gd name="adj2" fmla="val 63143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3 days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09C6A5-B7BA-6A72-1503-C81EEC4E44FF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Lato Black" panose="020F0502020204030203" pitchFamily="34" charset="0"/>
                <a:cs typeface="Lato Black" panose="020F0502020204030203" pitchFamily="34" charset="0"/>
              </a:rPr>
              <a:t>AGILE </a:t>
            </a:r>
            <a:r>
              <a:rPr lang="en-GB" sz="3200" b="1" dirty="0">
                <a:solidFill>
                  <a:schemeClr val="accent1"/>
                </a:solidFill>
                <a:latin typeface="+mj-lt"/>
                <a:ea typeface="Lato Black" panose="020F0502020204030203" pitchFamily="34" charset="0"/>
                <a:cs typeface="Lato Black" panose="020F0502020204030203" pitchFamily="34" charset="0"/>
              </a:rPr>
              <a:t>PROJECT PLAN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3CCCF-985F-5679-5146-2671DC64BA39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rgbClr val="3469D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</a:t>
            </a:r>
            <a:r>
              <a:rPr lang="en-GB" sz="900" b="1" dirty="0">
                <a:solidFill>
                  <a:srgbClr val="3469D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WWW.POWERSLIDES.COM 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453188-5D5F-22F9-0B78-39365142873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FCCEBF-878B-EE3A-E031-8FA084F7B5A2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rgbClr val="3469D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199A13-034B-EE02-6791-DD1FD59D52B6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rgbClr val="3469D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539AB6-2E99-E30D-FCDA-CC693CA800C3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rgbClr val="3469D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093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BC1F427-6BF8-4CB8-A292-C51E1C051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289458"/>
              </p:ext>
            </p:extLst>
          </p:nvPr>
        </p:nvGraphicFramePr>
        <p:xfrm>
          <a:off x="571500" y="1666755"/>
          <a:ext cx="11117776" cy="4721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853">
                  <a:extLst>
                    <a:ext uri="{9D8B030D-6E8A-4147-A177-3AD203B41FA5}">
                      <a16:colId xmlns:a16="http://schemas.microsoft.com/office/drawing/2014/main" val="4050199920"/>
                    </a:ext>
                  </a:extLst>
                </a:gridCol>
                <a:gridCol w="268043">
                  <a:extLst>
                    <a:ext uri="{9D8B030D-6E8A-4147-A177-3AD203B41FA5}">
                      <a16:colId xmlns:a16="http://schemas.microsoft.com/office/drawing/2014/main" val="2360888642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1529163144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2810186087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3907896971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624381790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4266425045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3627773607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966026577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2693672384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1202437013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2372994781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2003997820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1985970815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611392105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993861043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1487676088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3745585568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1926017329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1891762958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2733634971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1526005111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1568758909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2040844264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4039495969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352195523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3969572162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2118983401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2485379276"/>
                    </a:ext>
                  </a:extLst>
                </a:gridCol>
                <a:gridCol w="352460">
                  <a:extLst>
                    <a:ext uri="{9D8B030D-6E8A-4147-A177-3AD203B41FA5}">
                      <a16:colId xmlns:a16="http://schemas.microsoft.com/office/drawing/2014/main" val="3654462912"/>
                    </a:ext>
                  </a:extLst>
                </a:gridCol>
              </a:tblGrid>
              <a:tr h="262319">
                <a:tc rowSpan="2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/>
                        <a:t>Project Description</a:t>
                      </a:r>
                    </a:p>
                  </a:txBody>
                  <a:tcPr marT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JANUARY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FEBRUARY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MARCH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APRIL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MAY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JUNE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JULY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926648"/>
                  </a:ext>
                </a:extLst>
              </a:tr>
              <a:tr h="262319">
                <a:tc v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298979"/>
                  </a:ext>
                </a:extLst>
              </a:tr>
              <a:tr h="262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/>
                        <a:t>Project week</a:t>
                      </a:r>
                    </a:p>
                  </a:txBody>
                  <a:tcPr marT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20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21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22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892713"/>
                  </a:ext>
                </a:extLst>
              </a:tr>
              <a:tr h="262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/>
                        <a:t>Phase one</a:t>
                      </a:r>
                    </a:p>
                  </a:txBody>
                  <a:tcPr marT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949376"/>
                  </a:ext>
                </a:extLst>
              </a:tr>
              <a:tr h="262319">
                <a:tc row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/>
                        <a:t>Project Idea and Commencement</a:t>
                      </a:r>
                    </a:p>
                  </a:txBody>
                  <a:tcPr marT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649385"/>
                  </a:ext>
                </a:extLst>
              </a:tr>
              <a:tr h="262319">
                <a:tc v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515336"/>
                  </a:ext>
                </a:extLst>
              </a:tr>
              <a:tr h="262319">
                <a:tc v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208641"/>
                  </a:ext>
                </a:extLst>
              </a:tr>
              <a:tr h="262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/>
                        <a:t>Phase Two</a:t>
                      </a:r>
                    </a:p>
                  </a:txBody>
                  <a:tcPr marT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637053"/>
                  </a:ext>
                </a:extLst>
              </a:tr>
              <a:tr h="262319">
                <a:tc rowSpan="5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/>
                        <a:t>Setting Projects Goals and Planning</a:t>
                      </a:r>
                    </a:p>
                  </a:txBody>
                  <a:tcPr marT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156362"/>
                  </a:ext>
                </a:extLst>
              </a:tr>
              <a:tr h="262319">
                <a:tc v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553441"/>
                  </a:ext>
                </a:extLst>
              </a:tr>
              <a:tr h="262319">
                <a:tc v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J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797570"/>
                  </a:ext>
                </a:extLst>
              </a:tr>
              <a:tr h="262319">
                <a:tc v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94917"/>
                  </a:ext>
                </a:extLst>
              </a:tr>
              <a:tr h="262319">
                <a:tc v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543238"/>
                  </a:ext>
                </a:extLst>
              </a:tr>
              <a:tr h="262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/>
                        <a:t>Phase Three</a:t>
                      </a:r>
                    </a:p>
                  </a:txBody>
                  <a:tcPr marT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453513"/>
                  </a:ext>
                </a:extLst>
              </a:tr>
              <a:tr h="262319">
                <a:tc rowSpan="4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/>
                        <a:t>Project Take Off and Progress Monitoring</a:t>
                      </a:r>
                    </a:p>
                  </a:txBody>
                  <a:tcPr marT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166286"/>
                  </a:ext>
                </a:extLst>
              </a:tr>
              <a:tr h="262319">
                <a:tc v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109602"/>
                  </a:ext>
                </a:extLst>
              </a:tr>
              <a:tr h="262319">
                <a:tc v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050923"/>
                  </a:ext>
                </a:extLst>
              </a:tr>
              <a:tr h="262319">
                <a:tc v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53947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8AA436F3-BD77-4627-ABE1-CE5ECA598164}"/>
              </a:ext>
            </a:extLst>
          </p:cNvPr>
          <p:cNvGrpSpPr/>
          <p:nvPr/>
        </p:nvGrpSpPr>
        <p:grpSpPr>
          <a:xfrm>
            <a:off x="571500" y="1219201"/>
            <a:ext cx="11087090" cy="369332"/>
            <a:chOff x="571500" y="1219201"/>
            <a:chExt cx="9645927" cy="369332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48701A9-56AC-4912-89AF-D651E511E6EB}"/>
                </a:ext>
              </a:extLst>
            </p:cNvPr>
            <p:cNvSpPr/>
            <p:nvPr/>
          </p:nvSpPr>
          <p:spPr>
            <a:xfrm>
              <a:off x="571500" y="1219201"/>
              <a:ext cx="4653915" cy="3693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ctr"/>
              <a:r>
                <a:rPr lang="en-US" sz="1400" dirty="0"/>
                <a:t>Q1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BA4ADB3-23E6-455C-B2F6-CCE29AEA0B0D}"/>
                </a:ext>
              </a:extLst>
            </p:cNvPr>
            <p:cNvSpPr/>
            <p:nvPr/>
          </p:nvSpPr>
          <p:spPr>
            <a:xfrm>
              <a:off x="5225415" y="1219201"/>
              <a:ext cx="3024061" cy="36933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ctr"/>
              <a:r>
                <a:rPr lang="en-US" sz="1400" dirty="0"/>
                <a:t>Q2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85251B7-BB9A-4E9B-8ED1-C7D09A0728E7}"/>
                </a:ext>
              </a:extLst>
            </p:cNvPr>
            <p:cNvSpPr/>
            <p:nvPr/>
          </p:nvSpPr>
          <p:spPr>
            <a:xfrm>
              <a:off x="8249479" y="1219201"/>
              <a:ext cx="1967948" cy="3693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ctr"/>
              <a:endParaRPr lang="en-US" sz="1400" dirty="0"/>
            </a:p>
          </p:txBody>
        </p:sp>
      </p:grp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F38BDC91-0DB2-4D2C-A860-5F89BA19B58A}"/>
              </a:ext>
            </a:extLst>
          </p:cNvPr>
          <p:cNvSpPr/>
          <p:nvPr/>
        </p:nvSpPr>
        <p:spPr>
          <a:xfrm>
            <a:off x="3981445" y="2506254"/>
            <a:ext cx="930915" cy="162560"/>
          </a:xfrm>
          <a:prstGeom prst="roundRect">
            <a:avLst>
              <a:gd name="adj" fmla="val 18008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3 days</a:t>
            </a:r>
            <a:endParaRPr lang="en-US" sz="1100" b="1" dirty="0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BC8EA76F-8A68-4D8F-8363-A3F66AD0740D}"/>
              </a:ext>
            </a:extLst>
          </p:cNvPr>
          <p:cNvSpPr/>
          <p:nvPr/>
        </p:nvSpPr>
        <p:spPr>
          <a:xfrm>
            <a:off x="3981445" y="2757196"/>
            <a:ext cx="930915" cy="162560"/>
          </a:xfrm>
          <a:prstGeom prst="roundRect">
            <a:avLst>
              <a:gd name="adj" fmla="val 18008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3 days</a:t>
            </a:r>
            <a:endParaRPr lang="en-US" sz="1100" b="1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0677643E-1BB3-4887-82F9-70FC6F41C23D}"/>
              </a:ext>
            </a:extLst>
          </p:cNvPr>
          <p:cNvSpPr/>
          <p:nvPr/>
        </p:nvSpPr>
        <p:spPr>
          <a:xfrm>
            <a:off x="3981445" y="3026436"/>
            <a:ext cx="2028195" cy="162560"/>
          </a:xfrm>
          <a:prstGeom prst="roundRect">
            <a:avLst>
              <a:gd name="adj" fmla="val 18008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7 days</a:t>
            </a:r>
            <a:endParaRPr lang="en-US" sz="1100" b="1" dirty="0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21D3996B-1BCA-4A04-BE36-42F25F16A85D}"/>
              </a:ext>
            </a:extLst>
          </p:cNvPr>
          <p:cNvSpPr/>
          <p:nvPr/>
        </p:nvSpPr>
        <p:spPr>
          <a:xfrm>
            <a:off x="4666267" y="3822224"/>
            <a:ext cx="2028195" cy="162560"/>
          </a:xfrm>
          <a:prstGeom prst="roundRect">
            <a:avLst>
              <a:gd name="adj" fmla="val 18008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7 days</a:t>
            </a:r>
            <a:endParaRPr lang="en-US" sz="1100" b="1" dirty="0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22290DAD-4C86-411D-8451-481249C57ADE}"/>
              </a:ext>
            </a:extLst>
          </p:cNvPr>
          <p:cNvSpPr/>
          <p:nvPr/>
        </p:nvSpPr>
        <p:spPr>
          <a:xfrm>
            <a:off x="4666268" y="4085088"/>
            <a:ext cx="906098" cy="162560"/>
          </a:xfrm>
          <a:prstGeom prst="roundRect">
            <a:avLst>
              <a:gd name="adj" fmla="val 18008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3 days</a:t>
            </a:r>
            <a:endParaRPr lang="en-US" sz="1100" b="1" dirty="0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CA7FD423-7932-4794-9507-6B9FBFAC5D2E}"/>
              </a:ext>
            </a:extLst>
          </p:cNvPr>
          <p:cNvSpPr/>
          <p:nvPr/>
        </p:nvSpPr>
        <p:spPr>
          <a:xfrm>
            <a:off x="4666267" y="4615007"/>
            <a:ext cx="2028195" cy="162560"/>
          </a:xfrm>
          <a:prstGeom prst="roundRect">
            <a:avLst>
              <a:gd name="adj" fmla="val 18008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1 week</a:t>
            </a:r>
            <a:endParaRPr lang="en-US" sz="1100" b="1" dirty="0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50EEB2E5-60E7-4D7B-B6CD-5C536575CF98}"/>
              </a:ext>
            </a:extLst>
          </p:cNvPr>
          <p:cNvSpPr/>
          <p:nvPr/>
        </p:nvSpPr>
        <p:spPr>
          <a:xfrm>
            <a:off x="5788364" y="4877871"/>
            <a:ext cx="906098" cy="162560"/>
          </a:xfrm>
          <a:prstGeom prst="roundRect">
            <a:avLst>
              <a:gd name="adj" fmla="val 18008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3 days</a:t>
            </a:r>
            <a:endParaRPr lang="en-US" sz="1100" b="1" dirty="0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592E2460-B28E-47E8-A7CE-82755130B1A2}"/>
              </a:ext>
            </a:extLst>
          </p:cNvPr>
          <p:cNvSpPr/>
          <p:nvPr/>
        </p:nvSpPr>
        <p:spPr>
          <a:xfrm>
            <a:off x="6476779" y="5144552"/>
            <a:ext cx="4050825" cy="162560"/>
          </a:xfrm>
          <a:prstGeom prst="roundRect">
            <a:avLst>
              <a:gd name="adj" fmla="val 18008"/>
            </a:avLst>
          </a:pr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14 days</a:t>
            </a:r>
            <a:endParaRPr lang="en-US" sz="1100" b="1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980524FB-DE13-4F9F-8689-8AC891D064C5}"/>
              </a:ext>
            </a:extLst>
          </p:cNvPr>
          <p:cNvSpPr/>
          <p:nvPr/>
        </p:nvSpPr>
        <p:spPr>
          <a:xfrm>
            <a:off x="6476779" y="5398928"/>
            <a:ext cx="3017741" cy="162560"/>
          </a:xfrm>
          <a:prstGeom prst="roundRect">
            <a:avLst>
              <a:gd name="adj" fmla="val 18008"/>
            </a:avLst>
          </a:pr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9 days</a:t>
            </a:r>
            <a:endParaRPr lang="en-US" sz="1100" b="1" dirty="0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6AA83959-DE40-4147-BDE2-9E7591F14C4D}"/>
              </a:ext>
            </a:extLst>
          </p:cNvPr>
          <p:cNvSpPr/>
          <p:nvPr/>
        </p:nvSpPr>
        <p:spPr>
          <a:xfrm>
            <a:off x="6476779" y="5653303"/>
            <a:ext cx="3017741" cy="162560"/>
          </a:xfrm>
          <a:prstGeom prst="roundRect">
            <a:avLst>
              <a:gd name="adj" fmla="val 18008"/>
            </a:avLst>
          </a:pr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9 days</a:t>
            </a:r>
            <a:endParaRPr lang="en-US" sz="1100" b="1" dirty="0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4C5CF46F-FC1C-4855-A78E-A33504F2F3E0}"/>
              </a:ext>
            </a:extLst>
          </p:cNvPr>
          <p:cNvSpPr/>
          <p:nvPr/>
        </p:nvSpPr>
        <p:spPr>
          <a:xfrm>
            <a:off x="8267700" y="5910610"/>
            <a:ext cx="1226820" cy="162560"/>
          </a:xfrm>
          <a:prstGeom prst="roundRect">
            <a:avLst>
              <a:gd name="adj" fmla="val 18008"/>
            </a:avLst>
          </a:pr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4 days</a:t>
            </a:r>
            <a:endParaRPr lang="en-US" sz="1100" b="1" dirty="0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1A2CF8A9-EC25-452F-BA04-817EE9BA1573}"/>
              </a:ext>
            </a:extLst>
          </p:cNvPr>
          <p:cNvSpPr/>
          <p:nvPr/>
        </p:nvSpPr>
        <p:spPr>
          <a:xfrm>
            <a:off x="9959340" y="988015"/>
            <a:ext cx="1310640" cy="322685"/>
          </a:xfrm>
          <a:prstGeom prst="roundRect">
            <a:avLst/>
          </a:prstGeom>
          <a:solidFill>
            <a:schemeClr val="accent2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+mj-lt"/>
              </a:rPr>
              <a:t>TODAY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3CE4730-D37A-4501-9228-1ABA52A1389A}"/>
              </a:ext>
            </a:extLst>
          </p:cNvPr>
          <p:cNvCxnSpPr>
            <a:cxnSpLocks/>
          </p:cNvCxnSpPr>
          <p:nvPr/>
        </p:nvCxnSpPr>
        <p:spPr>
          <a:xfrm>
            <a:off x="10082197" y="1149357"/>
            <a:ext cx="0" cy="4573263"/>
          </a:xfrm>
          <a:prstGeom prst="line">
            <a:avLst/>
          </a:prstGeom>
          <a:ln w="19050">
            <a:solidFill>
              <a:schemeClr val="accent2"/>
            </a:solidFill>
            <a:round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DD2F557-9293-E30C-6821-1DADCC70263F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Lato Black" panose="020F0502020204030203" pitchFamily="34" charset="0"/>
                <a:cs typeface="Lato Black" panose="020F0502020204030203" pitchFamily="34" charset="0"/>
              </a:rPr>
              <a:t>AGILE </a:t>
            </a:r>
            <a:r>
              <a:rPr lang="en-GB" sz="3200" b="1" dirty="0">
                <a:solidFill>
                  <a:schemeClr val="accent1"/>
                </a:solidFill>
                <a:latin typeface="+mj-lt"/>
                <a:ea typeface="Lato Black" panose="020F0502020204030203" pitchFamily="34" charset="0"/>
                <a:cs typeface="Lato Black" panose="020F0502020204030203" pitchFamily="34" charset="0"/>
              </a:rPr>
              <a:t>PROJECT PLAN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39B0EC-C4FD-8D0F-81C1-B0A5E121EDC6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rgbClr val="3469D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</a:t>
            </a:r>
            <a:r>
              <a:rPr lang="en-GB" sz="900" b="1" dirty="0">
                <a:solidFill>
                  <a:srgbClr val="3469D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WWW.POWERSLIDES.COM 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AE0372-32A6-F488-5358-0E232F15BB28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C32C26-A571-087A-A689-FF10780A23C5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rgbClr val="3469D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2CA5E7E-C7AB-EB79-6912-9403D066B9AF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rgbClr val="3469D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CB3F17D-4424-A6E1-EA92-47207B7DF81B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rgbClr val="3469D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937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B4F9F36-9C5E-418E-B00A-E919549F79B3}"/>
              </a:ext>
            </a:extLst>
          </p:cNvPr>
          <p:cNvSpPr/>
          <p:nvPr/>
        </p:nvSpPr>
        <p:spPr>
          <a:xfrm>
            <a:off x="8801871" y="1843307"/>
            <a:ext cx="844826" cy="990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A4943B-F756-40AD-B555-AF63D864E4DE}"/>
              </a:ext>
            </a:extLst>
          </p:cNvPr>
          <p:cNvSpPr/>
          <p:nvPr/>
        </p:nvSpPr>
        <p:spPr>
          <a:xfrm>
            <a:off x="6826767" y="1843307"/>
            <a:ext cx="844826" cy="990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130968-1A17-4A6E-BC78-492A02DB9894}"/>
              </a:ext>
            </a:extLst>
          </p:cNvPr>
          <p:cNvSpPr/>
          <p:nvPr/>
        </p:nvSpPr>
        <p:spPr>
          <a:xfrm>
            <a:off x="4622057" y="1843307"/>
            <a:ext cx="844826" cy="990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2069EC-2A2C-44F1-89F3-97E0FBA068A5}"/>
              </a:ext>
            </a:extLst>
          </p:cNvPr>
          <p:cNvSpPr/>
          <p:nvPr/>
        </p:nvSpPr>
        <p:spPr>
          <a:xfrm>
            <a:off x="2236304" y="1843307"/>
            <a:ext cx="844826" cy="99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41BC36EC-4EC2-4A2E-9A33-B1F39203B8E9}"/>
              </a:ext>
            </a:extLst>
          </p:cNvPr>
          <p:cNvSpPr/>
          <p:nvPr/>
        </p:nvSpPr>
        <p:spPr>
          <a:xfrm>
            <a:off x="9390340" y="1843307"/>
            <a:ext cx="2268260" cy="990600"/>
          </a:xfrm>
          <a:prstGeom prst="homePlate">
            <a:avLst>
              <a:gd name="adj" fmla="val 4065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1600" dirty="0"/>
              <a:t>Maintenance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1C651540-B796-42CE-94F9-A42906FDC73B}"/>
              </a:ext>
            </a:extLst>
          </p:cNvPr>
          <p:cNvSpPr/>
          <p:nvPr/>
        </p:nvSpPr>
        <p:spPr>
          <a:xfrm>
            <a:off x="7185630" y="1843307"/>
            <a:ext cx="2268260" cy="990600"/>
          </a:xfrm>
          <a:prstGeom prst="homePlate">
            <a:avLst>
              <a:gd name="adj" fmla="val 4065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1600" dirty="0"/>
              <a:t>Release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4C4B4A93-CF72-426B-9909-FD0D445F76C2}"/>
              </a:ext>
            </a:extLst>
          </p:cNvPr>
          <p:cNvSpPr/>
          <p:nvPr/>
        </p:nvSpPr>
        <p:spPr>
          <a:xfrm>
            <a:off x="4980920" y="1843307"/>
            <a:ext cx="2268260" cy="990600"/>
          </a:xfrm>
          <a:prstGeom prst="homePlate">
            <a:avLst>
              <a:gd name="adj" fmla="val 4065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1600" dirty="0"/>
              <a:t>Iteration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31C0F59C-396C-4D51-8D19-B632CBF0A146}"/>
              </a:ext>
            </a:extLst>
          </p:cNvPr>
          <p:cNvSpPr/>
          <p:nvPr/>
        </p:nvSpPr>
        <p:spPr>
          <a:xfrm>
            <a:off x="2776210" y="1843307"/>
            <a:ext cx="2268260" cy="990600"/>
          </a:xfrm>
          <a:prstGeom prst="homePlate">
            <a:avLst>
              <a:gd name="adj" fmla="val 4065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1600" dirty="0"/>
              <a:t>Inception	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BE59DC56-6E3F-4B1D-95F3-D2DC8B7D87F0}"/>
              </a:ext>
            </a:extLst>
          </p:cNvPr>
          <p:cNvSpPr/>
          <p:nvPr/>
        </p:nvSpPr>
        <p:spPr>
          <a:xfrm>
            <a:off x="571500" y="1843307"/>
            <a:ext cx="2268260" cy="990600"/>
          </a:xfrm>
          <a:prstGeom prst="homePlate">
            <a:avLst>
              <a:gd name="adj" fmla="val 4065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1600" dirty="0"/>
              <a:t>Concept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6B7358-CBA1-4AA4-8F7A-2E2E338C2357}"/>
              </a:ext>
            </a:extLst>
          </p:cNvPr>
          <p:cNvCxnSpPr/>
          <p:nvPr/>
        </p:nvCxnSpPr>
        <p:spPr>
          <a:xfrm>
            <a:off x="2458720" y="3050043"/>
            <a:ext cx="0" cy="2508363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BC7E490-A9D2-4168-9922-068C21A64FA4}"/>
              </a:ext>
            </a:extLst>
          </p:cNvPr>
          <p:cNvCxnSpPr/>
          <p:nvPr/>
        </p:nvCxnSpPr>
        <p:spPr>
          <a:xfrm>
            <a:off x="4646256" y="3050043"/>
            <a:ext cx="0" cy="2508363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04CAD3F-E409-4553-BFA8-AD27AFB49751}"/>
              </a:ext>
            </a:extLst>
          </p:cNvPr>
          <p:cNvCxnSpPr/>
          <p:nvPr/>
        </p:nvCxnSpPr>
        <p:spPr>
          <a:xfrm>
            <a:off x="6833792" y="3050043"/>
            <a:ext cx="0" cy="2508363"/>
          </a:xfrm>
          <a:prstGeom prst="line">
            <a:avLst/>
          </a:prstGeom>
          <a:ln w="9525" cap="rnd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294E70-7B7C-4F3E-9D3F-9EF79FEC4049}"/>
              </a:ext>
            </a:extLst>
          </p:cNvPr>
          <p:cNvCxnSpPr/>
          <p:nvPr/>
        </p:nvCxnSpPr>
        <p:spPr>
          <a:xfrm>
            <a:off x="9021327" y="3050043"/>
            <a:ext cx="0" cy="2508363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390C9F1-CCE9-4837-9C75-8AB5AE3008DF}"/>
              </a:ext>
            </a:extLst>
          </p:cNvPr>
          <p:cNvSpPr txBox="1"/>
          <p:nvPr/>
        </p:nvSpPr>
        <p:spPr>
          <a:xfrm>
            <a:off x="745111" y="3593603"/>
            <a:ext cx="1469356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Determine the scope of project</a:t>
            </a:r>
          </a:p>
          <a:p>
            <a:pPr marL="171450" indent="-1714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Prioritize the most important projects</a:t>
            </a:r>
          </a:p>
          <a:p>
            <a:pPr marL="171450" indent="-1714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Discuss key requirements with a client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675127-FB98-4771-A0A8-37F6FCADB35E}"/>
              </a:ext>
            </a:extLst>
          </p:cNvPr>
          <p:cNvSpPr txBox="1"/>
          <p:nvPr/>
        </p:nvSpPr>
        <p:spPr>
          <a:xfrm>
            <a:off x="2899398" y="3593603"/>
            <a:ext cx="1579589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Build the development team</a:t>
            </a:r>
          </a:p>
          <a:p>
            <a:pPr marL="171450" indent="-171450"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Pick the best people to carry the project forward</a:t>
            </a:r>
          </a:p>
          <a:p>
            <a:pPr marL="171450" indent="-1714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Continuous input from stakeholders for improvements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A15DD7-D8B2-4971-850D-B9FEA03C972C}"/>
              </a:ext>
            </a:extLst>
          </p:cNvPr>
          <p:cNvSpPr txBox="1"/>
          <p:nvPr/>
        </p:nvSpPr>
        <p:spPr>
          <a:xfrm>
            <a:off x="5053687" y="3593603"/>
            <a:ext cx="1469356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Developers work with UX designers</a:t>
            </a:r>
          </a:p>
          <a:p>
            <a:pPr marL="171450" indent="-171450"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Build the bare functionality of the product </a:t>
            </a:r>
          </a:p>
          <a:p>
            <a:pPr marL="171450" indent="-171450"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Create and improve quickly to reach goals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F8193A-E65C-46EF-B4B4-1401E2E9A560}"/>
              </a:ext>
            </a:extLst>
          </p:cNvPr>
          <p:cNvSpPr txBox="1"/>
          <p:nvPr/>
        </p:nvSpPr>
        <p:spPr>
          <a:xfrm>
            <a:off x="7207975" y="3593603"/>
            <a:ext cx="1469356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Tests by quality assurance team</a:t>
            </a:r>
          </a:p>
          <a:p>
            <a:pPr marL="171450" indent="-171450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Find and address the bugs and defects</a:t>
            </a:r>
          </a:p>
          <a:p>
            <a:pPr marL="171450" indent="-171450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Release the product for production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47C757-B002-4FB0-A96D-4505DDAE0868}"/>
              </a:ext>
            </a:extLst>
          </p:cNvPr>
          <p:cNvSpPr txBox="1"/>
          <p:nvPr/>
        </p:nvSpPr>
        <p:spPr>
          <a:xfrm>
            <a:off x="9362264" y="3593603"/>
            <a:ext cx="1469356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Made available to customers</a:t>
            </a:r>
          </a:p>
          <a:p>
            <a:pPr marL="171450" indent="-171450">
              <a:spcAft>
                <a:spcPts val="600"/>
              </a:spcAft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Ensure smooth working and ongoing support</a:t>
            </a:r>
          </a:p>
          <a:p>
            <a:pPr marL="171450" indent="-171450">
              <a:spcAft>
                <a:spcPts val="600"/>
              </a:spcAft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Upgrades and additional features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ABD6E0-D739-46F0-80D4-161C872D0DE4}"/>
              </a:ext>
            </a:extLst>
          </p:cNvPr>
          <p:cNvSpPr txBox="1"/>
          <p:nvPr/>
        </p:nvSpPr>
        <p:spPr>
          <a:xfrm>
            <a:off x="745111" y="3157419"/>
            <a:ext cx="1579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Phase 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E976A3-9173-491D-8E65-378A93E8ECC8}"/>
              </a:ext>
            </a:extLst>
          </p:cNvPr>
          <p:cNvSpPr txBox="1"/>
          <p:nvPr/>
        </p:nvSpPr>
        <p:spPr>
          <a:xfrm>
            <a:off x="2899399" y="3157419"/>
            <a:ext cx="1579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2"/>
                </a:solidFill>
              </a:rPr>
              <a:t>Phase 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209690-39E9-47B9-8EED-6A333B264533}"/>
              </a:ext>
            </a:extLst>
          </p:cNvPr>
          <p:cNvSpPr txBox="1"/>
          <p:nvPr/>
        </p:nvSpPr>
        <p:spPr>
          <a:xfrm>
            <a:off x="5053687" y="3157419"/>
            <a:ext cx="1579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3"/>
                </a:solidFill>
              </a:rPr>
              <a:t>Phase 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C4A8FD-D9DB-4473-B96C-4AFCB57E7D4B}"/>
              </a:ext>
            </a:extLst>
          </p:cNvPr>
          <p:cNvSpPr txBox="1"/>
          <p:nvPr/>
        </p:nvSpPr>
        <p:spPr>
          <a:xfrm>
            <a:off x="7207975" y="3157419"/>
            <a:ext cx="1579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4"/>
                </a:solidFill>
              </a:rPr>
              <a:t>Phase 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011E29-3253-4336-BBD6-5634B1372546}"/>
              </a:ext>
            </a:extLst>
          </p:cNvPr>
          <p:cNvSpPr txBox="1"/>
          <p:nvPr/>
        </p:nvSpPr>
        <p:spPr>
          <a:xfrm>
            <a:off x="9362264" y="3157419"/>
            <a:ext cx="1579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</a:rPr>
              <a:t>Phase 5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6CBAB3B-4192-4DD6-8E0C-4B5BDE061E37}"/>
              </a:ext>
            </a:extLst>
          </p:cNvPr>
          <p:cNvGrpSpPr/>
          <p:nvPr/>
        </p:nvGrpSpPr>
        <p:grpSpPr>
          <a:xfrm>
            <a:off x="633558" y="1312331"/>
            <a:ext cx="667810" cy="667810"/>
            <a:chOff x="14148127" y="1267800"/>
            <a:chExt cx="667810" cy="667810"/>
          </a:xfrm>
          <a:effectLst>
            <a:outerShdw blurRad="355600" dist="139700" dir="2700000" algn="tl" rotWithShape="0">
              <a:prstClr val="black">
                <a:alpha val="16000"/>
              </a:prstClr>
            </a:outerShdw>
          </a:effectLst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C05597C-C38E-4829-A9BC-077DED86E72B}"/>
                </a:ext>
              </a:extLst>
            </p:cNvPr>
            <p:cNvSpPr/>
            <p:nvPr/>
          </p:nvSpPr>
          <p:spPr>
            <a:xfrm>
              <a:off x="14148127" y="1267800"/>
              <a:ext cx="667810" cy="6678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Graphic 41" descr="Pie chart">
              <a:extLst>
                <a:ext uri="{FF2B5EF4-FFF2-40B4-BE49-F238E27FC236}">
                  <a16:creationId xmlns:a16="http://schemas.microsoft.com/office/drawing/2014/main" id="{FD21385A-D026-4E21-80B7-39F269A16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250482" y="1370155"/>
              <a:ext cx="463100" cy="463100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34123E4-595F-419A-B484-798999BB1EFE}"/>
              </a:ext>
            </a:extLst>
          </p:cNvPr>
          <p:cNvGrpSpPr/>
          <p:nvPr/>
        </p:nvGrpSpPr>
        <p:grpSpPr>
          <a:xfrm>
            <a:off x="2838268" y="1312331"/>
            <a:ext cx="667810" cy="667810"/>
            <a:chOff x="16002342" y="2325793"/>
            <a:chExt cx="667810" cy="667810"/>
          </a:xfrm>
          <a:effectLst>
            <a:outerShdw blurRad="355600" dist="139700" dir="2700000" algn="tl" rotWithShape="0">
              <a:prstClr val="black">
                <a:alpha val="16000"/>
              </a:prstClr>
            </a:outerShdw>
          </a:effectLst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601A31F-2B36-420D-9B15-CA897D07B84F}"/>
                </a:ext>
              </a:extLst>
            </p:cNvPr>
            <p:cNvSpPr/>
            <p:nvPr/>
          </p:nvSpPr>
          <p:spPr>
            <a:xfrm flipH="1">
              <a:off x="16002342" y="2325793"/>
              <a:ext cx="667810" cy="6678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Graphic 46" descr="Target">
              <a:extLst>
                <a:ext uri="{FF2B5EF4-FFF2-40B4-BE49-F238E27FC236}">
                  <a16:creationId xmlns:a16="http://schemas.microsoft.com/office/drawing/2014/main" id="{2F02BB21-7B99-4920-8CA5-D49EC8CBB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091864" y="2415315"/>
              <a:ext cx="488766" cy="488766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76C9169-0887-4F70-B8FA-262C8CD68190}"/>
              </a:ext>
            </a:extLst>
          </p:cNvPr>
          <p:cNvGrpSpPr/>
          <p:nvPr/>
        </p:nvGrpSpPr>
        <p:grpSpPr>
          <a:xfrm>
            <a:off x="5042978" y="1312331"/>
            <a:ext cx="667810" cy="667810"/>
            <a:chOff x="14148127" y="3383785"/>
            <a:chExt cx="667810" cy="667810"/>
          </a:xfrm>
          <a:effectLst>
            <a:outerShdw blurRad="355600" dist="139700" dir="2700000" algn="tl" rotWithShape="0">
              <a:prstClr val="black">
                <a:alpha val="16000"/>
              </a:prstClr>
            </a:outerShdw>
          </a:effectLst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D8E6E3F-09BA-4953-BB4B-D09803695DB8}"/>
                </a:ext>
              </a:extLst>
            </p:cNvPr>
            <p:cNvSpPr/>
            <p:nvPr/>
          </p:nvSpPr>
          <p:spPr>
            <a:xfrm>
              <a:off x="14148127" y="3383785"/>
              <a:ext cx="667810" cy="6678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8" name="Graphic 47" descr="Single gear">
              <a:extLst>
                <a:ext uri="{FF2B5EF4-FFF2-40B4-BE49-F238E27FC236}">
                  <a16:creationId xmlns:a16="http://schemas.microsoft.com/office/drawing/2014/main" id="{A422D94F-F062-4EBB-8ECB-339E078D2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250482" y="3486140"/>
              <a:ext cx="463100" cy="46310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A6DEB71-AB30-423C-ADCB-8B685DD87958}"/>
              </a:ext>
            </a:extLst>
          </p:cNvPr>
          <p:cNvGrpSpPr/>
          <p:nvPr/>
        </p:nvGrpSpPr>
        <p:grpSpPr>
          <a:xfrm>
            <a:off x="9452398" y="1312331"/>
            <a:ext cx="667810" cy="667810"/>
            <a:chOff x="16002342" y="4441777"/>
            <a:chExt cx="667810" cy="667810"/>
          </a:xfrm>
          <a:effectLst>
            <a:outerShdw blurRad="355600" dist="139700" dir="2700000" algn="tl" rotWithShape="0">
              <a:prstClr val="black">
                <a:alpha val="16000"/>
              </a:prstClr>
            </a:outerShdw>
          </a:effectLst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BC96873-FF9C-4D5D-9A05-E8A3CDE7340A}"/>
                </a:ext>
              </a:extLst>
            </p:cNvPr>
            <p:cNvSpPr/>
            <p:nvPr/>
          </p:nvSpPr>
          <p:spPr>
            <a:xfrm flipH="1">
              <a:off x="16002342" y="4441777"/>
              <a:ext cx="667810" cy="6678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Graphic 48" descr="Head with gears">
              <a:extLst>
                <a:ext uri="{FF2B5EF4-FFF2-40B4-BE49-F238E27FC236}">
                  <a16:creationId xmlns:a16="http://schemas.microsoft.com/office/drawing/2014/main" id="{EA4B7543-E57D-468F-98C2-599FBE168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6104697" y="4544132"/>
              <a:ext cx="463100" cy="4631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3A33B3B-5158-42B2-9C03-70C8DF275A3E}"/>
              </a:ext>
            </a:extLst>
          </p:cNvPr>
          <p:cNvGrpSpPr/>
          <p:nvPr/>
        </p:nvGrpSpPr>
        <p:grpSpPr>
          <a:xfrm>
            <a:off x="7247688" y="1312331"/>
            <a:ext cx="667810" cy="667810"/>
            <a:chOff x="14148127" y="5499770"/>
            <a:chExt cx="667810" cy="667810"/>
          </a:xfrm>
          <a:effectLst>
            <a:outerShdw blurRad="355600" dist="139700" dir="2700000" algn="tl" rotWithShape="0">
              <a:prstClr val="black">
                <a:alpha val="16000"/>
              </a:prstClr>
            </a:outerShdw>
          </a:effectLst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F854737-E575-4298-B4F5-384A73C5F5F2}"/>
                </a:ext>
              </a:extLst>
            </p:cNvPr>
            <p:cNvSpPr/>
            <p:nvPr/>
          </p:nvSpPr>
          <p:spPr>
            <a:xfrm>
              <a:off x="14148127" y="5499770"/>
              <a:ext cx="667810" cy="6678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0" name="Graphic 49" descr="Bullseye">
              <a:extLst>
                <a:ext uri="{FF2B5EF4-FFF2-40B4-BE49-F238E27FC236}">
                  <a16:creationId xmlns:a16="http://schemas.microsoft.com/office/drawing/2014/main" id="{ADB255D1-4995-4007-838B-BAFE347AD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4250482" y="5602125"/>
              <a:ext cx="463100" cy="463100"/>
            </a:xfrm>
            <a:prstGeom prst="rect">
              <a:avLst/>
            </a:prstGeom>
          </p:spPr>
        </p:pic>
      </p:grp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0AC7386D-9F03-431D-A5F5-52F9C762CEBF}"/>
              </a:ext>
            </a:extLst>
          </p:cNvPr>
          <p:cNvSpPr/>
          <p:nvPr/>
        </p:nvSpPr>
        <p:spPr>
          <a:xfrm>
            <a:off x="571500" y="5654040"/>
            <a:ext cx="11060247" cy="657162"/>
          </a:xfrm>
          <a:prstGeom prst="rightArrow">
            <a:avLst>
              <a:gd name="adj1" fmla="val 62368"/>
              <a:gd name="adj2" fmla="val 50000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F119DA5-F121-4C1C-82A8-41E5F559E8E8}"/>
              </a:ext>
            </a:extLst>
          </p:cNvPr>
          <p:cNvSpPr txBox="1"/>
          <p:nvPr/>
        </p:nvSpPr>
        <p:spPr>
          <a:xfrm>
            <a:off x="2546588" y="5844122"/>
            <a:ext cx="7098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TECHNOLOGY &amp; PROCESS REDESIGN  | TRAINING &amp; DELIVERY | MARKETING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746810-47B6-0E66-E182-10EE642BF058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Lato Black" panose="020F0502020204030203" pitchFamily="34" charset="0"/>
                <a:cs typeface="Lato Black" panose="020F0502020204030203" pitchFamily="34" charset="0"/>
              </a:rPr>
              <a:t>AGILE </a:t>
            </a:r>
            <a:r>
              <a:rPr lang="en-GB" sz="3200" b="1" dirty="0">
                <a:solidFill>
                  <a:schemeClr val="accent1"/>
                </a:solidFill>
                <a:latin typeface="+mj-lt"/>
                <a:ea typeface="Lato Black" panose="020F0502020204030203" pitchFamily="34" charset="0"/>
                <a:cs typeface="Lato Black" panose="020F0502020204030203" pitchFamily="34" charset="0"/>
              </a:rPr>
              <a:t>PROJECT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33E8B-FF33-C964-C3EF-036363048C12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rgbClr val="3469D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</a:t>
            </a:r>
            <a:r>
              <a:rPr lang="en-GB" sz="900" b="1" dirty="0">
                <a:solidFill>
                  <a:srgbClr val="3469D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WWW.POWERSLIDES.COM 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78F1ED8-0867-162E-DF1B-BC23D11E0CD8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0DF641-0C08-7E2B-98E1-ECA594A38F9E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rgbClr val="3469D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EA023E4-A9CB-FCF5-201D-489A1EC2D56D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rgbClr val="3469D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FA41800-F594-7DC3-4151-6104E093D2A5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rgbClr val="3469D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393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6ACF5A6-7E05-43A2-BE3C-861E7E1D8E68}"/>
              </a:ext>
            </a:extLst>
          </p:cNvPr>
          <p:cNvSpPr txBox="1"/>
          <p:nvPr/>
        </p:nvSpPr>
        <p:spPr>
          <a:xfrm>
            <a:off x="828159" y="1383614"/>
            <a:ext cx="1704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Business Targets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C10B083-9F2E-49FC-8993-0E9F6D962A68}"/>
              </a:ext>
            </a:extLst>
          </p:cNvPr>
          <p:cNvSpPr/>
          <p:nvPr/>
        </p:nvSpPr>
        <p:spPr>
          <a:xfrm>
            <a:off x="2678429" y="1467758"/>
            <a:ext cx="220981" cy="176211"/>
          </a:xfrm>
          <a:prstGeom prst="rightArrow">
            <a:avLst>
              <a:gd name="adj1" fmla="val 48491"/>
              <a:gd name="adj2" fmla="val 63143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1867CB-2388-4D10-96CE-FB4D527E015C}"/>
              </a:ext>
            </a:extLst>
          </p:cNvPr>
          <p:cNvSpPr/>
          <p:nvPr/>
        </p:nvSpPr>
        <p:spPr>
          <a:xfrm>
            <a:off x="571501" y="1887727"/>
            <a:ext cx="2217419" cy="915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76861E-AF68-4505-9537-F41F01E114DF}"/>
              </a:ext>
            </a:extLst>
          </p:cNvPr>
          <p:cNvSpPr/>
          <p:nvPr/>
        </p:nvSpPr>
        <p:spPr>
          <a:xfrm>
            <a:off x="2788920" y="1887727"/>
            <a:ext cx="2217419" cy="9151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E2A9CE-FDF3-45AF-8D77-7DBE38F222C3}"/>
              </a:ext>
            </a:extLst>
          </p:cNvPr>
          <p:cNvSpPr/>
          <p:nvPr/>
        </p:nvSpPr>
        <p:spPr>
          <a:xfrm>
            <a:off x="5006339" y="1887727"/>
            <a:ext cx="2217419" cy="915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4915BB-8C60-4749-8E92-0C83F376B9AB}"/>
              </a:ext>
            </a:extLst>
          </p:cNvPr>
          <p:cNvSpPr/>
          <p:nvPr/>
        </p:nvSpPr>
        <p:spPr>
          <a:xfrm>
            <a:off x="7223758" y="1887727"/>
            <a:ext cx="2217419" cy="9151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90AD14-0256-4344-B36C-ABA1E8FC5D5E}"/>
              </a:ext>
            </a:extLst>
          </p:cNvPr>
          <p:cNvSpPr/>
          <p:nvPr/>
        </p:nvSpPr>
        <p:spPr>
          <a:xfrm>
            <a:off x="9441181" y="1887727"/>
            <a:ext cx="2217419" cy="915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93FDEEC-B739-46CF-876A-C20D6566A1FD}"/>
              </a:ext>
            </a:extLst>
          </p:cNvPr>
          <p:cNvSpPr/>
          <p:nvPr/>
        </p:nvSpPr>
        <p:spPr>
          <a:xfrm>
            <a:off x="4895848" y="1467758"/>
            <a:ext cx="220981" cy="176211"/>
          </a:xfrm>
          <a:prstGeom prst="rightArrow">
            <a:avLst>
              <a:gd name="adj1" fmla="val 48491"/>
              <a:gd name="adj2" fmla="val 63143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EE3C9AE1-314B-4AA4-A989-132E0338B1E0}"/>
              </a:ext>
            </a:extLst>
          </p:cNvPr>
          <p:cNvSpPr/>
          <p:nvPr/>
        </p:nvSpPr>
        <p:spPr>
          <a:xfrm>
            <a:off x="7113267" y="1467758"/>
            <a:ext cx="220981" cy="176211"/>
          </a:xfrm>
          <a:prstGeom prst="rightArrow">
            <a:avLst>
              <a:gd name="adj1" fmla="val 48491"/>
              <a:gd name="adj2" fmla="val 63143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928B7821-0750-449A-A60D-241E6B6E65B0}"/>
              </a:ext>
            </a:extLst>
          </p:cNvPr>
          <p:cNvSpPr/>
          <p:nvPr/>
        </p:nvSpPr>
        <p:spPr>
          <a:xfrm>
            <a:off x="9330686" y="1467758"/>
            <a:ext cx="220981" cy="176211"/>
          </a:xfrm>
          <a:prstGeom prst="rightArrow">
            <a:avLst>
              <a:gd name="adj1" fmla="val 48491"/>
              <a:gd name="adj2" fmla="val 63143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7EBB81-119E-443E-A89D-56C684641D81}"/>
              </a:ext>
            </a:extLst>
          </p:cNvPr>
          <p:cNvSpPr txBox="1"/>
          <p:nvPr/>
        </p:nvSpPr>
        <p:spPr>
          <a:xfrm>
            <a:off x="3045578" y="1383614"/>
            <a:ext cx="1704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Market Goals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180B2D-01A7-4780-8157-0B044EAFCC43}"/>
              </a:ext>
            </a:extLst>
          </p:cNvPr>
          <p:cNvSpPr txBox="1"/>
          <p:nvPr/>
        </p:nvSpPr>
        <p:spPr>
          <a:xfrm>
            <a:off x="5262997" y="1383614"/>
            <a:ext cx="1704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Proposition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112437-EFB5-4782-A902-5AFA9607B914}"/>
              </a:ext>
            </a:extLst>
          </p:cNvPr>
          <p:cNvSpPr txBox="1"/>
          <p:nvPr/>
        </p:nvSpPr>
        <p:spPr>
          <a:xfrm>
            <a:off x="7480416" y="1383614"/>
            <a:ext cx="1704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Release Plan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D2FE68-A75F-40FD-9FB0-A198FA4F7855}"/>
              </a:ext>
            </a:extLst>
          </p:cNvPr>
          <p:cNvSpPr txBox="1"/>
          <p:nvPr/>
        </p:nvSpPr>
        <p:spPr>
          <a:xfrm>
            <a:off x="9697839" y="1383614"/>
            <a:ext cx="1704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KPIs</a:t>
            </a:r>
          </a:p>
        </p:txBody>
      </p:sp>
      <p:pic>
        <p:nvPicPr>
          <p:cNvPr id="31" name="Graphic 30" descr="Pie chart">
            <a:extLst>
              <a:ext uri="{FF2B5EF4-FFF2-40B4-BE49-F238E27FC236}">
                <a16:creationId xmlns:a16="http://schemas.microsoft.com/office/drawing/2014/main" id="{F5BC578B-ADA4-4B0F-B868-550723F7D7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448660" y="2113731"/>
            <a:ext cx="463100" cy="463100"/>
          </a:xfrm>
          <a:prstGeom prst="rect">
            <a:avLst/>
          </a:prstGeom>
        </p:spPr>
      </p:pic>
      <p:pic>
        <p:nvPicPr>
          <p:cNvPr id="34" name="Graphic 33" descr="Target">
            <a:extLst>
              <a:ext uri="{FF2B5EF4-FFF2-40B4-BE49-F238E27FC236}">
                <a16:creationId xmlns:a16="http://schemas.microsoft.com/office/drawing/2014/main" id="{D8A17B61-F6EB-4FBD-BFF5-D1E6434398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3246" y="2100898"/>
            <a:ext cx="488766" cy="488766"/>
          </a:xfrm>
          <a:prstGeom prst="rect">
            <a:avLst/>
          </a:prstGeom>
        </p:spPr>
      </p:pic>
      <p:pic>
        <p:nvPicPr>
          <p:cNvPr id="37" name="Graphic 36" descr="Single gear">
            <a:extLst>
              <a:ext uri="{FF2B5EF4-FFF2-40B4-BE49-F238E27FC236}">
                <a16:creationId xmlns:a16="http://schemas.microsoft.com/office/drawing/2014/main" id="{A356001D-1F34-4679-9CBD-462FE9C67E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83498" y="2113731"/>
            <a:ext cx="463100" cy="463100"/>
          </a:xfrm>
          <a:prstGeom prst="rect">
            <a:avLst/>
          </a:prstGeom>
        </p:spPr>
      </p:pic>
      <p:pic>
        <p:nvPicPr>
          <p:cNvPr id="40" name="Graphic 39" descr="Head with gears">
            <a:extLst>
              <a:ext uri="{FF2B5EF4-FFF2-40B4-BE49-F238E27FC236}">
                <a16:creationId xmlns:a16="http://schemas.microsoft.com/office/drawing/2014/main" id="{A7B2C80F-3AB9-494D-B82D-AA65038C4C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18340" y="2113731"/>
            <a:ext cx="463100" cy="463100"/>
          </a:xfrm>
          <a:prstGeom prst="rect">
            <a:avLst/>
          </a:prstGeom>
        </p:spPr>
      </p:pic>
      <p:pic>
        <p:nvPicPr>
          <p:cNvPr id="43" name="Graphic 42" descr="Bullseye">
            <a:extLst>
              <a:ext uri="{FF2B5EF4-FFF2-40B4-BE49-F238E27FC236}">
                <a16:creationId xmlns:a16="http://schemas.microsoft.com/office/drawing/2014/main" id="{F7948C02-DC98-4B83-A884-BFC4BA982B3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00917" y="2113731"/>
            <a:ext cx="463100" cy="46310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74A5553-2586-4567-BE15-F2D3E56A29FC}"/>
              </a:ext>
            </a:extLst>
          </p:cNvPr>
          <p:cNvCxnSpPr>
            <a:cxnSpLocks/>
          </p:cNvCxnSpPr>
          <p:nvPr/>
        </p:nvCxnSpPr>
        <p:spPr>
          <a:xfrm>
            <a:off x="2788920" y="3125165"/>
            <a:ext cx="0" cy="2824222"/>
          </a:xfrm>
          <a:prstGeom prst="line">
            <a:avLst/>
          </a:prstGeom>
          <a:ln w="9525" cap="rnd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86E7A44-ACB9-4AE4-842A-DE71AE75A87D}"/>
              </a:ext>
            </a:extLst>
          </p:cNvPr>
          <p:cNvCxnSpPr>
            <a:cxnSpLocks/>
          </p:cNvCxnSpPr>
          <p:nvPr/>
        </p:nvCxnSpPr>
        <p:spPr>
          <a:xfrm>
            <a:off x="5006339" y="3125165"/>
            <a:ext cx="0" cy="2824222"/>
          </a:xfrm>
          <a:prstGeom prst="line">
            <a:avLst/>
          </a:prstGeom>
          <a:ln w="9525" cap="rnd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64E6341-499A-4661-8331-70CE66455AC1}"/>
              </a:ext>
            </a:extLst>
          </p:cNvPr>
          <p:cNvCxnSpPr>
            <a:cxnSpLocks/>
          </p:cNvCxnSpPr>
          <p:nvPr/>
        </p:nvCxnSpPr>
        <p:spPr>
          <a:xfrm>
            <a:off x="7223758" y="3125165"/>
            <a:ext cx="0" cy="2824222"/>
          </a:xfrm>
          <a:prstGeom prst="line">
            <a:avLst/>
          </a:prstGeom>
          <a:ln w="9525" cap="rnd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601FC42-CE41-4671-A6F3-06F1CA5DADF8}"/>
              </a:ext>
            </a:extLst>
          </p:cNvPr>
          <p:cNvCxnSpPr>
            <a:cxnSpLocks/>
          </p:cNvCxnSpPr>
          <p:nvPr/>
        </p:nvCxnSpPr>
        <p:spPr>
          <a:xfrm>
            <a:off x="9441177" y="3125165"/>
            <a:ext cx="0" cy="2824222"/>
          </a:xfrm>
          <a:prstGeom prst="line">
            <a:avLst/>
          </a:prstGeom>
          <a:ln w="9525" cap="rnd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0DB0C14-EFFD-4117-9437-FC25E44DFD1B}"/>
              </a:ext>
            </a:extLst>
          </p:cNvPr>
          <p:cNvGrpSpPr/>
          <p:nvPr/>
        </p:nvGrpSpPr>
        <p:grpSpPr>
          <a:xfrm>
            <a:off x="9709736" y="3215779"/>
            <a:ext cx="1873110" cy="640602"/>
            <a:chOff x="-1872091" y="3429000"/>
            <a:chExt cx="1873110" cy="640602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94094B8C-91F4-4F6A-B8CF-C0A5406B2201}"/>
                </a:ext>
              </a:extLst>
            </p:cNvPr>
            <p:cNvSpPr/>
            <p:nvPr/>
          </p:nvSpPr>
          <p:spPr>
            <a:xfrm>
              <a:off x="-1872091" y="3429000"/>
              <a:ext cx="1680308" cy="6406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dir="2700000" sx="90000" sy="9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3CC8C0D-7A88-42D8-B23C-82508022AD8D}"/>
                </a:ext>
              </a:extLst>
            </p:cNvPr>
            <p:cNvSpPr txBox="1"/>
            <p:nvPr/>
          </p:nvSpPr>
          <p:spPr>
            <a:xfrm>
              <a:off x="-1266621" y="3609349"/>
              <a:ext cx="12676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Focus on target market</a:t>
              </a:r>
            </a:p>
          </p:txBody>
        </p:sp>
        <p:pic>
          <p:nvPicPr>
            <p:cNvPr id="50" name="Graphic 49" descr="Target">
              <a:extLst>
                <a:ext uri="{FF2B5EF4-FFF2-40B4-BE49-F238E27FC236}">
                  <a16:creationId xmlns:a16="http://schemas.microsoft.com/office/drawing/2014/main" id="{380A560A-F517-4661-BE0C-DE73EB08F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1754756" y="3563901"/>
              <a:ext cx="370800" cy="3708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8F83ADB-B2BD-4100-B32B-CC9E45BC256D}"/>
              </a:ext>
            </a:extLst>
          </p:cNvPr>
          <p:cNvGrpSpPr/>
          <p:nvPr/>
        </p:nvGrpSpPr>
        <p:grpSpPr>
          <a:xfrm>
            <a:off x="3057475" y="4050820"/>
            <a:ext cx="1793586" cy="640602"/>
            <a:chOff x="-1872091" y="7604201"/>
            <a:chExt cx="1793586" cy="640602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B9860117-8C3D-4D1B-A389-0841355ED65A}"/>
                </a:ext>
              </a:extLst>
            </p:cNvPr>
            <p:cNvSpPr/>
            <p:nvPr/>
          </p:nvSpPr>
          <p:spPr>
            <a:xfrm>
              <a:off x="-1872091" y="7604201"/>
              <a:ext cx="1680308" cy="6406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dir="2700000" sx="90000" sy="9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60757C4-69B2-4BCE-9EBC-F43047EFBC1C}"/>
                </a:ext>
              </a:extLst>
            </p:cNvPr>
            <p:cNvSpPr txBox="1"/>
            <p:nvPr/>
          </p:nvSpPr>
          <p:spPr>
            <a:xfrm flipH="1">
              <a:off x="-1286094" y="7807178"/>
              <a:ext cx="120758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Online Support</a:t>
              </a:r>
            </a:p>
          </p:txBody>
        </p:sp>
        <p:pic>
          <p:nvPicPr>
            <p:cNvPr id="61" name="Graphic 60" descr="Single gear">
              <a:extLst>
                <a:ext uri="{FF2B5EF4-FFF2-40B4-BE49-F238E27FC236}">
                  <a16:creationId xmlns:a16="http://schemas.microsoft.com/office/drawing/2014/main" id="{36337289-9D2F-4671-9859-D20AC6CCB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1754756" y="7748838"/>
              <a:ext cx="351329" cy="351329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1A72C49-2D1B-4BD3-9742-6C09CEFC182E}"/>
              </a:ext>
            </a:extLst>
          </p:cNvPr>
          <p:cNvGrpSpPr/>
          <p:nvPr/>
        </p:nvGrpSpPr>
        <p:grpSpPr>
          <a:xfrm>
            <a:off x="3057475" y="3215779"/>
            <a:ext cx="1680308" cy="640602"/>
            <a:chOff x="-1872091" y="6769162"/>
            <a:chExt cx="1680308" cy="640602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93323140-5EEE-4BDD-8DDD-735F65C27BD4}"/>
                </a:ext>
              </a:extLst>
            </p:cNvPr>
            <p:cNvSpPr/>
            <p:nvPr/>
          </p:nvSpPr>
          <p:spPr>
            <a:xfrm>
              <a:off x="-1872091" y="6769162"/>
              <a:ext cx="1680308" cy="6406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dir="2700000" sx="90000" sy="9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ACFF8BA-134D-46C0-8CA9-B95119EEF896}"/>
                </a:ext>
              </a:extLst>
            </p:cNvPr>
            <p:cNvSpPr txBox="1"/>
            <p:nvPr/>
          </p:nvSpPr>
          <p:spPr>
            <a:xfrm flipH="1">
              <a:off x="-1286093" y="6972139"/>
              <a:ext cx="97969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Visual Ads</a:t>
              </a:r>
            </a:p>
          </p:txBody>
        </p:sp>
        <p:pic>
          <p:nvPicPr>
            <p:cNvPr id="62" name="Graphic 61" descr="Head with gears">
              <a:extLst>
                <a:ext uri="{FF2B5EF4-FFF2-40B4-BE49-F238E27FC236}">
                  <a16:creationId xmlns:a16="http://schemas.microsoft.com/office/drawing/2014/main" id="{18A7848A-220D-4450-BF50-7BB1F845A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1754756" y="6923534"/>
              <a:ext cx="351329" cy="351329"/>
            </a:xfrm>
            <a:prstGeom prst="rect">
              <a:avLst/>
            </a:prstGeom>
          </p:spPr>
        </p:pic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FA2C163-2BB0-4CF9-9655-3E06E42BCC85}"/>
              </a:ext>
            </a:extLst>
          </p:cNvPr>
          <p:cNvGrpSpPr/>
          <p:nvPr/>
        </p:nvGrpSpPr>
        <p:grpSpPr>
          <a:xfrm>
            <a:off x="7492313" y="3226025"/>
            <a:ext cx="1680308" cy="640602"/>
            <a:chOff x="-1872091" y="5934121"/>
            <a:chExt cx="1680308" cy="640602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0CA73D8E-58FE-4C15-90CB-A6851CE230D2}"/>
                </a:ext>
              </a:extLst>
            </p:cNvPr>
            <p:cNvSpPr/>
            <p:nvPr/>
          </p:nvSpPr>
          <p:spPr>
            <a:xfrm>
              <a:off x="-1872091" y="5934121"/>
              <a:ext cx="1680308" cy="6406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dir="2700000" sx="90000" sy="9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3686453-0E68-4624-B3A3-1DDC474CFF24}"/>
                </a:ext>
              </a:extLst>
            </p:cNvPr>
            <p:cNvSpPr txBox="1"/>
            <p:nvPr/>
          </p:nvSpPr>
          <p:spPr>
            <a:xfrm flipH="1">
              <a:off x="-1286093" y="6137098"/>
              <a:ext cx="97969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Release</a:t>
              </a:r>
            </a:p>
          </p:txBody>
        </p:sp>
        <p:pic>
          <p:nvPicPr>
            <p:cNvPr id="63" name="Graphic 62" descr="Pie chart">
              <a:extLst>
                <a:ext uri="{FF2B5EF4-FFF2-40B4-BE49-F238E27FC236}">
                  <a16:creationId xmlns:a16="http://schemas.microsoft.com/office/drawing/2014/main" id="{248EAE4A-A406-4EB0-B3E8-45BEF11DD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1754756" y="6078758"/>
              <a:ext cx="351329" cy="351329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36AD517-9988-4AFD-A2E6-16102F6DE662}"/>
              </a:ext>
            </a:extLst>
          </p:cNvPr>
          <p:cNvGrpSpPr/>
          <p:nvPr/>
        </p:nvGrpSpPr>
        <p:grpSpPr>
          <a:xfrm>
            <a:off x="5274894" y="4783502"/>
            <a:ext cx="1680308" cy="640602"/>
            <a:chOff x="-1872091" y="5099080"/>
            <a:chExt cx="1680308" cy="640602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D281F288-D43C-4DBF-9A6F-8EF9EBD67039}"/>
                </a:ext>
              </a:extLst>
            </p:cNvPr>
            <p:cNvSpPr/>
            <p:nvPr/>
          </p:nvSpPr>
          <p:spPr>
            <a:xfrm>
              <a:off x="-1872091" y="5099080"/>
              <a:ext cx="1680308" cy="6406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dir="2700000" sx="90000" sy="9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47490E4-ED8E-4561-BB45-722D886AA94E}"/>
                </a:ext>
              </a:extLst>
            </p:cNvPr>
            <p:cNvSpPr txBox="1"/>
            <p:nvPr/>
          </p:nvSpPr>
          <p:spPr>
            <a:xfrm>
              <a:off x="-1279214" y="5215231"/>
              <a:ext cx="99015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Performance Analysis</a:t>
              </a:r>
            </a:p>
          </p:txBody>
        </p:sp>
        <p:pic>
          <p:nvPicPr>
            <p:cNvPr id="64" name="Graphic 63" descr="Bar chart RTL">
              <a:extLst>
                <a:ext uri="{FF2B5EF4-FFF2-40B4-BE49-F238E27FC236}">
                  <a16:creationId xmlns:a16="http://schemas.microsoft.com/office/drawing/2014/main" id="{1D3A7CA0-C515-431B-AD65-F1740DE2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-1749092" y="5243717"/>
              <a:ext cx="351329" cy="351329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C51BA5B-F4FA-4C2C-B10E-6730E4BB1DFB}"/>
              </a:ext>
            </a:extLst>
          </p:cNvPr>
          <p:cNvGrpSpPr/>
          <p:nvPr/>
        </p:nvGrpSpPr>
        <p:grpSpPr>
          <a:xfrm>
            <a:off x="9709736" y="4050820"/>
            <a:ext cx="1840961" cy="640602"/>
            <a:chOff x="-1872091" y="4264041"/>
            <a:chExt cx="1840961" cy="640602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DBFFB52B-251C-4367-8883-9B0789A85CD0}"/>
                </a:ext>
              </a:extLst>
            </p:cNvPr>
            <p:cNvSpPr/>
            <p:nvPr/>
          </p:nvSpPr>
          <p:spPr>
            <a:xfrm>
              <a:off x="-1872091" y="4264041"/>
              <a:ext cx="1680308" cy="6406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dir="2700000" sx="90000" sy="9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F09F0B0-2DF7-4373-AAF3-3ABB39117FB8}"/>
                </a:ext>
              </a:extLst>
            </p:cNvPr>
            <p:cNvSpPr txBox="1"/>
            <p:nvPr/>
          </p:nvSpPr>
          <p:spPr>
            <a:xfrm>
              <a:off x="-1298770" y="4453537"/>
              <a:ext cx="12676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Achieve targets</a:t>
              </a:r>
            </a:p>
          </p:txBody>
        </p:sp>
        <p:pic>
          <p:nvPicPr>
            <p:cNvPr id="65" name="Graphic 64" descr="Bullseye">
              <a:extLst>
                <a:ext uri="{FF2B5EF4-FFF2-40B4-BE49-F238E27FC236}">
                  <a16:creationId xmlns:a16="http://schemas.microsoft.com/office/drawing/2014/main" id="{8B443379-B013-4C00-AAA9-3C7B0AA4E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1749092" y="4408678"/>
              <a:ext cx="351329" cy="351329"/>
            </a:xfrm>
            <a:prstGeom prst="rect">
              <a:avLst/>
            </a:prstGeom>
          </p:spPr>
        </p:pic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4E56E5E0-D96C-4F0B-86D1-F1CF697D2990}"/>
              </a:ext>
            </a:extLst>
          </p:cNvPr>
          <p:cNvSpPr txBox="1"/>
          <p:nvPr/>
        </p:nvSpPr>
        <p:spPr>
          <a:xfrm>
            <a:off x="745111" y="3593603"/>
            <a:ext cx="1469356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Reach target audience quickly</a:t>
            </a:r>
          </a:p>
          <a:p>
            <a:pPr marL="171450" indent="-1714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Improve product quality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A8C5DC2-3AF5-48BB-A8F0-527CA67D691F}"/>
              </a:ext>
            </a:extLst>
          </p:cNvPr>
          <p:cNvSpPr txBox="1"/>
          <p:nvPr/>
        </p:nvSpPr>
        <p:spPr>
          <a:xfrm>
            <a:off x="745111" y="3157419"/>
            <a:ext cx="1579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Objectives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893A491-0E60-4D3D-891A-BFDC266D596C}"/>
              </a:ext>
            </a:extLst>
          </p:cNvPr>
          <p:cNvSpPr txBox="1"/>
          <p:nvPr/>
        </p:nvSpPr>
        <p:spPr>
          <a:xfrm>
            <a:off x="5325252" y="3593603"/>
            <a:ext cx="1641847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Effective marketing strategies</a:t>
            </a:r>
          </a:p>
          <a:p>
            <a:pPr marL="171450" indent="-1714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rcury SSm A"/>
              </a:rPr>
              <a:t>Customer support and feedback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CC8313D-2B31-4C1D-B1DC-DE6B45940111}"/>
              </a:ext>
            </a:extLst>
          </p:cNvPr>
          <p:cNvSpPr txBox="1"/>
          <p:nvPr/>
        </p:nvSpPr>
        <p:spPr>
          <a:xfrm>
            <a:off x="5325253" y="3157419"/>
            <a:ext cx="1579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374364-905C-AE80-9F01-11324481479C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Lato Black" panose="020F0502020204030203" pitchFamily="34" charset="0"/>
                <a:cs typeface="Lato Black" panose="020F0502020204030203" pitchFamily="34" charset="0"/>
              </a:rPr>
              <a:t>AGILE </a:t>
            </a:r>
            <a:r>
              <a:rPr lang="en-GB" sz="3200" b="1" dirty="0">
                <a:solidFill>
                  <a:schemeClr val="accent1"/>
                </a:solidFill>
                <a:latin typeface="+mj-lt"/>
                <a:ea typeface="Lato Black" panose="020F0502020204030203" pitchFamily="34" charset="0"/>
                <a:cs typeface="Lato Black" panose="020F0502020204030203" pitchFamily="34" charset="0"/>
              </a:rPr>
              <a:t>PROJECT PLAN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2C368-7205-906D-71BB-B452E2B32CD0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rgbClr val="3469D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</a:t>
            </a:r>
            <a:r>
              <a:rPr lang="en-GB" sz="900" b="1" dirty="0">
                <a:solidFill>
                  <a:srgbClr val="3469D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WWW.POWERSLIDES.COM 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E3F9B7D-F74E-491C-432B-37AACF240FB0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5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C72167-580C-0EEF-40F0-4EE2A9174DC1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rgbClr val="3469D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A357BE6-80B6-5BB9-97B6-3A12FA13938E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rgbClr val="3469D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90E22C-4C2D-0504-9406-5C2F367F05F3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rgbClr val="3469D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722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A51F669-7BA0-4516-AFD7-70F9FA81793D}"/>
              </a:ext>
            </a:extLst>
          </p:cNvPr>
          <p:cNvSpPr/>
          <p:nvPr/>
        </p:nvSpPr>
        <p:spPr>
          <a:xfrm>
            <a:off x="0" y="5736094"/>
            <a:ext cx="11689271" cy="583081"/>
          </a:xfrm>
          <a:prstGeom prst="rect">
            <a:avLst/>
          </a:prstGeom>
          <a:gradFill>
            <a:gsLst>
              <a:gs pos="100000">
                <a:schemeClr val="accent5"/>
              </a:gs>
              <a:gs pos="1000">
                <a:schemeClr val="accent5">
                  <a:lumMod val="60000"/>
                  <a:lumOff val="40000"/>
                </a:schemeClr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9C479F-62B9-4DD8-B480-D3F49D10656C}"/>
              </a:ext>
            </a:extLst>
          </p:cNvPr>
          <p:cNvSpPr/>
          <p:nvPr/>
        </p:nvSpPr>
        <p:spPr>
          <a:xfrm>
            <a:off x="0" y="4750268"/>
            <a:ext cx="11689271" cy="994253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0" scaled="1"/>
          </a:gradFill>
          <a:ln w="952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59764D-72DA-4F33-957A-BD7F209842D0}"/>
              </a:ext>
            </a:extLst>
          </p:cNvPr>
          <p:cNvSpPr/>
          <p:nvPr/>
        </p:nvSpPr>
        <p:spPr>
          <a:xfrm>
            <a:off x="0" y="3162299"/>
            <a:ext cx="11689271" cy="1587969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51722F-FE4F-4EC1-9EBF-A597C12DC6CE}"/>
              </a:ext>
            </a:extLst>
          </p:cNvPr>
          <p:cNvSpPr/>
          <p:nvPr/>
        </p:nvSpPr>
        <p:spPr>
          <a:xfrm>
            <a:off x="0" y="1852410"/>
            <a:ext cx="11689271" cy="130989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5DD395-71A1-4268-9272-3DAC03BA0ED8}"/>
              </a:ext>
            </a:extLst>
          </p:cNvPr>
          <p:cNvSpPr/>
          <p:nvPr/>
        </p:nvSpPr>
        <p:spPr>
          <a:xfrm>
            <a:off x="0" y="1219200"/>
            <a:ext cx="11689271" cy="66594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E3B073-7FCB-484C-9529-39FE0243AAB3}"/>
              </a:ext>
            </a:extLst>
          </p:cNvPr>
          <p:cNvSpPr/>
          <p:nvPr/>
        </p:nvSpPr>
        <p:spPr>
          <a:xfrm rot="171840">
            <a:off x="483634" y="1882048"/>
            <a:ext cx="1937545" cy="2039241"/>
          </a:xfrm>
          <a:custGeom>
            <a:avLst/>
            <a:gdLst>
              <a:gd name="connsiteX0" fmla="*/ 902018 w 902017"/>
              <a:gd name="connsiteY0" fmla="*/ 573405 h 939164"/>
              <a:gd name="connsiteX1" fmla="*/ 880110 w 902017"/>
              <a:gd name="connsiteY1" fmla="*/ 513398 h 939164"/>
              <a:gd name="connsiteX2" fmla="*/ 397193 w 902017"/>
              <a:gd name="connsiteY2" fmla="*/ 0 h 939164"/>
              <a:gd name="connsiteX3" fmla="*/ 0 w 902017"/>
              <a:gd name="connsiteY3" fmla="*/ 939165 h 939164"/>
              <a:gd name="connsiteX4" fmla="*/ 902018 w 902017"/>
              <a:gd name="connsiteY4" fmla="*/ 573405 h 939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2017" h="939164">
                <a:moveTo>
                  <a:pt x="902018" y="573405"/>
                </a:moveTo>
                <a:cubicBezTo>
                  <a:pt x="895350" y="553403"/>
                  <a:pt x="887730" y="533400"/>
                  <a:pt x="880110" y="513398"/>
                </a:cubicBezTo>
                <a:cubicBezTo>
                  <a:pt x="784860" y="279082"/>
                  <a:pt x="608648" y="101917"/>
                  <a:pt x="397193" y="0"/>
                </a:cubicBezTo>
                <a:lnTo>
                  <a:pt x="0" y="939165"/>
                </a:lnTo>
                <a:lnTo>
                  <a:pt x="902018" y="57340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952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FE94315-D4C1-476A-B080-122254FB6E9D}"/>
              </a:ext>
            </a:extLst>
          </p:cNvPr>
          <p:cNvSpPr/>
          <p:nvPr/>
        </p:nvSpPr>
        <p:spPr>
          <a:xfrm rot="171840">
            <a:off x="432828" y="3128505"/>
            <a:ext cx="2044465" cy="1580101"/>
          </a:xfrm>
          <a:custGeom>
            <a:avLst/>
            <a:gdLst>
              <a:gd name="connsiteX0" fmla="*/ 0 w 951793"/>
              <a:gd name="connsiteY0" fmla="*/ 365760 h 727709"/>
              <a:gd name="connsiteX1" fmla="*/ 856298 w 951793"/>
              <a:gd name="connsiteY1" fmla="*/ 727710 h 727709"/>
              <a:gd name="connsiteX2" fmla="*/ 902018 w 951793"/>
              <a:gd name="connsiteY2" fmla="*/ 0 h 727709"/>
              <a:gd name="connsiteX3" fmla="*/ 0 w 951793"/>
              <a:gd name="connsiteY3" fmla="*/ 365760 h 727709"/>
              <a:gd name="connsiteX4" fmla="*/ 0 w 951793"/>
              <a:gd name="connsiteY4" fmla="*/ 365760 h 727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1793" h="727709">
                <a:moveTo>
                  <a:pt x="0" y="365760"/>
                </a:moveTo>
                <a:lnTo>
                  <a:pt x="856298" y="727710"/>
                </a:lnTo>
                <a:cubicBezTo>
                  <a:pt x="962025" y="506730"/>
                  <a:pt x="983932" y="246697"/>
                  <a:pt x="902018" y="0"/>
                </a:cubicBezTo>
                <a:lnTo>
                  <a:pt x="0" y="365760"/>
                </a:lnTo>
                <a:lnTo>
                  <a:pt x="0" y="36576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 w="952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5BD72F2-6C7C-4515-B1AA-C64000C3FA68}"/>
              </a:ext>
            </a:extLst>
          </p:cNvPr>
          <p:cNvSpPr/>
          <p:nvPr/>
        </p:nvSpPr>
        <p:spPr>
          <a:xfrm rot="171840">
            <a:off x="-350862" y="1625840"/>
            <a:ext cx="1694074" cy="2247482"/>
          </a:xfrm>
          <a:custGeom>
            <a:avLst/>
            <a:gdLst>
              <a:gd name="connsiteX0" fmla="*/ 391478 w 788670"/>
              <a:gd name="connsiteY0" fmla="*/ 1035069 h 1035069"/>
              <a:gd name="connsiteX1" fmla="*/ 788670 w 788670"/>
              <a:gd name="connsiteY1" fmla="*/ 96857 h 1035069"/>
              <a:gd name="connsiteX2" fmla="*/ 0 w 788670"/>
              <a:gd name="connsiteY2" fmla="*/ 71139 h 1035069"/>
              <a:gd name="connsiteX3" fmla="*/ 391478 w 788670"/>
              <a:gd name="connsiteY3" fmla="*/ 1035069 h 1035069"/>
              <a:gd name="connsiteX4" fmla="*/ 391478 w 788670"/>
              <a:gd name="connsiteY4" fmla="*/ 1035069 h 1035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8670" h="1035069">
                <a:moveTo>
                  <a:pt x="391478" y="1035069"/>
                </a:moveTo>
                <a:lnTo>
                  <a:pt x="788670" y="96857"/>
                </a:lnTo>
                <a:cubicBezTo>
                  <a:pt x="549593" y="-18396"/>
                  <a:pt x="264795" y="-35541"/>
                  <a:pt x="0" y="71139"/>
                </a:cubicBezTo>
                <a:lnTo>
                  <a:pt x="391478" y="1035069"/>
                </a:lnTo>
                <a:lnTo>
                  <a:pt x="391478" y="1035069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</a:gradFill>
          <a:ln w="952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EF72593-A404-4B8C-8D14-64C1EEC58313}"/>
              </a:ext>
            </a:extLst>
          </p:cNvPr>
          <p:cNvSpPr/>
          <p:nvPr/>
        </p:nvSpPr>
        <p:spPr>
          <a:xfrm rot="171840">
            <a:off x="-395479" y="3869342"/>
            <a:ext cx="1518120" cy="1996670"/>
          </a:xfrm>
          <a:custGeom>
            <a:avLst/>
            <a:gdLst>
              <a:gd name="connsiteX0" fmla="*/ 0 w 706755"/>
              <a:gd name="connsiteY0" fmla="*/ 859155 h 919558"/>
              <a:gd name="connsiteX1" fmla="*/ 704850 w 706755"/>
              <a:gd name="connsiteY1" fmla="*/ 847725 h 919558"/>
              <a:gd name="connsiteX2" fmla="*/ 706755 w 706755"/>
              <a:gd name="connsiteY2" fmla="*/ 846772 h 919558"/>
              <a:gd name="connsiteX3" fmla="*/ 362903 w 706755"/>
              <a:gd name="connsiteY3" fmla="*/ 0 h 919558"/>
              <a:gd name="connsiteX4" fmla="*/ 0 w 706755"/>
              <a:gd name="connsiteY4" fmla="*/ 859155 h 919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6755" h="919558">
                <a:moveTo>
                  <a:pt x="0" y="859155"/>
                </a:moveTo>
                <a:cubicBezTo>
                  <a:pt x="220028" y="940118"/>
                  <a:pt x="470535" y="942975"/>
                  <a:pt x="704850" y="847725"/>
                </a:cubicBezTo>
                <a:cubicBezTo>
                  <a:pt x="705802" y="847725"/>
                  <a:pt x="706755" y="846772"/>
                  <a:pt x="706755" y="846772"/>
                </a:cubicBezTo>
                <a:lnTo>
                  <a:pt x="362903" y="0"/>
                </a:lnTo>
                <a:lnTo>
                  <a:pt x="0" y="859155"/>
                </a:lnTo>
                <a:close/>
              </a:path>
            </a:pathLst>
          </a:custGeom>
          <a:gradFill>
            <a:gsLst>
              <a:gs pos="100000">
                <a:schemeClr val="accent5"/>
              </a:gs>
              <a:gs pos="1000">
                <a:schemeClr val="accent5">
                  <a:lumMod val="60000"/>
                  <a:lumOff val="40000"/>
                </a:schemeClr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734C08E-EF84-4BB4-A813-AF27725FD2DA}"/>
              </a:ext>
            </a:extLst>
          </p:cNvPr>
          <p:cNvSpPr/>
          <p:nvPr/>
        </p:nvSpPr>
        <p:spPr>
          <a:xfrm rot="171840">
            <a:off x="386815" y="3916415"/>
            <a:ext cx="1839338" cy="1838627"/>
          </a:xfrm>
          <a:custGeom>
            <a:avLst/>
            <a:gdLst>
              <a:gd name="connsiteX0" fmla="*/ 0 w 856297"/>
              <a:gd name="connsiteY0" fmla="*/ 0 h 846772"/>
              <a:gd name="connsiteX1" fmla="*/ 0 w 856297"/>
              <a:gd name="connsiteY1" fmla="*/ 0 h 846772"/>
              <a:gd name="connsiteX2" fmla="*/ 343853 w 856297"/>
              <a:gd name="connsiteY2" fmla="*/ 846772 h 846772"/>
              <a:gd name="connsiteX3" fmla="*/ 856298 w 856297"/>
              <a:gd name="connsiteY3" fmla="*/ 361950 h 846772"/>
              <a:gd name="connsiteX4" fmla="*/ 0 w 856297"/>
              <a:gd name="connsiteY4" fmla="*/ 0 h 846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6297" h="846772">
                <a:moveTo>
                  <a:pt x="0" y="0"/>
                </a:moveTo>
                <a:lnTo>
                  <a:pt x="0" y="0"/>
                </a:lnTo>
                <a:lnTo>
                  <a:pt x="343853" y="846772"/>
                </a:lnTo>
                <a:cubicBezTo>
                  <a:pt x="578168" y="751522"/>
                  <a:pt x="755332" y="574358"/>
                  <a:pt x="856298" y="36195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0" scaled="1"/>
          </a:gradFill>
          <a:ln w="952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75D7C48-0D30-47E4-BC42-DF390E19FADE}"/>
              </a:ext>
            </a:extLst>
          </p:cNvPr>
          <p:cNvSpPr/>
          <p:nvPr/>
        </p:nvSpPr>
        <p:spPr>
          <a:xfrm rot="171840">
            <a:off x="-1021679" y="2556978"/>
            <a:ext cx="2385388" cy="2385389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889000" dist="419100" dir="8100000" algn="tr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69A8E4-AE49-4559-9597-07175EEDB0A5}"/>
              </a:ext>
            </a:extLst>
          </p:cNvPr>
          <p:cNvSpPr txBox="1"/>
          <p:nvPr/>
        </p:nvSpPr>
        <p:spPr>
          <a:xfrm>
            <a:off x="3310207" y="1368425"/>
            <a:ext cx="19704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Scope Out &amp; Prioritize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3AD83C-5B6F-474E-B8B8-782E91BC5192}"/>
              </a:ext>
            </a:extLst>
          </p:cNvPr>
          <p:cNvSpPr txBox="1"/>
          <p:nvPr/>
        </p:nvSpPr>
        <p:spPr>
          <a:xfrm>
            <a:off x="6518588" y="1307406"/>
            <a:ext cx="5046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chemeClr val="bg1"/>
                </a:solidFill>
                <a:effectLst/>
              </a:rPr>
              <a:t>During the first step of the agile software development life cycle, the team scopes out and prioritizes projects.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DB03D0-65C9-4125-8B17-08B735041660}"/>
              </a:ext>
            </a:extLst>
          </p:cNvPr>
          <p:cNvSpPr txBox="1"/>
          <p:nvPr/>
        </p:nvSpPr>
        <p:spPr>
          <a:xfrm>
            <a:off x="3310207" y="2353467"/>
            <a:ext cx="2593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Requirements for Initial Sprint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A473B8-09AD-46E0-A8F0-7C54B7DAC9CA}"/>
              </a:ext>
            </a:extLst>
          </p:cNvPr>
          <p:cNvSpPr txBox="1"/>
          <p:nvPr/>
        </p:nvSpPr>
        <p:spPr>
          <a:xfrm>
            <a:off x="3310207" y="3832955"/>
            <a:ext cx="1997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Construction/Iteration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E1413B-7B53-43D2-8132-CD629B90FD70}"/>
              </a:ext>
            </a:extLst>
          </p:cNvPr>
          <p:cNvSpPr txBox="1"/>
          <p:nvPr/>
        </p:nvSpPr>
        <p:spPr>
          <a:xfrm>
            <a:off x="3310207" y="5060505"/>
            <a:ext cx="20185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Iteration to Production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61938B-F48E-44EA-8540-A3D1392E0C82}"/>
              </a:ext>
            </a:extLst>
          </p:cNvPr>
          <p:cNvSpPr txBox="1"/>
          <p:nvPr/>
        </p:nvSpPr>
        <p:spPr>
          <a:xfrm>
            <a:off x="3310207" y="5881957"/>
            <a:ext cx="20938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Production and Support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BC6316-06F9-456C-834E-BE3060051C9F}"/>
              </a:ext>
            </a:extLst>
          </p:cNvPr>
          <p:cNvSpPr txBox="1"/>
          <p:nvPr/>
        </p:nvSpPr>
        <p:spPr>
          <a:xfrm>
            <a:off x="6518588" y="2175708"/>
            <a:ext cx="5046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U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se user flow diagrams or high-level UML diagrams to demonstrate how the new feature should function and how it will fit into your existing system.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0522A3-E5AA-4032-BAB7-3D530776ED9B}"/>
              </a:ext>
            </a:extLst>
          </p:cNvPr>
          <p:cNvSpPr txBox="1"/>
          <p:nvPr/>
        </p:nvSpPr>
        <p:spPr>
          <a:xfrm>
            <a:off x="6518588" y="3628294"/>
            <a:ext cx="5046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chemeClr val="bg1"/>
                </a:solidFill>
                <a:effectLst/>
              </a:rPr>
              <a:t>UX designers and developers begin work on their first iteration of the project, with the goal of having a working product to launch at the end of the sprint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CEA828-2962-4961-8645-1F14E2D93E48}"/>
              </a:ext>
            </a:extLst>
          </p:cNvPr>
          <p:cNvSpPr txBox="1"/>
          <p:nvPr/>
        </p:nvSpPr>
        <p:spPr>
          <a:xfrm>
            <a:off x="6518588" y="4910711"/>
            <a:ext cx="5046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chemeClr val="bg1"/>
                </a:solidFill>
                <a:effectLst/>
              </a:rPr>
              <a:t>Your quality assurance (QA) team should test functionality, detect bugs, and record wins and losses. Address any defects and finalize for production.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557646-C0E1-4201-B738-BEF41F986E46}"/>
              </a:ext>
            </a:extLst>
          </p:cNvPr>
          <p:cNvSpPr txBox="1"/>
          <p:nvPr/>
        </p:nvSpPr>
        <p:spPr>
          <a:xfrm>
            <a:off x="6518588" y="5822213"/>
            <a:ext cx="5046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Y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our team should keep the system running smoothly and show users how to use it.</a:t>
            </a:r>
          </a:p>
        </p:txBody>
      </p:sp>
      <p:pic>
        <p:nvPicPr>
          <p:cNvPr id="39" name="Graphic 105" descr="Pie chart">
            <a:extLst>
              <a:ext uri="{FF2B5EF4-FFF2-40B4-BE49-F238E27FC236}">
                <a16:creationId xmlns:a16="http://schemas.microsoft.com/office/drawing/2014/main" id="{9CC47754-D338-468D-8F85-4956EA8D8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245571" y="1922640"/>
            <a:ext cx="382660" cy="382660"/>
          </a:xfrm>
          <a:prstGeom prst="rect">
            <a:avLst/>
          </a:prstGeom>
        </p:spPr>
      </p:pic>
      <p:pic>
        <p:nvPicPr>
          <p:cNvPr id="41" name="Graphic 233" descr="Single gear">
            <a:extLst>
              <a:ext uri="{FF2B5EF4-FFF2-40B4-BE49-F238E27FC236}">
                <a16:creationId xmlns:a16="http://schemas.microsoft.com/office/drawing/2014/main" id="{443CB196-D590-4A91-9986-BA163FC60D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9525" y="3713753"/>
            <a:ext cx="382660" cy="382660"/>
          </a:xfrm>
          <a:prstGeom prst="rect">
            <a:avLst/>
          </a:prstGeom>
        </p:spPr>
      </p:pic>
      <p:pic>
        <p:nvPicPr>
          <p:cNvPr id="40" name="Graphic 231" descr="Target">
            <a:extLst>
              <a:ext uri="{FF2B5EF4-FFF2-40B4-BE49-F238E27FC236}">
                <a16:creationId xmlns:a16="http://schemas.microsoft.com/office/drawing/2014/main" id="{763FB22B-647C-4F46-BBBA-3D91A0C360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2156" y="2563304"/>
            <a:ext cx="403868" cy="403868"/>
          </a:xfrm>
          <a:prstGeom prst="rect">
            <a:avLst/>
          </a:prstGeom>
        </p:spPr>
      </p:pic>
      <p:pic>
        <p:nvPicPr>
          <p:cNvPr id="42" name="Graphic 235" descr="Head with gears">
            <a:extLst>
              <a:ext uri="{FF2B5EF4-FFF2-40B4-BE49-F238E27FC236}">
                <a16:creationId xmlns:a16="http://schemas.microsoft.com/office/drawing/2014/main" id="{2117A040-0C2F-4EAE-9F21-40740AF17C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52760" y="4771345"/>
            <a:ext cx="382660" cy="382660"/>
          </a:xfrm>
          <a:prstGeom prst="rect">
            <a:avLst/>
          </a:prstGeom>
        </p:spPr>
      </p:pic>
      <p:pic>
        <p:nvPicPr>
          <p:cNvPr id="43" name="Graphic 242" descr="Bullseye">
            <a:extLst>
              <a:ext uri="{FF2B5EF4-FFF2-40B4-BE49-F238E27FC236}">
                <a16:creationId xmlns:a16="http://schemas.microsoft.com/office/drawing/2014/main" id="{909C1793-D2A9-4B50-A230-BA3BD62D93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571" y="5128281"/>
            <a:ext cx="382660" cy="3826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CD757C-208A-471E-AC2E-8CA5D324A61A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Lato Black" panose="020F0502020204030203" pitchFamily="34" charset="0"/>
                <a:cs typeface="Lato Black" panose="020F0502020204030203" pitchFamily="34" charset="0"/>
              </a:rPr>
              <a:t>AGILE </a:t>
            </a:r>
            <a:r>
              <a:rPr lang="en-GB" sz="3200" b="1" dirty="0">
                <a:solidFill>
                  <a:schemeClr val="accent1"/>
                </a:solidFill>
                <a:latin typeface="+mj-lt"/>
                <a:ea typeface="Lato Black" panose="020F0502020204030203" pitchFamily="34" charset="0"/>
                <a:cs typeface="Lato Black" panose="020F0502020204030203" pitchFamily="34" charset="0"/>
              </a:rPr>
              <a:t>PROJECT PLAN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A4F94-8F41-F972-8778-F095033892D1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rgbClr val="3469D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</a:t>
            </a:r>
            <a:r>
              <a:rPr lang="en-GB" sz="900" b="1" dirty="0">
                <a:solidFill>
                  <a:srgbClr val="3469D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WWW.POWERSLIDES.COM 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A78B57-C2E7-23F0-50A2-9710AAD0C8C9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6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423CEAD-0F9D-EC89-2A08-7B509F893265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rgbClr val="3469D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FB0BBC-E4D9-FBA2-CE03-6B6FEA14E0DD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rgbClr val="3469D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BFD98E-2536-72B5-62E2-F87C8D5E8E47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rgbClr val="3469D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501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78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3469DF"/>
      </a:accent1>
      <a:accent2>
        <a:srgbClr val="00A5FD"/>
      </a:accent2>
      <a:accent3>
        <a:srgbClr val="FFA406"/>
      </a:accent3>
      <a:accent4>
        <a:srgbClr val="A759BA"/>
      </a:accent4>
      <a:accent5>
        <a:srgbClr val="FF0C6F"/>
      </a:accent5>
      <a:accent6>
        <a:srgbClr val="D9D9D9"/>
      </a:accent6>
      <a:hlink>
        <a:srgbClr val="F68A1F"/>
      </a:hlink>
      <a:folHlink>
        <a:srgbClr val="954F72"/>
      </a:folHlink>
    </a:clrScheme>
    <a:fontScheme name="Custom 8">
      <a:majorFont>
        <a:latin typeface="Lato Black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9">
    <wetp:webextensionref xmlns:r="http://schemas.openxmlformats.org/officeDocument/2006/relationships" r:id="rId1"/>
  </wetp:taskpane>
  <wetp:taskpane dockstate="right" visibility="0" width="438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7F7C9AE-2EC5-482F-9A7D-CC09FB758B51}">
  <we:reference id="wa200003157" version="1.0.0.0" store="en-US" storeType="OMEX"/>
  <we:alternateReferences>
    <we:reference id="wa200003157" version="1.0.0.0" store="WA20000315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85F6FE7-BFB4-4DFB-8B57-56077BBDA50E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809</Words>
  <Application>Microsoft Office PowerPoint</Application>
  <PresentationFormat>Widescreen</PresentationFormat>
  <Paragraphs>242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Lato</vt:lpstr>
      <vt:lpstr>Lato Black</vt:lpstr>
      <vt:lpstr>Mercury SSm 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Samudera</dc:creator>
  <cp:lastModifiedBy>Avi S Outlook</cp:lastModifiedBy>
  <cp:revision>65</cp:revision>
  <dcterms:created xsi:type="dcterms:W3CDTF">2022-01-13T11:57:00Z</dcterms:created>
  <dcterms:modified xsi:type="dcterms:W3CDTF">2026-03-02T06:21:30Z</dcterms:modified>
</cp:coreProperties>
</file>